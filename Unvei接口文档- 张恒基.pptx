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79999" y="776127"/>
            <a:ext cx="5400040" cy="31750"/>
          </a:xfrm>
          <a:custGeom>
            <a:avLst/>
            <a:gdLst/>
            <a:ahLst/>
            <a:cxnLst/>
            <a:rect l="l" t="t" r="r" b="b"/>
            <a:pathLst>
              <a:path w="5400040" h="31750">
                <a:moveTo>
                  <a:pt x="0" y="31750"/>
                </a:moveTo>
                <a:lnTo>
                  <a:pt x="0" y="0"/>
                </a:lnTo>
                <a:lnTo>
                  <a:pt x="5399999" y="0"/>
                </a:lnTo>
                <a:lnTo>
                  <a:pt x="5399999" y="31750"/>
                </a:lnTo>
                <a:lnTo>
                  <a:pt x="0" y="31750"/>
                </a:lnTo>
                <a:close/>
              </a:path>
            </a:pathLst>
          </a:custGeom>
          <a:solidFill>
            <a:srgbClr val="1A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79999" y="3318037"/>
            <a:ext cx="5400040" cy="9525"/>
          </a:xfrm>
          <a:custGeom>
            <a:avLst/>
            <a:gdLst/>
            <a:ahLst/>
            <a:cxnLst/>
            <a:rect l="l" t="t" r="r" b="b"/>
            <a:pathLst>
              <a:path w="5400040" h="9525">
                <a:moveTo>
                  <a:pt x="5399999" y="0"/>
                </a:moveTo>
                <a:lnTo>
                  <a:pt x="5399999" y="9524"/>
                </a:lnTo>
                <a:lnTo>
                  <a:pt x="0" y="9524"/>
                </a:lnTo>
                <a:lnTo>
                  <a:pt x="0" y="0"/>
                </a:lnTo>
                <a:lnTo>
                  <a:pt x="5399999" y="0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F172A"/>
                </a:solidFill>
                <a:latin typeface="Microsoft YaHei Light"/>
                <a:cs typeface="Microsoft YaHe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F172A"/>
                </a:solidFill>
                <a:latin typeface="Microsoft YaHei Light"/>
                <a:cs typeface="Microsoft YaHe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F172A"/>
                </a:solidFill>
                <a:latin typeface="Microsoft YaHei Light"/>
                <a:cs typeface="Microsoft YaHe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6500" y="1574613"/>
            <a:ext cx="2667000" cy="42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F172A"/>
                </a:solidFill>
                <a:latin typeface="Microsoft YaHei Light"/>
                <a:cs typeface="Microsoft YaHe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75224" y="10386905"/>
            <a:ext cx="222250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94A3B8"/>
                </a:solidFill>
                <a:latin typeface="Microsoft YaHei Light"/>
                <a:cs typeface="Microsoft YaHei Light"/>
              </a:defRPr>
            </a:lvl1pPr>
          </a:lstStyle>
          <a:p>
            <a:pPr marL="38100">
              <a:lnSpc>
                <a:spcPts val="121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3.xml"/><Relationship Id="rId10" Type="http://schemas.openxmlformats.org/officeDocument/2006/relationships/slide" Target="slide16.xml"/><Relationship Id="rId11" Type="http://schemas.openxmlformats.org/officeDocument/2006/relationships/slide" Target="slide17.xml"/><Relationship Id="rId12" Type="http://schemas.openxmlformats.org/officeDocument/2006/relationships/slide" Target="slide18.xml"/><Relationship Id="rId13" Type="http://schemas.openxmlformats.org/officeDocument/2006/relationships/slide" Target="slide19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0.xml"/><Relationship Id="rId3" Type="http://schemas.openxmlformats.org/officeDocument/2006/relationships/slide" Target="slide21.xml"/><Relationship Id="rId4" Type="http://schemas.openxmlformats.org/officeDocument/2006/relationships/slide" Target="slide22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slide" Target="slide27.xml"/><Relationship Id="rId10" Type="http://schemas.openxmlformats.org/officeDocument/2006/relationships/slide" Target="slide28.xml"/><Relationship Id="rId11" Type="http://schemas.openxmlformats.org/officeDocument/2006/relationships/slide" Target="slide29.xml"/><Relationship Id="rId12" Type="http://schemas.openxmlformats.org/officeDocument/2006/relationships/slide" Target="slide30.xml"/><Relationship Id="rId13" Type="http://schemas.openxmlformats.org/officeDocument/2006/relationships/slide" Target="slide31.xml"/><Relationship Id="rId14" Type="http://schemas.openxmlformats.org/officeDocument/2006/relationships/slide" Target="slide32.xml"/><Relationship Id="rId15" Type="http://schemas.openxmlformats.org/officeDocument/2006/relationships/slide" Target="slide33.xml"/><Relationship Id="rId16" Type="http://schemas.openxmlformats.org/officeDocument/2006/relationships/slide" Target="slide34.xml"/><Relationship Id="rId17" Type="http://schemas.openxmlformats.org/officeDocument/2006/relationships/slide" Target="slide35.xml"/><Relationship Id="rId18" Type="http://schemas.openxmlformats.org/officeDocument/2006/relationships/slide" Target="slide36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7.xml"/><Relationship Id="rId3" Type="http://schemas.openxmlformats.org/officeDocument/2006/relationships/slide" Target="slide38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1.xml"/><Relationship Id="rId7" Type="http://schemas.openxmlformats.org/officeDocument/2006/relationships/slide" Target="slide42.xml"/><Relationship Id="rId8" Type="http://schemas.openxmlformats.org/officeDocument/2006/relationships/slide" Target="slide43.xml"/><Relationship Id="rId9" Type="http://schemas.openxmlformats.org/officeDocument/2006/relationships/slide" Target="slide44.xml"/><Relationship Id="rId10" Type="http://schemas.openxmlformats.org/officeDocument/2006/relationships/slide" Target="slide45.xml"/><Relationship Id="rId11" Type="http://schemas.openxmlformats.org/officeDocument/2006/relationships/slide" Target="slide46.xml"/><Relationship Id="rId12" Type="http://schemas.openxmlformats.org/officeDocument/2006/relationships/slide" Target="slide47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07254" y="1133110"/>
            <a:ext cx="7454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435" algn="l"/>
                <a:tab pos="598805" algn="l"/>
              </a:tabLst>
            </a:pPr>
            <a:r>
              <a:rPr dirty="0" sz="1050" spc="-50" b="0">
                <a:solidFill>
                  <a:srgbClr val="475569"/>
                </a:solidFill>
                <a:latin typeface="Microsoft YaHei Light"/>
                <a:cs typeface="Microsoft YaHei Light"/>
              </a:rPr>
              <a:t>大</a:t>
            </a:r>
            <a:r>
              <a:rPr dirty="0" sz="1050" b="0">
                <a:solidFill>
                  <a:srgbClr val="475569"/>
                </a:solidFill>
                <a:latin typeface="Microsoft YaHei Light"/>
                <a:cs typeface="Microsoft YaHei Light"/>
              </a:rPr>
              <a:t>	</a:t>
            </a:r>
            <a:r>
              <a:rPr dirty="0" sz="1050" spc="-50" b="0">
                <a:solidFill>
                  <a:srgbClr val="475569"/>
                </a:solidFill>
                <a:latin typeface="Microsoft YaHei Light"/>
                <a:cs typeface="Microsoft YaHei Light"/>
              </a:rPr>
              <a:t>作</a:t>
            </a:r>
            <a:r>
              <a:rPr dirty="0" sz="1050" b="0">
                <a:solidFill>
                  <a:srgbClr val="475569"/>
                </a:solidFill>
                <a:latin typeface="Microsoft YaHei Light"/>
                <a:cs typeface="Microsoft YaHei Light"/>
              </a:rPr>
              <a:t>	</a:t>
            </a:r>
            <a:r>
              <a:rPr dirty="0" sz="1050" spc="-50" b="0">
                <a:solidFill>
                  <a:srgbClr val="475569"/>
                </a:solidFill>
                <a:latin typeface="Microsoft YaHei Light"/>
                <a:cs typeface="Microsoft YaHei Light"/>
              </a:rPr>
              <a:t>业</a:t>
            </a:r>
            <a:endParaRPr sz="1050">
              <a:latin typeface="Microsoft YaHei Light"/>
              <a:cs typeface="Microsoft YaHe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揭棋对弈程序设计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116300" y="2277094"/>
            <a:ext cx="332740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9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公共通信协议规范</a:t>
            </a:r>
            <a:endParaRPr sz="1900">
              <a:latin typeface="Microsoft YaHei Light"/>
              <a:cs typeface="Microsoft YaHei Light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dirty="0" sz="1300" spc="80" b="0">
                <a:solidFill>
                  <a:srgbClr val="64748B"/>
                </a:solidFill>
                <a:latin typeface="Microsoft YaHei Light"/>
                <a:cs typeface="Microsoft YaHei Light"/>
              </a:rPr>
              <a:t>Interface</a:t>
            </a:r>
            <a:r>
              <a:rPr dirty="0" sz="1300" spc="345" b="0">
                <a:solidFill>
                  <a:srgbClr val="64748B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b="0">
                <a:solidFill>
                  <a:srgbClr val="64748B"/>
                </a:solidFill>
                <a:latin typeface="Microsoft YaHei Light"/>
                <a:cs typeface="Microsoft YaHei Light"/>
              </a:rPr>
              <a:t>Protocol</a:t>
            </a:r>
            <a:r>
              <a:rPr dirty="0" sz="1300" spc="350" b="0">
                <a:solidFill>
                  <a:srgbClr val="64748B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80" b="0">
                <a:solidFill>
                  <a:srgbClr val="64748B"/>
                </a:solidFill>
                <a:latin typeface="Microsoft YaHei Light"/>
                <a:cs typeface="Microsoft YaHei Light"/>
              </a:rPr>
              <a:t>Specification</a:t>
            </a:r>
            <a:r>
              <a:rPr dirty="0" sz="1300" spc="345" b="0">
                <a:solidFill>
                  <a:srgbClr val="64748B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985" b="0">
                <a:solidFill>
                  <a:srgbClr val="64748B"/>
                </a:solidFill>
                <a:latin typeface="Microsoft YaHei Light"/>
                <a:cs typeface="Microsoft YaHei Light"/>
              </a:rPr>
              <a:t>·</a:t>
            </a:r>
            <a:r>
              <a:rPr dirty="0" sz="1300" spc="350" b="0">
                <a:solidFill>
                  <a:srgbClr val="64748B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80" b="0">
                <a:solidFill>
                  <a:srgbClr val="64748B"/>
                </a:solidFill>
                <a:latin typeface="Microsoft YaHei Light"/>
                <a:cs typeface="Microsoft YaHei Light"/>
              </a:rPr>
              <a:t>v3.1</a:t>
            </a:r>
            <a:endParaRPr sz="1300">
              <a:latin typeface="Microsoft YaHei Light"/>
              <a:cs typeface="Microsoft YaHei Ligh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435237" y="3957097"/>
            <a:ext cx="4690110" cy="2600325"/>
            <a:chOff x="1435237" y="3957097"/>
            <a:chExt cx="4690110" cy="2600325"/>
          </a:xfrm>
        </p:grpSpPr>
        <p:sp>
          <p:nvSpPr>
            <p:cNvPr id="6" name="object 6" descr=""/>
            <p:cNvSpPr/>
            <p:nvPr/>
          </p:nvSpPr>
          <p:spPr>
            <a:xfrm>
              <a:off x="1439999" y="3961860"/>
              <a:ext cx="4680585" cy="2590800"/>
            </a:xfrm>
            <a:custGeom>
              <a:avLst/>
              <a:gdLst/>
              <a:ahLst/>
              <a:cxnLst/>
              <a:rect l="l" t="t" r="r" b="b"/>
              <a:pathLst>
                <a:path w="4680585" h="2590800">
                  <a:moveTo>
                    <a:pt x="4608562" y="2590199"/>
                  </a:moveTo>
                  <a:lnTo>
                    <a:pt x="71437" y="2590199"/>
                  </a:lnTo>
                  <a:lnTo>
                    <a:pt x="43630" y="2584585"/>
                  </a:lnTo>
                  <a:lnTo>
                    <a:pt x="20923" y="2569275"/>
                  </a:lnTo>
                  <a:lnTo>
                    <a:pt x="5613" y="2546568"/>
                  </a:lnTo>
                  <a:lnTo>
                    <a:pt x="0" y="2518761"/>
                  </a:lnTo>
                  <a:lnTo>
                    <a:pt x="0" y="71437"/>
                  </a:lnTo>
                  <a:lnTo>
                    <a:pt x="5613" y="43630"/>
                  </a:lnTo>
                  <a:lnTo>
                    <a:pt x="20923" y="20923"/>
                  </a:lnTo>
                  <a:lnTo>
                    <a:pt x="43630" y="5613"/>
                  </a:lnTo>
                  <a:lnTo>
                    <a:pt x="71437" y="0"/>
                  </a:lnTo>
                  <a:lnTo>
                    <a:pt x="4608562" y="0"/>
                  </a:lnTo>
                  <a:lnTo>
                    <a:pt x="4636369" y="5613"/>
                  </a:lnTo>
                  <a:lnTo>
                    <a:pt x="4659076" y="20923"/>
                  </a:lnTo>
                  <a:lnTo>
                    <a:pt x="4674386" y="43630"/>
                  </a:lnTo>
                  <a:lnTo>
                    <a:pt x="4680000" y="71437"/>
                  </a:lnTo>
                  <a:lnTo>
                    <a:pt x="4680000" y="2518761"/>
                  </a:lnTo>
                  <a:lnTo>
                    <a:pt x="4674386" y="2546568"/>
                  </a:lnTo>
                  <a:lnTo>
                    <a:pt x="4659076" y="2569275"/>
                  </a:lnTo>
                  <a:lnTo>
                    <a:pt x="4636369" y="2584585"/>
                  </a:lnTo>
                  <a:lnTo>
                    <a:pt x="4608562" y="259019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39999" y="3961860"/>
              <a:ext cx="4680585" cy="2590800"/>
            </a:xfrm>
            <a:custGeom>
              <a:avLst/>
              <a:gdLst/>
              <a:ahLst/>
              <a:cxnLst/>
              <a:rect l="l" t="t" r="r" b="b"/>
              <a:pathLst>
                <a:path w="4680585" h="2590800">
                  <a:moveTo>
                    <a:pt x="71437" y="0"/>
                  </a:moveTo>
                  <a:lnTo>
                    <a:pt x="4608562" y="0"/>
                  </a:lnTo>
                  <a:lnTo>
                    <a:pt x="4636369" y="5613"/>
                  </a:lnTo>
                  <a:lnTo>
                    <a:pt x="4659076" y="20923"/>
                  </a:lnTo>
                  <a:lnTo>
                    <a:pt x="4674386" y="43630"/>
                  </a:lnTo>
                  <a:lnTo>
                    <a:pt x="4680000" y="71437"/>
                  </a:lnTo>
                  <a:lnTo>
                    <a:pt x="4680000" y="2518761"/>
                  </a:lnTo>
                  <a:lnTo>
                    <a:pt x="4674386" y="2546568"/>
                  </a:lnTo>
                  <a:lnTo>
                    <a:pt x="4659076" y="2569275"/>
                  </a:lnTo>
                  <a:lnTo>
                    <a:pt x="4636369" y="2584585"/>
                  </a:lnTo>
                  <a:lnTo>
                    <a:pt x="4608562" y="2590199"/>
                  </a:lnTo>
                  <a:lnTo>
                    <a:pt x="71437" y="2590199"/>
                  </a:lnTo>
                  <a:lnTo>
                    <a:pt x="43630" y="2584585"/>
                  </a:lnTo>
                  <a:lnTo>
                    <a:pt x="20923" y="2569275"/>
                  </a:lnTo>
                  <a:lnTo>
                    <a:pt x="5613" y="2546568"/>
                  </a:lnTo>
                  <a:lnTo>
                    <a:pt x="0" y="2518761"/>
                  </a:lnTo>
                  <a:lnTo>
                    <a:pt x="0" y="71437"/>
                  </a:lnTo>
                  <a:lnTo>
                    <a:pt x="5613" y="43630"/>
                  </a:lnTo>
                  <a:lnTo>
                    <a:pt x="20923" y="20923"/>
                  </a:lnTo>
                  <a:lnTo>
                    <a:pt x="43630" y="5613"/>
                  </a:lnTo>
                  <a:lnTo>
                    <a:pt x="71437" y="0"/>
                  </a:lnTo>
                </a:path>
              </a:pathLst>
            </a:custGeom>
            <a:ln w="9525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113675" y="4279303"/>
          <a:ext cx="3177540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5"/>
                <a:gridCol w="877569"/>
                <a:gridCol w="1012825"/>
              </a:tblGrid>
              <a:tr h="622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300" b="0">
                          <a:latin typeface="Microsoft YaHei Light"/>
                          <a:cs typeface="Microsoft YaHei Light"/>
                        </a:rPr>
                        <a:t>张恒基（组长</a:t>
                      </a:r>
                      <a:r>
                        <a:rPr dirty="0" sz="13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3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165"/>
                        </a:lnSpc>
                      </a:pPr>
                      <a:r>
                        <a:rPr dirty="0" sz="1100" spc="-15" b="0">
                          <a:solidFill>
                            <a:srgbClr val="334155"/>
                          </a:solidFill>
                          <a:latin typeface="Microsoft YaHei Light"/>
                          <a:cs typeface="Microsoft YaHei Light"/>
                        </a:rPr>
                        <a:t>小组成员</a:t>
                      </a:r>
                      <a:endParaRPr sz="11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186690">
                        <a:lnSpc>
                          <a:spcPct val="100000"/>
                        </a:lnSpc>
                      </a:pPr>
                      <a:r>
                        <a:rPr dirty="0" sz="1300" spc="-20" b="0">
                          <a:latin typeface="Microsoft YaHei Light"/>
                          <a:cs typeface="Microsoft YaHei Light"/>
                        </a:rPr>
                        <a:t>秦博宇</a:t>
                      </a:r>
                      <a:endParaRPr sz="13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262255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2024211301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2024211302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7625"/>
                </a:tc>
              </a:tr>
              <a:tr h="284480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2024210926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2024210940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326390"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300" spc="-20" b="0">
                          <a:latin typeface="Microsoft YaHei Light"/>
                          <a:cs typeface="Microsoft YaHei Light"/>
                        </a:rPr>
                        <a:t>陈艺博</a:t>
                      </a:r>
                      <a:endParaRPr sz="13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300" spc="-20" b="0">
                          <a:latin typeface="Microsoft YaHei Light"/>
                          <a:cs typeface="Microsoft YaHei Light"/>
                        </a:rPr>
                        <a:t>陈雨飞</a:t>
                      </a:r>
                      <a:endParaRPr sz="13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8580"/>
                </a:tc>
              </a:tr>
              <a:tr h="262255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2024211302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2024211304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7625"/>
                </a:tc>
              </a:tr>
              <a:tr h="193040">
                <a:tc>
                  <a:txBody>
                    <a:bodyPr/>
                    <a:lstStyle/>
                    <a:p>
                      <a:pPr marL="187325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2024210959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6690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-10" b="0">
                          <a:solidFill>
                            <a:srgbClr val="64748B"/>
                          </a:solidFill>
                          <a:latin typeface="Microsoft YaHei Light"/>
                          <a:cs typeface="Microsoft YaHei Light"/>
                        </a:rPr>
                        <a:t>2024211005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3138650" y="7098217"/>
            <a:ext cx="1282700" cy="469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spc="-5" b="0">
                <a:solidFill>
                  <a:srgbClr val="64748B"/>
                </a:solidFill>
                <a:latin typeface="Microsoft YaHei Light"/>
                <a:cs typeface="Microsoft YaHei Light"/>
              </a:rPr>
              <a:t>项目代号：</a:t>
            </a:r>
            <a:r>
              <a:rPr dirty="0" sz="1100" spc="-10" b="0">
                <a:solidFill>
                  <a:srgbClr val="64748B"/>
                </a:solidFill>
                <a:latin typeface="Microsoft YaHei Light"/>
                <a:cs typeface="Microsoft YaHei Light"/>
              </a:rPr>
              <a:t>Unveil</a:t>
            </a:r>
            <a:endParaRPr sz="1100">
              <a:latin typeface="Microsoft YaHei Light"/>
              <a:cs typeface="Microsoft YaHei Light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100" spc="-25" b="0">
                <a:solidFill>
                  <a:srgbClr val="64748B"/>
                </a:solidFill>
                <a:latin typeface="Microsoft YaHei Light"/>
                <a:cs typeface="Microsoft YaHei Light"/>
              </a:rPr>
              <a:t>2026</a:t>
            </a:r>
            <a:r>
              <a:rPr dirty="0" sz="1100" spc="95" b="0">
                <a:solidFill>
                  <a:srgbClr val="64748B"/>
                </a:solidFill>
                <a:latin typeface="Microsoft YaHei Light"/>
                <a:cs typeface="Microsoft YaHei Light"/>
              </a:rPr>
              <a:t> 年 </a:t>
            </a:r>
            <a:r>
              <a:rPr dirty="0" sz="1100" b="0">
                <a:solidFill>
                  <a:srgbClr val="64748B"/>
                </a:solidFill>
                <a:latin typeface="Microsoft YaHei Light"/>
                <a:cs typeface="Microsoft YaHei Light"/>
              </a:rPr>
              <a:t>5</a:t>
            </a:r>
            <a:r>
              <a:rPr dirty="0" sz="1100" spc="95" b="0">
                <a:solidFill>
                  <a:srgbClr val="64748B"/>
                </a:solidFill>
                <a:latin typeface="Microsoft YaHei Light"/>
                <a:cs typeface="Microsoft YaHei Light"/>
              </a:rPr>
              <a:t> 月 </a:t>
            </a:r>
            <a:r>
              <a:rPr dirty="0" sz="1100" b="0">
                <a:solidFill>
                  <a:srgbClr val="64748B"/>
                </a:solidFill>
                <a:latin typeface="Microsoft YaHei Light"/>
                <a:cs typeface="Microsoft YaHei Light"/>
              </a:rPr>
              <a:t>30</a:t>
            </a:r>
            <a:r>
              <a:rPr dirty="0" sz="1100" spc="45" b="0">
                <a:solidFill>
                  <a:srgbClr val="64748B"/>
                </a:solidFill>
                <a:latin typeface="Microsoft YaHei Light"/>
                <a:cs typeface="Microsoft YaHei Light"/>
              </a:rPr>
              <a:t> 日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7174" y="9747603"/>
            <a:ext cx="4565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0" b="0">
                <a:solidFill>
                  <a:srgbClr val="94A3B8"/>
                </a:solidFill>
                <a:latin typeface="Microsoft YaHei Light"/>
                <a:cs typeface="Microsoft YaHei Light"/>
              </a:rPr>
              <a:t>正文以课程 </a:t>
            </a:r>
            <a:r>
              <a:rPr dirty="0" sz="1100" spc="-100" b="0">
                <a:solidFill>
                  <a:srgbClr val="94A3B8"/>
                </a:solidFill>
                <a:latin typeface="Microsoft YaHei Light"/>
                <a:cs typeface="Microsoft YaHei Light"/>
              </a:rPr>
              <a:t>WebSocket+JSON</a:t>
            </a:r>
            <a:r>
              <a:rPr dirty="0" sz="1100" spc="25" b="0">
                <a:solidFill>
                  <a:srgbClr val="94A3B8"/>
                </a:solidFill>
                <a:latin typeface="Microsoft YaHei Light"/>
                <a:cs typeface="Microsoft YaHei Light"/>
              </a:rPr>
              <a:t> 公共接口为准；附录 </a:t>
            </a:r>
            <a:r>
              <a:rPr dirty="0" sz="1100" b="0">
                <a:solidFill>
                  <a:srgbClr val="94A3B8"/>
                </a:solidFill>
                <a:latin typeface="Microsoft YaHei Light"/>
                <a:cs typeface="Microsoft YaHei Light"/>
              </a:rPr>
              <a:t>B</a:t>
            </a:r>
            <a:r>
              <a:rPr dirty="0" sz="1100" spc="140" b="0">
                <a:solidFill>
                  <a:srgbClr val="94A3B8"/>
                </a:solidFill>
                <a:latin typeface="Microsoft YaHei Light"/>
                <a:cs typeface="Microsoft YaHei Light"/>
              </a:rPr>
              <a:t> 为 </a:t>
            </a:r>
            <a:r>
              <a:rPr dirty="0" sz="1100" b="0">
                <a:solidFill>
                  <a:srgbClr val="94A3B8"/>
                </a:solidFill>
                <a:latin typeface="Microsoft YaHei Light"/>
                <a:cs typeface="Microsoft YaHei Light"/>
              </a:rPr>
              <a:t>Unveil</a:t>
            </a:r>
            <a:r>
              <a:rPr dirty="0" sz="1100" spc="210" b="0">
                <a:solidFill>
                  <a:srgbClr val="94A3B8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65" b="0">
                <a:solidFill>
                  <a:srgbClr val="94A3B8"/>
                </a:solidFill>
                <a:latin typeface="Microsoft YaHei Light"/>
                <a:cs typeface="Microsoft YaHei Light"/>
              </a:rPr>
              <a:t>TCP</a:t>
            </a:r>
            <a:r>
              <a:rPr dirty="0" sz="1100" spc="50" b="0">
                <a:solidFill>
                  <a:srgbClr val="94A3B8"/>
                </a:solidFill>
                <a:latin typeface="Microsoft YaHei Light"/>
                <a:cs typeface="Microsoft YaHei Light"/>
              </a:rPr>
              <a:t> 扩展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4600" y="792002"/>
            <a:ext cx="5785485" cy="427990"/>
            <a:chOff x="874600" y="792002"/>
            <a:chExt cx="5785485" cy="42799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4600" y="792002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14300" y="825935"/>
            <a:ext cx="533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0">
                <a:solidFill>
                  <a:srgbClr val="1E3A8A"/>
                </a:solidFill>
                <a:latin typeface="Microsoft YaHei Light"/>
                <a:cs typeface="Microsoft YaHei Light"/>
              </a:rPr>
              <a:t>目录</a:t>
            </a:r>
            <a:endParaRPr sz="20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1321236"/>
            <a:ext cx="5785485" cy="843978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r" marL="228600" marR="5080" indent="-22860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228600" algn="l"/>
              </a:tabLst>
            </a:pPr>
            <a:r>
              <a:rPr dirty="0" sz="1200" spc="-80" b="0">
                <a:latin typeface="Microsoft YaHei Light"/>
                <a:cs typeface="Microsoft YaHei Light"/>
                <a:hlinkClick r:id="rId2" action="ppaction://hlinksldjump"/>
              </a:rPr>
              <a:t>基础约定 . . . . . . . . . . . . . . . . . . . . . . . . . . . . . . . . . . . . . . . . . . . . . . . </a:t>
            </a:r>
            <a:r>
              <a:rPr dirty="0" sz="1200" spc="80" b="0">
                <a:latin typeface="Microsoft YaHei Light"/>
                <a:cs typeface="Microsoft YaHei Light"/>
                <a:hlinkClick r:id="rId2" action="ppaction://hlinksldjump"/>
              </a:rPr>
              <a:t>1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2" action="ppaction://hlinksldjump"/>
              </a:rPr>
              <a:t>术语定义 . . . . . . . . . . . . . . . . . . . . . . . . . . . . . . . . . . . . . . . . . . </a:t>
            </a:r>
            <a:r>
              <a:rPr dirty="0" sz="1200" spc="80" b="0">
                <a:latin typeface="Microsoft YaHei Light"/>
                <a:cs typeface="Microsoft YaHei Light"/>
                <a:hlinkClick r:id="rId2" action="ppaction://hlinksldjump"/>
              </a:rPr>
              <a:t>1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2" action="ppaction://hlinksldjump"/>
              </a:rPr>
              <a:t>技术约定 . . . . . . . . . . . . . . . . . . . . . . . . . . . . . . . . . . . . . . . . . . </a:t>
            </a:r>
            <a:r>
              <a:rPr dirty="0" sz="1200" spc="80" b="0">
                <a:latin typeface="Microsoft YaHei Light"/>
                <a:cs typeface="Microsoft YaHei Light"/>
                <a:hlinkClick r:id="rId2" action="ppaction://hlinksldjump"/>
              </a:rPr>
              <a:t>1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80" b="0">
                <a:latin typeface="Microsoft YaHei Light"/>
                <a:cs typeface="Microsoft YaHei Light"/>
                <a:hlinkClick r:id="rId3" action="ppaction://hlinksldjump"/>
              </a:rPr>
              <a:t>坐标系统 . . . . . . . .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3" action="ppaction://hlinksldjump"/>
              </a:rPr>
              <a:t>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3" action="ppaction://hlinksldjump"/>
              </a:rPr>
              <a:t>坐标定义 . . . . . . . . . . . . . . . . . . . . . . . . . . . . . . . . . . . . . . . . . . 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0" b="0">
                <a:latin typeface="Microsoft YaHei Light"/>
                <a:cs typeface="Microsoft YaHei Light"/>
                <a:hlinkClick r:id="rId4" action="ppaction://hlinksldjump"/>
              </a:rPr>
              <a:t>坐标转换公式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4" action="ppaction://hlinksldjump"/>
              </a:rPr>
              <a:t>3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70" b="0">
                <a:latin typeface="Microsoft YaHei Light"/>
                <a:cs typeface="Microsoft YaHei Light"/>
                <a:hlinkClick r:id="rId4" action="ppaction://hlinksldjump"/>
              </a:rPr>
              <a:t>棋子类型编码 . . . . .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4" action="ppaction://hlinksldjump"/>
              </a:rPr>
              <a:t>3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70" b="0">
                <a:latin typeface="Microsoft YaHei Light"/>
                <a:cs typeface="Microsoft YaHei Light"/>
                <a:hlinkClick r:id="rId4" action="ppaction://hlinksldjump"/>
              </a:rPr>
              <a:t>老师 </a:t>
            </a:r>
            <a:r>
              <a:rPr dirty="0" sz="1200" spc="-105" b="0">
                <a:latin typeface="Microsoft YaHei Light"/>
                <a:cs typeface="Microsoft YaHei Light"/>
                <a:hlinkClick r:id="rId4" action="ppaction://hlinksldjump"/>
              </a:rPr>
              <a:t>JSON</a:t>
            </a:r>
            <a:r>
              <a:rPr dirty="0" sz="1200" spc="240" b="0">
                <a:latin typeface="Microsoft YaHei Light"/>
                <a:cs typeface="Microsoft YaHei Light"/>
                <a:hlinkClick r:id="rId4" action="ppaction://hlinksldjump"/>
              </a:rPr>
              <a:t> </a:t>
            </a:r>
            <a:r>
              <a:rPr dirty="0" sz="1200" b="0">
                <a:latin typeface="Microsoft YaHei Light"/>
                <a:cs typeface="Microsoft YaHei Light"/>
                <a:hlinkClick r:id="rId4" action="ppaction://hlinksldjump"/>
              </a:rPr>
              <a:t>piece</a:t>
            </a:r>
            <a:r>
              <a:rPr dirty="0" sz="1200" spc="165" b="0">
                <a:latin typeface="Microsoft YaHei Light"/>
                <a:cs typeface="Microsoft YaHei Light"/>
                <a:hlinkClick r:id="rId4" action="ppaction://hlinksldjump"/>
              </a:rPr>
              <a:t> 枚</a:t>
            </a:r>
            <a:r>
              <a:rPr dirty="0" sz="1200" spc="95" b="0">
                <a:latin typeface="Microsoft YaHei Light"/>
                <a:cs typeface="Microsoft YaHei Light"/>
                <a:hlinkClick r:id="rId4" action="ppaction://hlinksldjump"/>
              </a:rPr>
              <a:t>举</a:t>
            </a:r>
            <a:r>
              <a:rPr dirty="0" sz="1200" spc="95" b="0">
                <a:latin typeface="Microsoft YaHei Light"/>
                <a:cs typeface="Microsoft YaHei Light"/>
                <a:hlinkClick r:id="rId4" action="ppaction://hlinksldjump"/>
              </a:rPr>
              <a:t>映</a:t>
            </a:r>
            <a:r>
              <a:rPr dirty="0" sz="1200" spc="95" b="0">
                <a:latin typeface="Microsoft YaHei Light"/>
                <a:cs typeface="Microsoft YaHei Light"/>
                <a:hlinkClick r:id="rId4" action="ppaction://hlinksldjump"/>
              </a:rPr>
              <a:t>射</a:t>
            </a:r>
            <a:r>
              <a:rPr dirty="0" sz="1200" spc="60" b="0">
                <a:latin typeface="Microsoft YaHei Light"/>
                <a:cs typeface="Microsoft YaHei Light"/>
                <a:hlinkClick r:id="rId4" action="ppaction://hlinksldjump"/>
              </a:rPr>
              <a:t>（§3.2）</a:t>
            </a:r>
            <a:r>
              <a:rPr dirty="0" sz="1200" spc="35" b="0">
                <a:latin typeface="Microsoft YaHei Light"/>
                <a:cs typeface="Microsoft YaHei Light"/>
                <a:hlinkClick r:id="rId4" action="ppaction://hlinksldjump"/>
              </a:rPr>
              <a:t>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4" action="ppaction://hlinksldjump"/>
              </a:rPr>
              <a:t>3</a:t>
            </a:r>
            <a:endParaRPr sz="1200">
              <a:latin typeface="Microsoft YaHei Light"/>
              <a:cs typeface="Microsoft YaHei Light"/>
            </a:endParaRPr>
          </a:p>
          <a:p>
            <a:pPr lvl="1" marL="69850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98500" algn="l"/>
              </a:tabLst>
            </a:pPr>
            <a:r>
              <a:rPr dirty="0" sz="1200" spc="30" b="0">
                <a:latin typeface="Microsoft YaHei Light"/>
                <a:cs typeface="Microsoft YaHei Light"/>
                <a:hlinkClick r:id="rId5" action="ppaction://hlinksldjump"/>
              </a:rPr>
              <a:t>内部编码 </a:t>
            </a:r>
            <a:r>
              <a:rPr dirty="0" sz="1200" spc="100">
                <a:latin typeface="Lucida Sans Unicode"/>
                <a:cs typeface="Lucida Sans Unicode"/>
                <a:hlinkClick r:id="rId5" action="ppaction://hlinksldjump"/>
              </a:rPr>
              <a:t>↔ </a:t>
            </a:r>
            <a:r>
              <a:rPr dirty="0" sz="1200" spc="-105" b="0">
                <a:latin typeface="Microsoft YaHei Light"/>
                <a:cs typeface="Microsoft YaHei Light"/>
                <a:hlinkClick r:id="rId5" action="ppaction://hlinksldjump"/>
              </a:rPr>
              <a:t>JSON</a:t>
            </a:r>
            <a:r>
              <a:rPr dirty="0" sz="1200" spc="229" b="0">
                <a:latin typeface="Microsoft YaHei Light"/>
                <a:cs typeface="Microsoft YaHei Light"/>
                <a:hlinkClick r:id="rId5" action="ppaction://hlinksldjump"/>
              </a:rPr>
              <a:t> </a:t>
            </a:r>
            <a:r>
              <a:rPr dirty="0" sz="1200" spc="100">
                <a:latin typeface="Lucida Sans Unicode"/>
                <a:cs typeface="Lucida Sans Unicode"/>
                <a:hlinkClick r:id="rId5" action="ppaction://hlinksldjump"/>
              </a:rPr>
              <a:t>↔ 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中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文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三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向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对</a:t>
            </a:r>
            <a:r>
              <a:rPr dirty="0" sz="1200" spc="70" b="0">
                <a:latin typeface="Microsoft YaHei Light"/>
                <a:cs typeface="Microsoft YaHei Light"/>
                <a:hlinkClick r:id="rId5" action="ppaction://hlinksldjump"/>
              </a:rPr>
              <a:t>照</a:t>
            </a:r>
            <a:r>
              <a:rPr dirty="0" sz="1200" b="0">
                <a:latin typeface="Microsoft YaHei Light"/>
                <a:cs typeface="Microsoft YaHei Light"/>
                <a:hlinkClick r:id="rId5" action="ppaction://hlinksldjump"/>
              </a:rPr>
              <a:t>（§3.3）</a:t>
            </a:r>
            <a:r>
              <a:rPr dirty="0" sz="1200" spc="45" b="0">
                <a:latin typeface="Microsoft YaHei Light"/>
                <a:cs typeface="Microsoft YaHei Light"/>
                <a:hlinkClick r:id="rId5" action="ppaction://hlinksldjump"/>
              </a:rPr>
              <a:t>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5" action="ppaction://hlinksldjump"/>
              </a:rPr>
              <a:t>4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80" b="0">
                <a:latin typeface="Microsoft YaHei Light"/>
                <a:cs typeface="Microsoft YaHei Light"/>
                <a:hlinkClick r:id="rId5" action="ppaction://hlinksldjump"/>
              </a:rPr>
              <a:t>颜色编码 . . . . . . . .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5" action="ppaction://hlinksldjump"/>
              </a:rPr>
              <a:t>4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125" b="0">
                <a:latin typeface="Microsoft YaHei Light"/>
                <a:cs typeface="Microsoft YaHei Light"/>
                <a:hlinkClick r:id="rId6" action="ppaction://hlinksldjump"/>
              </a:rPr>
              <a:t>Move</a:t>
            </a:r>
            <a:r>
              <a:rPr dirty="0" sz="1200" spc="-60" b="0">
                <a:latin typeface="Microsoft YaHei Light"/>
                <a:cs typeface="Microsoft YaHei Light"/>
                <a:hlinkClick r:id="rId6" action="ppaction://hlinksldjump"/>
              </a:rPr>
              <a:t> 对象规范 . . . .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6" action="ppaction://hlinksldjump"/>
              </a:rPr>
              <a:t>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60" b="0">
                <a:latin typeface="Microsoft YaHei Light"/>
                <a:cs typeface="Microsoft YaHei Light"/>
                <a:hlinkClick r:id="rId6" action="ppaction://hlinksldjump"/>
              </a:rPr>
              <a:t>类定义 . . . . . .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6" action="ppaction://hlinksldjump"/>
              </a:rPr>
              <a:t>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3810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6" action="ppaction://hlinksldjump"/>
              </a:rPr>
              <a:t>字段规则 . . . . . . . . . . . . . . . . . . . . . . . . . . . . . . . . . . . . . . . . . . 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0" b="0">
                <a:latin typeface="Microsoft YaHei Light"/>
                <a:cs typeface="Microsoft YaHei Light"/>
                <a:hlinkClick r:id="rId6" action="ppaction://hlinksldjump"/>
              </a:rPr>
              <a:t>翻子随机性机制 . . . .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6" action="ppaction://hlinksldjump"/>
              </a:rPr>
              <a:t>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105" b="0">
                <a:latin typeface="Microsoft YaHei Light"/>
                <a:cs typeface="Microsoft YaHei Light"/>
                <a:hlinkClick r:id="rId7" action="ppaction://hlinksldjump"/>
              </a:rPr>
              <a:t>JSON</a:t>
            </a:r>
            <a:r>
              <a:rPr dirty="0" sz="1200" spc="30" b="0">
                <a:latin typeface="Microsoft YaHei Light"/>
                <a:cs typeface="Microsoft YaHei Light"/>
                <a:hlinkClick r:id="rId7" action="ppaction://hlinksldjump"/>
              </a:rPr>
              <a:t> </a:t>
            </a:r>
            <a:r>
              <a:rPr dirty="0" sz="1200" spc="-114" b="0">
                <a:latin typeface="Microsoft YaHei Light"/>
                <a:cs typeface="Microsoft YaHei Light"/>
                <a:hlinkClick r:id="rId7" action="ppaction://hlinksldjump"/>
              </a:rPr>
              <a:t>move</a:t>
            </a:r>
            <a:r>
              <a:rPr dirty="0" sz="1200" spc="135" b="0">
                <a:latin typeface="Microsoft YaHei Light"/>
                <a:cs typeface="Microsoft YaHei Light"/>
                <a:hlinkClick r:id="rId7" action="ppaction://hlinksldjump"/>
              </a:rPr>
              <a:t> 对</a:t>
            </a:r>
            <a:r>
              <a:rPr dirty="0" sz="1200" spc="95" b="0">
                <a:latin typeface="Microsoft YaHei Light"/>
                <a:cs typeface="Microsoft YaHei Light"/>
                <a:hlinkClick r:id="rId7" action="ppaction://hlinksldjump"/>
              </a:rPr>
              <a:t>象</a:t>
            </a:r>
            <a:r>
              <a:rPr dirty="0" sz="1200" spc="95" b="0">
                <a:latin typeface="Microsoft YaHei Light"/>
                <a:cs typeface="Microsoft YaHei Light"/>
                <a:hlinkClick r:id="rId7" action="ppaction://hlinksldjump"/>
              </a:rPr>
              <a:t>格</a:t>
            </a:r>
            <a:r>
              <a:rPr dirty="0" sz="1200" spc="95" b="0">
                <a:latin typeface="Microsoft YaHei Light"/>
                <a:cs typeface="Microsoft YaHei Light"/>
                <a:hlinkClick r:id="rId7" action="ppaction://hlinksldjump"/>
              </a:rPr>
              <a:t>式</a:t>
            </a:r>
            <a:r>
              <a:rPr dirty="0" sz="1200" spc="60" b="0">
                <a:latin typeface="Microsoft YaHei Light"/>
                <a:cs typeface="Microsoft YaHei Light"/>
                <a:hlinkClick r:id="rId7" action="ppaction://hlinksldjump"/>
              </a:rPr>
              <a:t>（§5.4）</a:t>
            </a:r>
            <a:r>
              <a:rPr dirty="0" sz="1200" spc="30" b="0">
                <a:latin typeface="Microsoft YaHei Light"/>
                <a:cs typeface="Microsoft YaHei Light"/>
                <a:hlinkClick r:id="rId7" action="ppaction://hlinksldjump"/>
              </a:rPr>
              <a:t>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105" b="0">
                <a:latin typeface="Microsoft YaHei Light"/>
                <a:cs typeface="Microsoft YaHei Light"/>
                <a:hlinkClick r:id="rId7" action="ppaction://hlinksldjump"/>
              </a:rPr>
              <a:t>JSON</a:t>
            </a:r>
            <a:r>
              <a:rPr dirty="0" sz="1200" spc="55" b="0">
                <a:latin typeface="Microsoft YaHei Light"/>
                <a:cs typeface="Microsoft YaHei Light"/>
                <a:hlinkClick r:id="rId7" action="ppaction://hlinksldjump"/>
              </a:rPr>
              <a:t> </a:t>
            </a:r>
            <a:r>
              <a:rPr dirty="0" sz="1200" spc="-20" b="0">
                <a:latin typeface="Microsoft YaHei Light"/>
                <a:cs typeface="Microsoft YaHei Light"/>
                <a:hlinkClick r:id="rId7" action="ppaction://hlinksldjump"/>
              </a:rPr>
              <a:t>moveResult</a:t>
            </a:r>
            <a:r>
              <a:rPr dirty="0" sz="1200" spc="175" b="0">
                <a:latin typeface="Microsoft YaHei Light"/>
                <a:cs typeface="Microsoft YaHei Light"/>
                <a:hlinkClick r:id="rId7" action="ppaction://hlinksldjump"/>
              </a:rPr>
              <a:t> 对</a:t>
            </a:r>
            <a:r>
              <a:rPr dirty="0" sz="1200" spc="130" b="0">
                <a:latin typeface="Microsoft YaHei Light"/>
                <a:cs typeface="Microsoft YaHei Light"/>
                <a:hlinkClick r:id="rId7" action="ppaction://hlinksldjump"/>
              </a:rPr>
              <a:t>象</a:t>
            </a:r>
            <a:r>
              <a:rPr dirty="0" sz="1200" spc="80" b="0">
                <a:latin typeface="Microsoft YaHei Light"/>
                <a:cs typeface="Microsoft YaHei Light"/>
                <a:hlinkClick r:id="rId7" action="ppaction://hlinksldjump"/>
              </a:rPr>
              <a:t>（§5.5）</a:t>
            </a:r>
            <a:r>
              <a:rPr dirty="0" sz="1200" spc="35" b="0">
                <a:latin typeface="Microsoft YaHei Light"/>
                <a:cs typeface="Microsoft YaHei Light"/>
                <a:hlinkClick r:id="rId7" action="ppaction://hlinksldjump"/>
              </a:rPr>
              <a:t>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6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65" b="0">
                <a:latin typeface="Microsoft YaHei Light"/>
                <a:cs typeface="Microsoft YaHei Light"/>
                <a:hlinkClick r:id="rId7" action="ppaction://hlinksldjump"/>
              </a:rPr>
              <a:t>WebSocket</a:t>
            </a:r>
            <a:r>
              <a:rPr dirty="0" sz="1200" spc="5" b="0">
                <a:latin typeface="Microsoft YaHei Light"/>
                <a:cs typeface="Microsoft YaHei Light"/>
                <a:hlinkClick r:id="rId7" action="ppaction://hlinksldjump"/>
              </a:rPr>
              <a:t> + </a:t>
            </a:r>
            <a:r>
              <a:rPr dirty="0" sz="1200" spc="-105" b="0">
                <a:latin typeface="Microsoft YaHei Light"/>
                <a:cs typeface="Microsoft YaHei Light"/>
                <a:hlinkClick r:id="rId7" action="ppaction://hlinksldjump"/>
              </a:rPr>
              <a:t>JSON</a:t>
            </a:r>
            <a:r>
              <a:rPr dirty="0" sz="1200" spc="-15" b="0">
                <a:latin typeface="Microsoft YaHei Light"/>
                <a:cs typeface="Microsoft YaHei Light"/>
                <a:hlinkClick r:id="rId7" action="ppaction://hlinksldjump"/>
              </a:rPr>
              <a:t> 通信协议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105" b="0">
                <a:latin typeface="Microsoft YaHei Light"/>
                <a:cs typeface="Microsoft YaHei Light"/>
                <a:hlinkClick r:id="rId7" action="ppaction://hlinksldjump"/>
              </a:rPr>
              <a:t>传</a:t>
            </a:r>
            <a:r>
              <a:rPr dirty="0" sz="1200" spc="105" b="0">
                <a:latin typeface="Microsoft YaHei Light"/>
                <a:cs typeface="Microsoft YaHei Light"/>
                <a:hlinkClick r:id="rId7" action="ppaction://hlinksldjump"/>
              </a:rPr>
              <a:t>输</a:t>
            </a:r>
            <a:r>
              <a:rPr dirty="0" sz="1200" spc="105" b="0">
                <a:latin typeface="Microsoft YaHei Light"/>
                <a:cs typeface="Microsoft YaHei Light"/>
                <a:hlinkClick r:id="rId7" action="ppaction://hlinksldjump"/>
              </a:rPr>
              <a:t>层</a:t>
            </a:r>
            <a:r>
              <a:rPr dirty="0" sz="1200" spc="105" b="0">
                <a:latin typeface="Microsoft YaHei Light"/>
                <a:cs typeface="Microsoft YaHei Light"/>
                <a:hlinkClick r:id="rId7" action="ppaction://hlinksldjump"/>
              </a:rPr>
              <a:t>约</a:t>
            </a:r>
            <a:r>
              <a:rPr dirty="0" sz="1200" spc="105" b="0">
                <a:latin typeface="Microsoft YaHei Light"/>
                <a:cs typeface="Microsoft YaHei Light"/>
                <a:hlinkClick r:id="rId7" action="ppaction://hlinksldjump"/>
              </a:rPr>
              <a:t>定</a:t>
            </a:r>
            <a:r>
              <a:rPr dirty="0" sz="1200" spc="65" b="0">
                <a:latin typeface="Microsoft YaHei Light"/>
                <a:cs typeface="Microsoft YaHei Light"/>
                <a:hlinkClick r:id="rId7" action="ppaction://hlinksldjump"/>
              </a:rPr>
              <a:t>（§6.1）</a:t>
            </a:r>
            <a:r>
              <a:rPr dirty="0" sz="1200" b="0">
                <a:latin typeface="Microsoft YaHei Light"/>
                <a:cs typeface="Microsoft YaHei Light"/>
                <a:hlinkClick r:id="rId7" action="ppaction://hlinksldjump"/>
              </a:rPr>
              <a:t>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依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赖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库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版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本</a:t>
            </a:r>
            <a:r>
              <a:rPr dirty="0" sz="1200" spc="50" b="0">
                <a:latin typeface="Microsoft YaHei Light"/>
                <a:cs typeface="Microsoft YaHei Light"/>
                <a:hlinkClick r:id="rId8" action="ppaction://hlinksldjump"/>
              </a:rPr>
              <a:t>（§6.2）</a:t>
            </a:r>
            <a:r>
              <a:rPr dirty="0" sz="1200" b="0">
                <a:latin typeface="Microsoft YaHei Light"/>
                <a:cs typeface="Microsoft YaHei Light"/>
                <a:hlinkClick r:id="rId8" action="ppaction://hlinksldjump"/>
              </a:rPr>
              <a:t> . .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8" action="ppaction://hlinksldjump"/>
              </a:rPr>
              <a:t>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消</a:t>
            </a: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息</a:t>
            </a: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格</a:t>
            </a: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式</a:t>
            </a: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总</a:t>
            </a:r>
            <a:r>
              <a:rPr dirty="0" sz="1200" spc="70" b="0">
                <a:latin typeface="Microsoft YaHei Light"/>
                <a:cs typeface="Microsoft YaHei Light"/>
                <a:hlinkClick r:id="rId8" action="ppaction://hlinksldjump"/>
              </a:rPr>
              <a:t>览</a:t>
            </a:r>
            <a:r>
              <a:rPr dirty="0" sz="1200" b="0">
                <a:latin typeface="Microsoft YaHei Light"/>
                <a:cs typeface="Microsoft YaHei Light"/>
                <a:hlinkClick r:id="rId8" action="ppaction://hlinksldjump"/>
              </a:rPr>
              <a:t>（§6.3）</a:t>
            </a:r>
            <a:r>
              <a:rPr dirty="0" sz="1200" spc="15" b="0">
                <a:latin typeface="Microsoft YaHei Light"/>
                <a:cs typeface="Microsoft YaHei Light"/>
                <a:hlinkClick r:id="rId8" action="ppaction://hlinksldjump"/>
              </a:rPr>
              <a:t> . . . . . .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8" action="ppaction://hlinksldjump"/>
              </a:rPr>
              <a:t>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85" b="0">
                <a:latin typeface="Microsoft YaHei Light"/>
                <a:cs typeface="Microsoft YaHei Light"/>
                <a:hlinkClick r:id="rId8" action="ppaction://hlinksldjump"/>
              </a:rPr>
              <a:t>客户端 → 服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务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器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消</a:t>
            </a:r>
            <a:r>
              <a:rPr dirty="0" sz="1200" spc="80" b="0">
                <a:latin typeface="Microsoft YaHei Light"/>
                <a:cs typeface="Microsoft YaHei Light"/>
                <a:hlinkClick r:id="rId8" action="ppaction://hlinksldjump"/>
              </a:rPr>
              <a:t>息</a:t>
            </a:r>
            <a:r>
              <a:rPr dirty="0" sz="1200" spc="50" b="0">
                <a:latin typeface="Microsoft YaHei Light"/>
                <a:cs typeface="Microsoft YaHei Light"/>
                <a:hlinkClick r:id="rId8" action="ppaction://hlinksldjump"/>
              </a:rPr>
              <a:t>（§6.4）</a:t>
            </a:r>
            <a:r>
              <a:rPr dirty="0" sz="1200" spc="35" b="0">
                <a:latin typeface="Microsoft YaHei Light"/>
                <a:cs typeface="Microsoft YaHei Light"/>
                <a:hlinkClick r:id="rId8" action="ppaction://hlinksldjump"/>
              </a:rPr>
              <a:t>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8" action="ppaction://hlinksldjump"/>
              </a:rPr>
              <a:t>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85" b="0">
                <a:latin typeface="Microsoft YaHei Light"/>
                <a:cs typeface="Microsoft YaHei Light"/>
                <a:hlinkClick r:id="rId9" action="ppaction://hlinksldjump"/>
              </a:rPr>
              <a:t>服务器 → 客</a:t>
            </a:r>
            <a:r>
              <a:rPr dirty="0" sz="1200" spc="80" b="0">
                <a:latin typeface="Microsoft YaHei Light"/>
                <a:cs typeface="Microsoft YaHei Light"/>
                <a:hlinkClick r:id="rId9" action="ppaction://hlinksldjump"/>
              </a:rPr>
              <a:t>户</a:t>
            </a:r>
            <a:r>
              <a:rPr dirty="0" sz="1200" spc="80" b="0">
                <a:latin typeface="Microsoft YaHei Light"/>
                <a:cs typeface="Microsoft YaHei Light"/>
                <a:hlinkClick r:id="rId9" action="ppaction://hlinksldjump"/>
              </a:rPr>
              <a:t>端</a:t>
            </a:r>
            <a:r>
              <a:rPr dirty="0" sz="1200" spc="80" b="0">
                <a:latin typeface="Microsoft YaHei Light"/>
                <a:cs typeface="Microsoft YaHei Light"/>
                <a:hlinkClick r:id="rId9" action="ppaction://hlinksldjump"/>
              </a:rPr>
              <a:t>消</a:t>
            </a:r>
            <a:r>
              <a:rPr dirty="0" sz="1200" spc="80" b="0">
                <a:latin typeface="Microsoft YaHei Light"/>
                <a:cs typeface="Microsoft YaHei Light"/>
                <a:hlinkClick r:id="rId9" action="ppaction://hlinksldjump"/>
              </a:rPr>
              <a:t>息</a:t>
            </a:r>
            <a:r>
              <a:rPr dirty="0" sz="1200" spc="50" b="0">
                <a:latin typeface="Microsoft YaHei Light"/>
                <a:cs typeface="Microsoft YaHei Light"/>
                <a:hlinkClick r:id="rId9" action="ppaction://hlinksldjump"/>
              </a:rPr>
              <a:t>（§6.5）</a:t>
            </a:r>
            <a:r>
              <a:rPr dirty="0" sz="1200" spc="40" b="0">
                <a:latin typeface="Microsoft YaHei Light"/>
                <a:cs typeface="Microsoft YaHei Light"/>
                <a:hlinkClick r:id="rId9" action="ppaction://hlinksldjump"/>
              </a:rPr>
              <a:t> . . . . . . . . . . . . . . . . . . . . . . . . . . </a:t>
            </a:r>
            <a:r>
              <a:rPr dirty="0" sz="1200" spc="-50" b="0">
                <a:latin typeface="Microsoft YaHei Light"/>
                <a:cs typeface="Microsoft YaHei Light"/>
                <a:hlinkClick r:id="rId9" action="ppaction://hlinksldjump"/>
              </a:rPr>
              <a:t>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公</a:t>
            </a: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共</a:t>
            </a: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数</a:t>
            </a: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据</a:t>
            </a: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结</a:t>
            </a:r>
            <a:r>
              <a:rPr dirty="0" sz="1200" spc="70" b="0">
                <a:latin typeface="Microsoft YaHei Light"/>
                <a:cs typeface="Microsoft YaHei Light"/>
                <a:hlinkClick r:id="rId10" action="ppaction://hlinksldjump"/>
              </a:rPr>
              <a:t>构</a:t>
            </a:r>
            <a:r>
              <a:rPr dirty="0" sz="1200" b="0">
                <a:latin typeface="Microsoft YaHei Light"/>
                <a:cs typeface="Microsoft YaHei Light"/>
                <a:hlinkClick r:id="rId10" action="ppaction://hlinksldjump"/>
              </a:rPr>
              <a:t>（§6.6）</a:t>
            </a:r>
            <a:r>
              <a:rPr dirty="0" sz="1200" spc="10" b="0">
                <a:latin typeface="Microsoft YaHei Light"/>
                <a:cs typeface="Microsoft YaHei Light"/>
                <a:hlinkClick r:id="rId10" action="ppaction://hlinksldjump"/>
              </a:rPr>
              <a:t>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12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95" b="0">
                <a:latin typeface="Microsoft YaHei Light"/>
                <a:cs typeface="Microsoft YaHei Light"/>
                <a:hlinkClick r:id="rId10" action="ppaction://hlinksldjump"/>
              </a:rPr>
              <a:t>initialBoard</a:t>
            </a:r>
            <a:r>
              <a:rPr dirty="0" sz="1200" spc="240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0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0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0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0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-16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310" b="0">
                <a:latin typeface="Microsoft YaHei Light"/>
                <a:cs typeface="Microsoft YaHei Light"/>
                <a:hlinkClick r:id="rId10" action="ppaction://hlinksldjump"/>
              </a:rPr>
              <a:t>.</a:t>
            </a:r>
            <a:r>
              <a:rPr dirty="0" sz="1200" spc="245" b="0">
                <a:latin typeface="Microsoft YaHei Light"/>
                <a:cs typeface="Microsoft YaHei Light"/>
                <a:hlinkClick r:id="rId10" action="ppaction://hlinksldjump"/>
              </a:rPr>
              <a:t>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12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114" b="0">
                <a:latin typeface="Microsoft YaHei Light"/>
                <a:cs typeface="Microsoft YaHei Light"/>
                <a:hlinkClick r:id="rId10" action="ppaction://hlinksldjump"/>
              </a:rPr>
              <a:t>move</a:t>
            </a:r>
            <a:r>
              <a:rPr dirty="0" sz="1200" spc="5" b="0">
                <a:latin typeface="Microsoft YaHei Light"/>
                <a:cs typeface="Microsoft YaHei Light"/>
                <a:hlinkClick r:id="rId10" action="ppaction://hlinksldjump"/>
              </a:rPr>
              <a:t> 对象</a:t>
            </a:r>
            <a:r>
              <a:rPr dirty="0" sz="1200" spc="-70" b="0">
                <a:latin typeface="Microsoft YaHei Light"/>
                <a:cs typeface="Microsoft YaHei Light"/>
                <a:hlinkClick r:id="rId10" action="ppaction://hlinksldjump"/>
              </a:rPr>
              <a:t>（JSON）</a:t>
            </a:r>
            <a:r>
              <a:rPr dirty="0" sz="1200" spc="20" b="0">
                <a:latin typeface="Microsoft YaHei Light"/>
                <a:cs typeface="Microsoft YaHei Light"/>
                <a:hlinkClick r:id="rId10" action="ppaction://hlinksldjump"/>
              </a:rPr>
              <a:t>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12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20" b="0">
                <a:latin typeface="Microsoft YaHei Light"/>
                <a:cs typeface="Microsoft YaHei Light"/>
                <a:hlinkClick r:id="rId10" action="ppaction://hlinksldjump"/>
              </a:rPr>
              <a:t>moveResult</a:t>
            </a:r>
            <a:r>
              <a:rPr dirty="0" sz="1200" b="0">
                <a:latin typeface="Microsoft YaHei Light"/>
                <a:cs typeface="Microsoft YaHei Light"/>
                <a:hlinkClick r:id="rId10" action="ppaction://hlinksldjump"/>
              </a:rPr>
              <a:t> 对象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12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105" b="0">
                <a:latin typeface="Microsoft YaHei Light"/>
                <a:cs typeface="Microsoft YaHei Light"/>
                <a:hlinkClick r:id="rId11" action="ppaction://hlinksldjump"/>
              </a:rPr>
              <a:t>错</a:t>
            </a:r>
            <a:r>
              <a:rPr dirty="0" sz="1200" spc="105" b="0">
                <a:latin typeface="Microsoft YaHei Light"/>
                <a:cs typeface="Microsoft YaHei Light"/>
                <a:hlinkClick r:id="rId11" action="ppaction://hlinksldjump"/>
              </a:rPr>
              <a:t>误</a:t>
            </a:r>
            <a:r>
              <a:rPr dirty="0" sz="1200" spc="105" b="0">
                <a:latin typeface="Microsoft YaHei Light"/>
                <a:cs typeface="Microsoft YaHei Light"/>
                <a:hlinkClick r:id="rId11" action="ppaction://hlinksldjump"/>
              </a:rPr>
              <a:t>码</a:t>
            </a:r>
            <a:r>
              <a:rPr dirty="0" sz="1200" spc="65" b="0">
                <a:latin typeface="Microsoft YaHei Light"/>
                <a:cs typeface="Microsoft YaHei Light"/>
                <a:hlinkClick r:id="rId11" action="ppaction://hlinksldjump"/>
              </a:rPr>
              <a:t>（§6.7）</a:t>
            </a:r>
            <a:r>
              <a:rPr dirty="0" sz="1200" spc="-10" b="0">
                <a:latin typeface="Microsoft YaHei Light"/>
                <a:cs typeface="Microsoft YaHei Light"/>
                <a:hlinkClick r:id="rId11" action="ppaction://hlinksldjump"/>
              </a:rPr>
              <a:t>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13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105" b="0">
                <a:latin typeface="Microsoft YaHei Light"/>
                <a:cs typeface="Microsoft YaHei Light"/>
                <a:hlinkClick r:id="rId11" action="ppaction://hlinksldjump"/>
              </a:rPr>
              <a:t>gameOver</a:t>
            </a:r>
            <a:r>
              <a:rPr dirty="0" sz="1200" spc="155" b="0">
                <a:latin typeface="Microsoft YaHei Light"/>
                <a:cs typeface="Microsoft YaHei Light"/>
                <a:hlinkClick r:id="rId11" action="ppaction://hlinksldjump"/>
              </a:rPr>
              <a:t> / </a:t>
            </a: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timeout</a:t>
            </a:r>
            <a:r>
              <a:rPr dirty="0" sz="1200" spc="70" b="0">
                <a:latin typeface="Microsoft YaHei Light"/>
                <a:cs typeface="Microsoft YaHei Light"/>
                <a:hlinkClick r:id="rId11" action="ppaction://hlinksldjump"/>
              </a:rPr>
              <a:t> 原因</a:t>
            </a: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（reason）</a:t>
            </a:r>
            <a:r>
              <a:rPr dirty="0" sz="1200" spc="40" b="0">
                <a:latin typeface="Microsoft YaHei Light"/>
                <a:cs typeface="Microsoft YaHei Light"/>
                <a:hlinkClick r:id="rId11" action="ppaction://hlinksldjump"/>
              </a:rPr>
              <a:t>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13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381000" algn="l"/>
              </a:tabLst>
            </a:pPr>
            <a:r>
              <a:rPr dirty="0" sz="1200" spc="35" b="0">
                <a:latin typeface="Microsoft YaHei Light"/>
                <a:cs typeface="Microsoft YaHei Light"/>
                <a:hlinkClick r:id="rId11" action="ppaction://hlinksldjump"/>
              </a:rPr>
              <a:t>典型 </a:t>
            </a:r>
            <a:r>
              <a:rPr dirty="0" sz="1200" spc="-105" b="0">
                <a:latin typeface="Microsoft YaHei Light"/>
                <a:cs typeface="Microsoft YaHei Light"/>
                <a:hlinkClick r:id="rId11" action="ppaction://hlinksldjump"/>
              </a:rPr>
              <a:t>JSON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 示例 . . . . . . . . . . . . . . . . . . . . . . . . . . . . . . . . . . . . . 13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5" b="0">
                <a:latin typeface="Microsoft YaHei Light"/>
                <a:cs typeface="Microsoft YaHei Light"/>
                <a:hlinkClick r:id="rId11" action="ppaction://hlinksldjump"/>
              </a:rPr>
              <a:t>匹配与先手协商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13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12" action="ppaction://hlinksldjump"/>
              </a:rPr>
              <a:t>走子与翻子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2" action="ppaction://hlinksldjump"/>
              </a:rPr>
              <a:t>14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13" action="ppaction://hlinksldjump"/>
              </a:rPr>
              <a:t>超时处理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15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13" action="ppaction://hlinksldjump"/>
              </a:rPr>
              <a:t>正常结束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15</a:t>
            </a:r>
            <a:endParaRPr sz="1200">
              <a:latin typeface="Microsoft YaHei Light"/>
              <a:cs typeface="Microsoft YaHei Light"/>
            </a:endParaRPr>
          </a:p>
          <a:p>
            <a:pPr algn="r" lvl="2" marL="533400" marR="5080" indent="-5334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33400" algn="l"/>
              </a:tabLst>
            </a:pPr>
            <a:r>
              <a:rPr dirty="0" sz="1200" spc="-35" b="0">
                <a:latin typeface="Microsoft YaHei Light"/>
                <a:cs typeface="Microsoft YaHei Light"/>
                <a:hlinkClick r:id="rId13" action="ppaction://hlinksldjump"/>
              </a:rPr>
              <a:t>心跳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15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5" b="0">
                <a:latin typeface="Microsoft YaHei Light"/>
                <a:cs typeface="Microsoft YaHei Light"/>
                <a:hlinkClick r:id="rId13" action="ppaction://hlinksldjump"/>
              </a:rPr>
              <a:t>本组扩展消息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15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28600" algn="l"/>
              </a:tabLst>
            </a:pPr>
            <a:r>
              <a:rPr dirty="0" sz="1200" spc="-65" b="0">
                <a:latin typeface="Microsoft YaHei Light"/>
                <a:cs typeface="Microsoft YaHei Light"/>
                <a:hlinkClick r:id="rId13" action="ppaction://hlinksldjump"/>
              </a:rPr>
              <a:t>典型通信流程 .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15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680242"/>
            <a:ext cx="5785485" cy="914082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r" lvl="1" marL="381000" marR="5080" indent="-38100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381000" algn="l"/>
              </a:tabLst>
            </a:pPr>
            <a:r>
              <a:rPr dirty="0" sz="1200" spc="-45" b="0">
                <a:latin typeface="Microsoft YaHei Light"/>
                <a:cs typeface="Microsoft YaHei Light"/>
                <a:hlinkClick r:id="rId2" action="ppaction://hlinksldjump"/>
              </a:rPr>
              <a:t>正常对弈时序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2" action="ppaction://hlinksldjump"/>
              </a:rPr>
              <a:t>16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2" action="ppaction://hlinksldjump"/>
              </a:rPr>
              <a:t>非法着法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2" action="ppaction://hlinksldjump"/>
              </a:rPr>
              <a:t>16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3" action="ppaction://hlinksldjump"/>
              </a:rPr>
              <a:t>超时判负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3" action="ppaction://hlinksldjump"/>
              </a:rPr>
              <a:t>17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60" b="0">
                <a:latin typeface="Microsoft YaHei Light"/>
                <a:cs typeface="Microsoft YaHei Light"/>
                <a:hlinkClick r:id="rId3" action="ppaction://hlinksldjump"/>
              </a:rPr>
              <a:t>认输 . . .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3" action="ppaction://hlinksldjump"/>
              </a:rPr>
              <a:t>17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3" action="ppaction://hlinksldjump"/>
              </a:rPr>
              <a:t>先手协商时序（requestFirstHand）</a:t>
            </a:r>
            <a:r>
              <a:rPr dirty="0" sz="1200" spc="55" b="0">
                <a:latin typeface="Microsoft YaHei Light"/>
                <a:cs typeface="Microsoft YaHei Light"/>
                <a:hlinkClick r:id="rId3" action="ppaction://hlinksldjump"/>
              </a:rPr>
              <a:t>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3" action="ppaction://hlinksldjump"/>
              </a:rPr>
              <a:t>17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4" action="ppaction://hlinksldjump"/>
              </a:rPr>
              <a:t>断线判负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4" action="ppaction://hlinksldjump"/>
              </a:rPr>
              <a:t>18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2286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4" action="ppaction://hlinksldjump"/>
              </a:rPr>
              <a:t>暗子走法与虚拟类型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4" action="ppaction://hlinksldjump"/>
              </a:rPr>
              <a:t>18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5" b="0">
                <a:latin typeface="Microsoft YaHei Light"/>
                <a:cs typeface="Microsoft YaHei Light"/>
                <a:hlinkClick r:id="rId4" action="ppaction://hlinksldjump"/>
              </a:rPr>
              <a:t>虚拟类型机制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4" action="ppaction://hlinksldjump"/>
              </a:rPr>
              <a:t>18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5" b="0">
                <a:latin typeface="Microsoft YaHei Light"/>
                <a:cs typeface="Microsoft YaHei Light"/>
                <a:hlinkClick r:id="rId5" action="ppaction://hlinksldjump"/>
              </a:rPr>
              <a:t>明子强化规则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5" action="ppaction://hlinksldjump"/>
              </a:rPr>
              <a:t>19</a:t>
            </a:r>
            <a:endParaRPr sz="1200">
              <a:latin typeface="Microsoft YaHei Light"/>
              <a:cs typeface="Microsoft YaHei Light"/>
            </a:endParaRPr>
          </a:p>
          <a:p>
            <a:pPr algn="r" marL="228600" marR="5080" indent="-2286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228600" algn="l"/>
              </a:tabLst>
            </a:pPr>
            <a:r>
              <a:rPr dirty="0" sz="1200" spc="-65" b="0">
                <a:latin typeface="Microsoft YaHei Light"/>
                <a:cs typeface="Microsoft YaHei Light"/>
                <a:hlinkClick r:id="rId5" action="ppaction://hlinksldjump"/>
              </a:rPr>
              <a:t>胜负与和棋判定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5" action="ppaction://hlinksldjump"/>
              </a:rPr>
              <a:t>19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5" action="ppaction://hlinksldjump"/>
              </a:rPr>
              <a:t>胜负条件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5" action="ppaction://hlinksldjump"/>
              </a:rPr>
              <a:t>19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5" action="ppaction://hlinksldjump"/>
              </a:rPr>
              <a:t>和棋条件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5" action="ppaction://hlinksldjump"/>
              </a:rPr>
              <a:t>19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3810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6" action="ppaction://hlinksldjump"/>
              </a:rPr>
              <a:t>长将 / 长捉判定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6" action="ppaction://hlinksldjump"/>
              </a:rPr>
              <a:t>20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381000" marR="5080" indent="-3810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81000" algn="l"/>
              </a:tabLst>
            </a:pPr>
            <a:r>
              <a:rPr dirty="0" sz="1200" spc="-45" b="0">
                <a:latin typeface="Microsoft YaHei Light"/>
                <a:cs typeface="Microsoft YaHei Light"/>
                <a:hlinkClick r:id="rId6" action="ppaction://hlinksldjump"/>
              </a:rPr>
              <a:t>超时判定公式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6" action="ppaction://hlinksldjump"/>
              </a:rPr>
              <a:t>20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6" action="ppaction://hlinksldjump"/>
              </a:rPr>
              <a:t>棋谱记录格式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6" action="ppaction://hlinksldjump"/>
              </a:rPr>
              <a:t>20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40" b="0">
                <a:latin typeface="Microsoft YaHei Light"/>
                <a:cs typeface="Microsoft YaHei Light"/>
                <a:hlinkClick r:id="rId6" action="ppaction://hlinksldjump"/>
              </a:rPr>
              <a:t>每步棋的记法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6" action="ppaction://hlinksldjump"/>
              </a:rPr>
              <a:t>20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20" b="0">
                <a:latin typeface="Microsoft YaHei Light"/>
                <a:cs typeface="Microsoft YaHei Light"/>
                <a:hlinkClick r:id="rId7" action="ppaction://hlinksldjump"/>
              </a:rPr>
              <a:t>棋子类型的棋谱名称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7" action="ppaction://hlinksldjump"/>
              </a:rPr>
              <a:t>21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7" action="ppaction://hlinksldjump"/>
              </a:rPr>
              <a:t>服务器棋谱存储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7" action="ppaction://hlinksldjump"/>
              </a:rPr>
              <a:t>21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-75" b="0">
                <a:latin typeface="Microsoft YaHei Light"/>
                <a:cs typeface="Microsoft YaHei Light"/>
                <a:hlinkClick r:id="rId7" action="ppaction://hlinksldjump"/>
              </a:rPr>
              <a:t>多盘对弈 . . . .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7" action="ppaction://hlinksldjump"/>
              </a:rPr>
              <a:t>21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实现要点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7" action="ppaction://hlinksldjump"/>
              </a:rPr>
              <a:t>21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7" action="ppaction://hlinksldjump"/>
              </a:rPr>
              <a:t>跨组兼容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7" action="ppaction://hlinksldjump"/>
              </a:rPr>
              <a:t>21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-50" b="0">
                <a:latin typeface="Microsoft YaHei Light"/>
                <a:cs typeface="Microsoft YaHei Light"/>
                <a:hlinkClick r:id="rId8" action="ppaction://hlinksldjump"/>
              </a:rPr>
              <a:t>组间联调检查清单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8" action="ppaction://hlinksldjump"/>
              </a:rPr>
              <a:t>22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-40" b="0">
                <a:latin typeface="Microsoft YaHei Light"/>
                <a:cs typeface="Microsoft YaHei Light"/>
                <a:hlinkClick r:id="rId8" action="ppaction://hlinksldjump"/>
              </a:rPr>
              <a:t>待老师确认的开放问题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8" action="ppaction://hlinksldjump"/>
              </a:rPr>
              <a:t>22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9" action="ppaction://hlinksldjump"/>
              </a:rPr>
              <a:t>规则与胜负判定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9" action="ppaction://hlinksldjump"/>
              </a:rPr>
              <a:t>23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10" action="ppaction://hlinksldjump"/>
              </a:rPr>
              <a:t>翻子、随机与棋谱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24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20" b="0">
                <a:latin typeface="Microsoft YaHei Light"/>
                <a:cs typeface="Microsoft YaHei Light"/>
                <a:hlinkClick r:id="rId10" action="ppaction://hlinksldjump"/>
              </a:rPr>
              <a:t>网络、计时与互操作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24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AI</a:t>
            </a:r>
            <a:r>
              <a:rPr dirty="0" sz="1200" spc="35" b="0">
                <a:latin typeface="Microsoft YaHei Light"/>
                <a:cs typeface="Microsoft YaHei Light"/>
                <a:hlinkClick r:id="rId11" action="ppaction://hlinksldjump"/>
              </a:rPr>
              <a:t> 博弈与评估</a:t>
            </a: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（</a:t>
            </a:r>
            <a:r>
              <a:rPr dirty="0" sz="1200" spc="85" b="0">
                <a:latin typeface="Microsoft YaHei Light"/>
                <a:cs typeface="Microsoft YaHei Light"/>
                <a:hlinkClick r:id="rId11" action="ppaction://hlinksldjump"/>
              </a:rPr>
              <a:t>选做 </a:t>
            </a: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AI</a:t>
            </a:r>
            <a:r>
              <a:rPr dirty="0" sz="1200" spc="15" b="0">
                <a:latin typeface="Microsoft YaHei Light"/>
                <a:cs typeface="Microsoft YaHei Light"/>
                <a:hlinkClick r:id="rId11" action="ppaction://hlinksldjump"/>
              </a:rPr>
              <a:t> 部分的组可一并裁定</a:t>
            </a: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）</a:t>
            </a:r>
            <a:r>
              <a:rPr dirty="0" sz="1200" spc="75" b="0">
                <a:latin typeface="Microsoft YaHei Light"/>
                <a:cs typeface="Microsoft YaHei Light"/>
                <a:hlinkClick r:id="rId11" action="ppaction://hlinksldjump"/>
              </a:rPr>
              <a:t>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25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305" b="0">
                <a:latin typeface="Microsoft YaHei Light"/>
                <a:cs typeface="Microsoft YaHei Light"/>
                <a:hlinkClick r:id="rId12" action="ppaction://hlinksldjump"/>
              </a:rPr>
              <a:t>I.</a:t>
            </a:r>
            <a:r>
              <a:rPr dirty="0" sz="1200" spc="-15" b="0">
                <a:latin typeface="Microsoft YaHei Light"/>
                <a:cs typeface="Microsoft YaHei Light"/>
                <a:hlinkClick r:id="rId12" action="ppaction://hlinksldjump"/>
              </a:rPr>
              <a:t> 网络底层与并发架构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2" action="ppaction://hlinksldjump"/>
              </a:rPr>
              <a:t>26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57200" algn="l"/>
              </a:tabLst>
            </a:pPr>
            <a:r>
              <a:rPr dirty="0" sz="1200" spc="300" b="0">
                <a:latin typeface="Microsoft YaHei Light"/>
                <a:cs typeface="Microsoft YaHei Light"/>
                <a:hlinkClick r:id="rId13" action="ppaction://hlinksldjump"/>
              </a:rPr>
              <a:t>II.</a:t>
            </a:r>
            <a:r>
              <a:rPr dirty="0" sz="1200" spc="-5" b="0">
                <a:latin typeface="Microsoft YaHei Light"/>
                <a:cs typeface="Microsoft YaHei Light"/>
                <a:hlinkClick r:id="rId13" action="ppaction://hlinksldjump"/>
              </a:rPr>
              <a:t> 多智能体协作与大模型赋能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3" action="ppaction://hlinksldjump"/>
              </a:rPr>
              <a:t>27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305" b="0">
                <a:latin typeface="Microsoft YaHei Light"/>
                <a:cs typeface="Microsoft YaHei Light"/>
                <a:hlinkClick r:id="rId14" action="ppaction://hlinksldjump"/>
              </a:rPr>
              <a:t>III.</a:t>
            </a:r>
            <a:r>
              <a:rPr dirty="0" sz="1200" spc="40" b="0">
                <a:latin typeface="Microsoft YaHei Light"/>
                <a:cs typeface="Microsoft YaHei Light"/>
                <a:hlinkClick r:id="rId14" action="ppaction://hlinksldjump"/>
              </a:rPr>
              <a:t> 全栈工程化与极致 </a:t>
            </a:r>
            <a:r>
              <a:rPr dirty="0" sz="1200" b="0">
                <a:latin typeface="Microsoft YaHei Light"/>
                <a:cs typeface="Microsoft YaHei Light"/>
                <a:hlinkClick r:id="rId14" action="ppaction://hlinksldjump"/>
              </a:rPr>
              <a:t>UI</a:t>
            </a:r>
            <a:r>
              <a:rPr dirty="0" sz="1200" spc="25" b="0">
                <a:latin typeface="Microsoft YaHei Light"/>
                <a:cs typeface="Microsoft YaHei Light"/>
                <a:hlinkClick r:id="rId14" action="ppaction://hlinksldjump"/>
              </a:rPr>
              <a:t>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4" action="ppaction://hlinksldjump"/>
              </a:rPr>
              <a:t>28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-55" b="0">
                <a:latin typeface="Microsoft YaHei Light"/>
                <a:cs typeface="Microsoft YaHei Light"/>
                <a:hlinkClick r:id="rId15" action="ppaction://hlinksldjump"/>
              </a:rPr>
              <a:t>实现状态标注 . . .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5" action="ppaction://hlinksldjump"/>
              </a:rPr>
              <a:t>29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65" b="0">
                <a:latin typeface="Microsoft YaHei Light"/>
                <a:cs typeface="Microsoft YaHei Light"/>
                <a:hlinkClick r:id="rId15" action="ppaction://hlinksldjump"/>
              </a:rPr>
              <a:t>WebSocket</a:t>
            </a:r>
            <a:r>
              <a:rPr dirty="0" sz="1200" spc="15" b="0">
                <a:latin typeface="Microsoft YaHei Light"/>
                <a:cs typeface="Microsoft YaHei Light"/>
                <a:hlinkClick r:id="rId15" action="ppaction://hlinksldjump"/>
              </a:rPr>
              <a:t> 消息类型</a:t>
            </a:r>
            <a:r>
              <a:rPr dirty="0" sz="1200" b="0">
                <a:latin typeface="Microsoft YaHei Light"/>
                <a:cs typeface="Microsoft YaHei Light"/>
                <a:hlinkClick r:id="rId15" action="ppaction://hlinksldjump"/>
              </a:rPr>
              <a:t>（</a:t>
            </a:r>
            <a:r>
              <a:rPr dirty="0" sz="1200" spc="110" b="0">
                <a:latin typeface="Microsoft YaHei Light"/>
                <a:cs typeface="Microsoft YaHei Light"/>
                <a:hlinkClick r:id="rId15" action="ppaction://hlinksldjump"/>
              </a:rPr>
              <a:t>第 </a:t>
            </a:r>
            <a:r>
              <a:rPr dirty="0" sz="1200" b="0">
                <a:latin typeface="Microsoft YaHei Light"/>
                <a:cs typeface="Microsoft YaHei Light"/>
                <a:hlinkClick r:id="rId15" action="ppaction://hlinksldjump"/>
              </a:rPr>
              <a:t>6</a:t>
            </a:r>
            <a:r>
              <a:rPr dirty="0" sz="1200" spc="110" b="0">
                <a:latin typeface="Microsoft YaHei Light"/>
                <a:cs typeface="Microsoft YaHei Light"/>
                <a:hlinkClick r:id="rId15" action="ppaction://hlinksldjump"/>
              </a:rPr>
              <a:t> 章</a:t>
            </a:r>
            <a:r>
              <a:rPr dirty="0" sz="1200" b="0">
                <a:latin typeface="Microsoft YaHei Light"/>
                <a:cs typeface="Microsoft YaHei Light"/>
                <a:hlinkClick r:id="rId15" action="ppaction://hlinksldjump"/>
              </a:rPr>
              <a:t>）</a:t>
            </a:r>
            <a:r>
              <a:rPr dirty="0" sz="1200" spc="25" b="0">
                <a:latin typeface="Microsoft YaHei Light"/>
                <a:cs typeface="Microsoft YaHei Light"/>
                <a:hlinkClick r:id="rId15" action="ppaction://hlinksldjump"/>
              </a:rPr>
              <a:t>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5" action="ppaction://hlinksldjump"/>
              </a:rPr>
              <a:t>29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30" b="0">
                <a:latin typeface="Microsoft YaHei Light"/>
                <a:cs typeface="Microsoft YaHei Light"/>
                <a:hlinkClick r:id="rId16" action="ppaction://hlinksldjump"/>
              </a:rPr>
              <a:t>揭棋规则与领域层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6" action="ppaction://hlinksldjump"/>
              </a:rPr>
              <a:t>30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-70" b="0">
                <a:latin typeface="Microsoft YaHei Light"/>
                <a:cs typeface="Microsoft YaHei Light"/>
                <a:hlinkClick r:id="rId16" action="ppaction://hlinksldjump"/>
              </a:rPr>
              <a:t>TCP</a:t>
            </a:r>
            <a:r>
              <a:rPr dirty="0" sz="1200" spc="5" b="0">
                <a:latin typeface="Microsoft YaHei Light"/>
                <a:cs typeface="Microsoft YaHei Light"/>
                <a:hlinkClick r:id="rId16" action="ppaction://hlinksldjump"/>
              </a:rPr>
              <a:t> 扩展</a:t>
            </a:r>
            <a:r>
              <a:rPr dirty="0" sz="1200" b="0">
                <a:latin typeface="Microsoft YaHei Light"/>
                <a:cs typeface="Microsoft YaHei Light"/>
                <a:hlinkClick r:id="rId16" action="ppaction://hlinksldjump"/>
              </a:rPr>
              <a:t>（</a:t>
            </a:r>
            <a:r>
              <a:rPr dirty="0" sz="1200" spc="70" b="0">
                <a:latin typeface="Microsoft YaHei Light"/>
                <a:cs typeface="Microsoft YaHei Light"/>
                <a:hlinkClick r:id="rId16" action="ppaction://hlinksldjump"/>
              </a:rPr>
              <a:t>附录 </a:t>
            </a:r>
            <a:r>
              <a:rPr dirty="0" sz="1200" b="0">
                <a:latin typeface="Microsoft YaHei Light"/>
                <a:cs typeface="Microsoft YaHei Light"/>
                <a:hlinkClick r:id="rId16" action="ppaction://hlinksldjump"/>
              </a:rPr>
              <a:t>B）</a:t>
            </a:r>
            <a:r>
              <a:rPr dirty="0" sz="1200" spc="5" b="0">
                <a:latin typeface="Microsoft YaHei Light"/>
                <a:cs typeface="Microsoft YaHei Light"/>
                <a:hlinkClick r:id="rId16" action="ppaction://hlinksldjump"/>
              </a:rPr>
              <a:t>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6" action="ppaction://hlinksldjump"/>
              </a:rPr>
              <a:t>30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25" b="0">
                <a:latin typeface="Microsoft YaHei Light"/>
                <a:cs typeface="Microsoft YaHei Light"/>
                <a:hlinkClick r:id="rId16" action="ppaction://hlinksldjump"/>
              </a:rPr>
              <a:t>工程与 </a:t>
            </a:r>
            <a:r>
              <a:rPr dirty="0" sz="1200" spc="-95" b="0">
                <a:latin typeface="Microsoft YaHei Light"/>
                <a:cs typeface="Microsoft YaHei Light"/>
                <a:hlinkClick r:id="rId16" action="ppaction://hlinksldjump"/>
              </a:rPr>
              <a:t>DevOps</a:t>
            </a:r>
            <a:r>
              <a:rPr dirty="0" sz="1200" spc="-15" b="0">
                <a:latin typeface="Microsoft YaHei Light"/>
                <a:cs typeface="Microsoft YaHei Light"/>
                <a:hlinkClick r:id="rId16" action="ppaction://hlinksldjump"/>
              </a:rPr>
              <a:t>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6" action="ppaction://hlinksldjump"/>
              </a:rPr>
              <a:t>30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17" action="ppaction://hlinksldjump"/>
              </a:rPr>
              <a:t>v2.0</a:t>
            </a:r>
            <a:r>
              <a:rPr dirty="0" sz="1200" spc="170" b="0">
                <a:latin typeface="Microsoft YaHei Light"/>
                <a:cs typeface="Microsoft YaHei Light"/>
                <a:hlinkClick r:id="rId17" action="ppaction://hlinksldjump"/>
              </a:rPr>
              <a:t> 内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容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保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留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检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查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清</a:t>
            </a:r>
            <a:r>
              <a:rPr dirty="0" sz="1200" spc="70" b="0">
                <a:latin typeface="Microsoft YaHei Light"/>
                <a:cs typeface="Microsoft YaHei Light"/>
                <a:hlinkClick r:id="rId17" action="ppaction://hlinksldjump"/>
              </a:rPr>
              <a:t>单</a:t>
            </a:r>
            <a:r>
              <a:rPr dirty="0" sz="1200" b="0">
                <a:latin typeface="Microsoft YaHei Light"/>
                <a:cs typeface="Microsoft YaHei Light"/>
                <a:hlinkClick r:id="rId17" action="ppaction://hlinksldjump"/>
              </a:rPr>
              <a:t>（§0.2</a:t>
            </a:r>
            <a:r>
              <a:rPr dirty="0" sz="1200" spc="90" b="0">
                <a:latin typeface="Microsoft YaHei Light"/>
                <a:cs typeface="Microsoft YaHei Light"/>
                <a:hlinkClick r:id="rId17" action="ppaction://hlinksldjump"/>
              </a:rPr>
              <a:t> 自检</a:t>
            </a:r>
            <a:r>
              <a:rPr dirty="0" sz="1200" b="0">
                <a:latin typeface="Microsoft YaHei Light"/>
                <a:cs typeface="Microsoft YaHei Light"/>
                <a:hlinkClick r:id="rId17" action="ppaction://hlinksldjump"/>
              </a:rPr>
              <a:t>）</a:t>
            </a:r>
            <a:r>
              <a:rPr dirty="0" sz="1200" spc="50" b="0">
                <a:latin typeface="Microsoft YaHei Light"/>
                <a:cs typeface="Microsoft YaHei Light"/>
                <a:hlinkClick r:id="rId17" action="ppaction://hlinksldjump"/>
              </a:rPr>
              <a:t>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7" action="ppaction://hlinksldjump"/>
              </a:rPr>
              <a:t>31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5" b="0">
                <a:latin typeface="Microsoft YaHei Light"/>
                <a:cs typeface="Microsoft YaHei Light"/>
                <a:hlinkClick r:id="rId18" action="ppaction://hlinksldjump"/>
              </a:rPr>
              <a:t>附录 </a:t>
            </a:r>
            <a:r>
              <a:rPr dirty="0" sz="1200" spc="-175" b="0">
                <a:latin typeface="Microsoft YaHei Light"/>
                <a:cs typeface="Microsoft YaHei Light"/>
                <a:hlinkClick r:id="rId18" action="ppaction://hlinksldjump"/>
              </a:rPr>
              <a:t>A：WS</a:t>
            </a:r>
            <a:r>
              <a:rPr dirty="0" sz="1200" spc="140" b="0">
                <a:latin typeface="Microsoft YaHei Light"/>
                <a:cs typeface="Microsoft YaHei Light"/>
                <a:hlinkClick r:id="rId18" action="ppaction://hlinksldjump"/>
              </a:rPr>
              <a:t> </a:t>
            </a:r>
            <a:r>
              <a:rPr dirty="0" sz="1200" spc="-105" b="0">
                <a:latin typeface="Microsoft YaHei Light"/>
                <a:cs typeface="Microsoft YaHei Light"/>
                <a:hlinkClick r:id="rId18" action="ppaction://hlinksldjump"/>
              </a:rPr>
              <a:t>JSON</a:t>
            </a:r>
            <a:r>
              <a:rPr dirty="0" sz="1200" spc="204" b="0">
                <a:latin typeface="Microsoft YaHei Light"/>
                <a:cs typeface="Microsoft YaHei Light"/>
                <a:hlinkClick r:id="rId18" action="ppaction://hlinksldjump"/>
              </a:rPr>
              <a:t> </a:t>
            </a:r>
            <a:r>
              <a:rPr dirty="0" sz="1200" spc="-60" b="0">
                <a:latin typeface="Microsoft YaHei Light"/>
                <a:cs typeface="Microsoft YaHei Light"/>
                <a:hlinkClick r:id="rId18" action="ppaction://hlinksldjump"/>
              </a:rPr>
              <a:t>messageType</a:t>
            </a:r>
            <a:r>
              <a:rPr dirty="0" sz="1200" spc="25" b="0">
                <a:latin typeface="Microsoft YaHei Light"/>
                <a:cs typeface="Microsoft YaHei Light"/>
                <a:hlinkClick r:id="rId18" action="ppaction://hlinksldjump"/>
              </a:rPr>
              <a:t> 快速参考卡片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8" action="ppaction://hlinksldjump"/>
              </a:rPr>
              <a:t>32</a:t>
            </a:r>
            <a:endParaRPr sz="1200">
              <a:latin typeface="Microsoft YaHei Light"/>
              <a:cs typeface="Microsoft YaHei Light"/>
            </a:endParaRPr>
          </a:p>
          <a:p>
            <a:pPr algn="r" marL="304800" marR="5080" indent="-304800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04800" algn="l"/>
              </a:tabLst>
            </a:pPr>
            <a:r>
              <a:rPr dirty="0" sz="1200" spc="85" b="0">
                <a:latin typeface="Microsoft YaHei Light"/>
                <a:cs typeface="Microsoft YaHei Light"/>
                <a:hlinkClick r:id="rId18" action="ppaction://hlinksldjump"/>
              </a:rPr>
              <a:t>附录 </a:t>
            </a:r>
            <a:r>
              <a:rPr dirty="0" sz="1200" spc="-65" b="0">
                <a:latin typeface="Microsoft YaHei Light"/>
                <a:cs typeface="Microsoft YaHei Light"/>
                <a:hlinkClick r:id="rId18" action="ppaction://hlinksldjump"/>
              </a:rPr>
              <a:t>B：TCP</a:t>
            </a:r>
            <a:r>
              <a:rPr dirty="0" sz="1200" spc="50" b="0">
                <a:latin typeface="Microsoft YaHei Light"/>
                <a:cs typeface="Microsoft YaHei Light"/>
                <a:hlinkClick r:id="rId18" action="ppaction://hlinksldjump"/>
              </a:rPr>
              <a:t> 文本帧扩展协议 </a:t>
            </a:r>
            <a:r>
              <a:rPr dirty="0" sz="1200" b="0">
                <a:latin typeface="Microsoft YaHei Light"/>
                <a:cs typeface="Microsoft YaHei Light"/>
                <a:hlinkClick r:id="rId18" action="ppaction://hlinksldjump"/>
              </a:rPr>
              <a:t>v2.0（Unveil</a:t>
            </a:r>
            <a:r>
              <a:rPr dirty="0" sz="1200" spc="85" b="0">
                <a:latin typeface="Microsoft YaHei Light"/>
                <a:cs typeface="Microsoft YaHei Light"/>
                <a:hlinkClick r:id="rId18" action="ppaction://hlinksldjump"/>
              </a:rPr>
              <a:t> 扩展</a:t>
            </a:r>
            <a:r>
              <a:rPr dirty="0" sz="1200" b="0">
                <a:latin typeface="Microsoft YaHei Light"/>
                <a:cs typeface="Microsoft YaHei Light"/>
                <a:hlinkClick r:id="rId18" action="ppaction://hlinksldjump"/>
              </a:rPr>
              <a:t>）</a:t>
            </a:r>
            <a:r>
              <a:rPr dirty="0" sz="1200" spc="65" b="0">
                <a:latin typeface="Microsoft YaHei Light"/>
                <a:cs typeface="Microsoft YaHei Light"/>
                <a:hlinkClick r:id="rId18" action="ppaction://hlinksldjump"/>
              </a:rPr>
              <a:t>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8" action="ppaction://hlinksldjump"/>
              </a:rPr>
              <a:t>32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57200" algn="l"/>
              </a:tabLst>
            </a:pPr>
            <a:r>
              <a:rPr dirty="0" sz="1200" spc="110" b="0">
                <a:latin typeface="Microsoft YaHei Light"/>
                <a:cs typeface="Microsoft YaHei Light"/>
                <a:hlinkClick r:id="rId18" action="ppaction://hlinksldjump"/>
              </a:rPr>
              <a:t>B.1</a:t>
            </a:r>
            <a:r>
              <a:rPr dirty="0" sz="1200" spc="-25" b="0">
                <a:latin typeface="Microsoft YaHei Light"/>
                <a:cs typeface="Microsoft YaHei Light"/>
                <a:hlinkClick r:id="rId18" action="ppaction://hlinksldjump"/>
              </a:rPr>
              <a:t> 消息帧格式 . . . . . . . . . . . . . . . . . . . . . . . . . . . . . . . . . . . . 32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2100" y="680242"/>
            <a:ext cx="5480685" cy="72707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lvl="1" marL="469900" indent="-457200">
              <a:lnSpc>
                <a:spcPct val="100000"/>
              </a:lnSpc>
              <a:spcBef>
                <a:spcPts val="500"/>
              </a:spcBef>
              <a:buAutoNum type="arabicPeriod" startAt="2"/>
              <a:tabLst>
                <a:tab pos="4699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2" action="ppaction://hlinksldjump"/>
              </a:rPr>
              <a:t>B.2</a:t>
            </a:r>
            <a:r>
              <a:rPr dirty="0" sz="1200" spc="-15" b="0">
                <a:latin typeface="Microsoft YaHei Light"/>
                <a:cs typeface="Microsoft YaHei Light"/>
                <a:hlinkClick r:id="rId2" action="ppaction://hlinksldjump"/>
              </a:rPr>
              <a:t> 消息帧解析规则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2" action="ppaction://hlinksldjump"/>
              </a:rPr>
              <a:t>33</a:t>
            </a:r>
            <a:endParaRPr sz="1200">
              <a:latin typeface="Microsoft YaHei Light"/>
              <a:cs typeface="Microsoft YaHei Light"/>
            </a:endParaRPr>
          </a:p>
          <a:p>
            <a:pPr lvl="1" marL="469900" indent="-457200">
              <a:lnSpc>
                <a:spcPct val="100000"/>
              </a:lnSpc>
              <a:spcBef>
                <a:spcPts val="400"/>
              </a:spcBef>
              <a:buAutoNum type="arabicPeriod" startAt="2"/>
              <a:tabLst>
                <a:tab pos="4699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2" action="ppaction://hlinksldjump"/>
              </a:rPr>
              <a:t>B.3</a:t>
            </a:r>
            <a:r>
              <a:rPr dirty="0" sz="1200" spc="-25" b="0">
                <a:latin typeface="Microsoft YaHei Light"/>
                <a:cs typeface="Microsoft YaHei Light"/>
                <a:hlinkClick r:id="rId2" action="ppaction://hlinksldjump"/>
              </a:rPr>
              <a:t> 消息类型目录 . . . . . . . . . . . . . . . . . . . . . . . . . . . . . . . . . . . 33</a:t>
            </a:r>
            <a:endParaRPr sz="1200">
              <a:latin typeface="Microsoft YaHei Light"/>
              <a:cs typeface="Microsoft YaHei Light"/>
            </a:endParaRPr>
          </a:p>
          <a:p>
            <a:pPr lvl="1" marL="469900" indent="-457200">
              <a:lnSpc>
                <a:spcPct val="100000"/>
              </a:lnSpc>
              <a:spcBef>
                <a:spcPts val="400"/>
              </a:spcBef>
              <a:buAutoNum type="arabicPeriod" startAt="2"/>
              <a:tabLst>
                <a:tab pos="4699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3" action="ppaction://hlinksldjump"/>
              </a:rPr>
              <a:t>B.4</a:t>
            </a:r>
            <a:r>
              <a:rPr dirty="0" sz="1200" spc="-15" b="0">
                <a:latin typeface="Microsoft YaHei Light"/>
                <a:cs typeface="Microsoft YaHei Light"/>
                <a:hlinkClick r:id="rId3" action="ppaction://hlinksldjump"/>
              </a:rPr>
              <a:t> 各消息详细格式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3" action="ppaction://hlinksldjump"/>
              </a:rPr>
              <a:t>34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477850" y="1466373"/>
          <a:ext cx="5213985" cy="2021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457200"/>
                <a:gridCol w="3931285"/>
                <a:gridCol w="222250"/>
              </a:tblGrid>
              <a:tr h="193040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135" b="0">
                          <a:latin typeface="Microsoft YaHei Light"/>
                          <a:cs typeface="Microsoft YaHei Light"/>
                          <a:hlinkClick r:id="rId3" action="ppaction://hlinksldjump"/>
                        </a:rPr>
                        <a:t>16.4.1.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3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ts val="1270"/>
                        </a:lnSpc>
                      </a:pPr>
                      <a:r>
                        <a:rPr dirty="0" sz="1200" spc="-100" b="0">
                          <a:latin typeface="Microsoft YaHei Light"/>
                          <a:cs typeface="Microsoft YaHei Light"/>
                          <a:hlinkClick r:id="rId3" action="ppaction://hlinksldjump"/>
                        </a:rPr>
                        <a:t>MSG_LOGIN（1）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  <a:hlinkClick r:id="rId3" action="ppaction://hlinksldjump"/>
                        </a:rPr>
                        <a:t>— 客户端登录 .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3" action="ppaction://hlinksldjump"/>
                        </a:rPr>
                        <a:t>34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16.4.2.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6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MSG_MOVE（2）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— 走子 . . . . . .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35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16.4.3.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30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MSG_GAME_STATE（3）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— 游戏状态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4" action="ppaction://hlinksldjump"/>
                        </a:rPr>
                        <a:t>35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5" action="ppaction://hlinksldjump"/>
                        </a:rPr>
                        <a:t>16.4.4.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5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30" b="0">
                          <a:latin typeface="Microsoft YaHei Light"/>
                          <a:cs typeface="Microsoft YaHei Light"/>
                          <a:hlinkClick r:id="rId5" action="ppaction://hlinksldjump"/>
                        </a:rPr>
                        <a:t>MSG_ERROR（4）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  <a:hlinkClick r:id="rId5" action="ppaction://hlinksldjump"/>
                        </a:rPr>
                        <a:t>— 错误消息 . . .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5" action="ppaction://hlinksldjump"/>
                        </a:rPr>
                        <a:t>36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16.4.5.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00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MSG_QUIT（5）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— 退出 . . . . . .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37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16.4.6.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50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MSG_GAME_OVER（6）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— 游戏结束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6" action="ppaction://hlinksldjump"/>
                        </a:rPr>
                        <a:t>37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10" b="0">
                          <a:latin typeface="Microsoft YaHei Light"/>
                          <a:cs typeface="Microsoft YaHei Light"/>
                          <a:hlinkClick r:id="rId7" action="ppaction://hlinksldjump"/>
                        </a:rPr>
                        <a:t>16.4.7.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7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25" b="0">
                          <a:latin typeface="Microsoft YaHei Light"/>
                          <a:cs typeface="Microsoft YaHei Light"/>
                          <a:hlinkClick r:id="rId7" action="ppaction://hlinksldjump"/>
                        </a:rPr>
                        <a:t>MSG_BOARD_STATE（7）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  <a:hlinkClick r:id="rId7" action="ppaction://hlinksldjump"/>
                        </a:rPr>
                        <a:t>— 棋盘同步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7" action="ppaction://hlinksldjump"/>
                        </a:rPr>
                        <a:t>38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8" action="ppaction://hlinksldjump"/>
                        </a:rPr>
                        <a:t>16.4.8.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8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150" b="0">
                          <a:latin typeface="Microsoft YaHei Light"/>
                          <a:cs typeface="Microsoft YaHei Light"/>
                          <a:hlinkClick r:id="rId8" action="ppaction://hlinksldjump"/>
                        </a:rPr>
                        <a:t>MSG_DRAW_REQUEST（8）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  <a:hlinkClick r:id="rId8" action="ppaction://hlinksldjump"/>
                        </a:rPr>
                        <a:t>— 提和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8" action="ppaction://hlinksldjump"/>
                        </a:rPr>
                        <a:t>39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  <a:tr h="193040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  <a:hlinkClick r:id="rId9" action="ppaction://hlinksldjump"/>
                        </a:rPr>
                        <a:t>16.4.9.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  <a:hlinkClick r:id="rId9" action="ppaction://hlinksldjump"/>
                        </a:rPr>
                        <a:t>B.4.x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-90" b="0">
                          <a:latin typeface="Microsoft YaHei Light"/>
                          <a:cs typeface="Microsoft YaHei Light"/>
                          <a:hlinkClick r:id="rId9" action="ppaction://hlinksldjump"/>
                        </a:rPr>
                        <a:t>MSG_RESIGN（9）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  <a:hlinkClick r:id="rId9" action="ppaction://hlinksldjump"/>
                        </a:rPr>
                        <a:t>— 认输 . . . . . . . . . . . . . . . . . . . . .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270"/>
                        </a:lnSpc>
                        <a:spcBef>
                          <a:spcPts val="1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  <a:hlinkClick r:id="rId9" action="ppaction://hlinksldjump"/>
                        </a:rPr>
                        <a:t>40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0"/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896825" y="5846461"/>
            <a:ext cx="5766435" cy="519430"/>
            <a:chOff x="896825" y="5846461"/>
            <a:chExt cx="5766435" cy="519430"/>
          </a:xfrm>
        </p:grpSpPr>
        <p:sp>
          <p:nvSpPr>
            <p:cNvPr id="5" name="object 5" descr=""/>
            <p:cNvSpPr/>
            <p:nvPr/>
          </p:nvSpPr>
          <p:spPr>
            <a:xfrm>
              <a:off x="900000" y="5849636"/>
              <a:ext cx="5760085" cy="513080"/>
            </a:xfrm>
            <a:custGeom>
              <a:avLst/>
              <a:gdLst/>
              <a:ahLst/>
              <a:cxnLst/>
              <a:rect l="l" t="t" r="r" b="b"/>
              <a:pathLst>
                <a:path w="5760084" h="513079">
                  <a:moveTo>
                    <a:pt x="5712374" y="512941"/>
                  </a:moveTo>
                  <a:lnTo>
                    <a:pt x="47625" y="512941"/>
                  </a:lnTo>
                  <a:lnTo>
                    <a:pt x="29087" y="509198"/>
                  </a:lnTo>
                  <a:lnTo>
                    <a:pt x="13949" y="498992"/>
                  </a:lnTo>
                  <a:lnTo>
                    <a:pt x="3742" y="483853"/>
                  </a:lnTo>
                  <a:lnTo>
                    <a:pt x="0" y="46531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65316"/>
                  </a:lnTo>
                  <a:lnTo>
                    <a:pt x="5756257" y="483853"/>
                  </a:lnTo>
                  <a:lnTo>
                    <a:pt x="5746050" y="498992"/>
                  </a:lnTo>
                  <a:lnTo>
                    <a:pt x="5730912" y="509198"/>
                  </a:lnTo>
                  <a:lnTo>
                    <a:pt x="5712374" y="512941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0000" y="5849636"/>
              <a:ext cx="5760085" cy="513080"/>
            </a:xfrm>
            <a:custGeom>
              <a:avLst/>
              <a:gdLst/>
              <a:ahLst/>
              <a:cxnLst/>
              <a:rect l="l" t="t" r="r" b="b"/>
              <a:pathLst>
                <a:path w="5760084" h="5130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65316"/>
                  </a:lnTo>
                  <a:lnTo>
                    <a:pt x="5756257" y="483853"/>
                  </a:lnTo>
                  <a:lnTo>
                    <a:pt x="5746050" y="498992"/>
                  </a:lnTo>
                  <a:lnTo>
                    <a:pt x="5730912" y="509198"/>
                  </a:lnTo>
                  <a:lnTo>
                    <a:pt x="5712374" y="512941"/>
                  </a:lnTo>
                  <a:lnTo>
                    <a:pt x="47625" y="512941"/>
                  </a:lnTo>
                  <a:lnTo>
                    <a:pt x="29087" y="509198"/>
                  </a:lnTo>
                  <a:lnTo>
                    <a:pt x="13949" y="498992"/>
                  </a:lnTo>
                  <a:lnTo>
                    <a:pt x="3742" y="483853"/>
                  </a:lnTo>
                  <a:lnTo>
                    <a:pt x="0" y="46531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FCD3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87300" y="3484879"/>
            <a:ext cx="5785485" cy="281686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00"/>
              </a:spcBef>
            </a:pPr>
            <a:r>
              <a:rPr dirty="0" sz="1200" spc="120" b="0">
                <a:latin typeface="Microsoft YaHei Light"/>
                <a:cs typeface="Microsoft YaHei Light"/>
                <a:hlinkClick r:id="rId9" action="ppaction://hlinksldjump"/>
              </a:rPr>
              <a:t>16.4.10.</a:t>
            </a:r>
            <a:r>
              <a:rPr dirty="0" sz="1200" spc="185" b="0">
                <a:latin typeface="Microsoft YaHei Light"/>
                <a:cs typeface="Microsoft YaHei Light"/>
                <a:hlinkClick r:id="rId9" action="ppaction://hlinksldjump"/>
              </a:rPr>
              <a:t> </a:t>
            </a:r>
            <a:r>
              <a:rPr dirty="0" sz="1200" spc="95" b="0">
                <a:latin typeface="Microsoft YaHei Light"/>
                <a:cs typeface="Microsoft YaHei Light"/>
                <a:hlinkClick r:id="rId9" action="ppaction://hlinksldjump"/>
              </a:rPr>
              <a:t>B.4.x</a:t>
            </a:r>
            <a:r>
              <a:rPr dirty="0" sz="1200" spc="235" b="0">
                <a:latin typeface="Microsoft YaHei Light"/>
                <a:cs typeface="Microsoft YaHei Light"/>
                <a:hlinkClick r:id="rId9" action="ppaction://hlinksldjump"/>
              </a:rPr>
              <a:t> </a:t>
            </a:r>
            <a:r>
              <a:rPr dirty="0" sz="1200" spc="-110" b="0">
                <a:latin typeface="Microsoft YaHei Light"/>
                <a:cs typeface="Microsoft YaHei Light"/>
                <a:hlinkClick r:id="rId9" action="ppaction://hlinksldjump"/>
              </a:rPr>
              <a:t>MSG_CHAT（10）</a:t>
            </a:r>
            <a:r>
              <a:rPr dirty="0" sz="1200" spc="30" b="0">
                <a:latin typeface="Microsoft YaHei Light"/>
                <a:cs typeface="Microsoft YaHei Light"/>
                <a:hlinkClick r:id="rId9" action="ppaction://hlinksldjump"/>
              </a:rPr>
              <a:t>— 聊天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9" action="ppaction://hlinksldjump"/>
              </a:rPr>
              <a:t>40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 startAt="5"/>
              <a:tabLst>
                <a:tab pos="4572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9" action="ppaction://hlinksldjump"/>
              </a:rPr>
              <a:t>B.7</a:t>
            </a:r>
            <a:r>
              <a:rPr dirty="0" sz="1200" spc="229" b="0">
                <a:latin typeface="Microsoft YaHei Light"/>
                <a:cs typeface="Microsoft YaHei Light"/>
                <a:hlinkClick r:id="rId9" action="ppaction://hlinksldjump"/>
              </a:rPr>
              <a:t> </a:t>
            </a:r>
            <a:r>
              <a:rPr dirty="0" sz="1200" spc="-70" b="0">
                <a:latin typeface="Microsoft YaHei Light"/>
                <a:cs typeface="Microsoft YaHei Light"/>
                <a:hlinkClick r:id="rId9" action="ppaction://hlinksldjump"/>
              </a:rPr>
              <a:t>TCP</a:t>
            </a:r>
            <a:r>
              <a:rPr dirty="0" sz="1200" b="0">
                <a:latin typeface="Microsoft YaHei Light"/>
                <a:cs typeface="Microsoft YaHei Light"/>
                <a:hlinkClick r:id="rId9" action="ppaction://hlinksldjump"/>
              </a:rPr>
              <a:t> 典型通信时序图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9" action="ppaction://hlinksldjump"/>
              </a:rPr>
              <a:t>40</a:t>
            </a:r>
            <a:endParaRPr sz="1200">
              <a:latin typeface="Microsoft YaHei Light"/>
              <a:cs typeface="Microsoft YaHei Light"/>
            </a:endParaRPr>
          </a:p>
          <a:p>
            <a:pPr algn="r" lvl="2" marL="609600" marR="5080" indent="-609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09600" algn="l"/>
              </a:tabLst>
            </a:pPr>
            <a:r>
              <a:rPr dirty="0" sz="1200" spc="114" b="0">
                <a:latin typeface="Microsoft YaHei Light"/>
                <a:cs typeface="Microsoft YaHei Light"/>
                <a:hlinkClick r:id="rId10" action="ppaction://hlinksldjump"/>
              </a:rPr>
              <a:t>B.7.1</a:t>
            </a:r>
            <a:r>
              <a:rPr dirty="0" sz="1200" spc="5" b="0">
                <a:latin typeface="Microsoft YaHei Light"/>
                <a:cs typeface="Microsoft YaHei Light"/>
                <a:hlinkClick r:id="rId10" action="ppaction://hlinksldjump"/>
              </a:rPr>
              <a:t> 正常对弈时序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41</a:t>
            </a:r>
            <a:endParaRPr sz="1200">
              <a:latin typeface="Microsoft YaHei Light"/>
              <a:cs typeface="Microsoft YaHei Light"/>
            </a:endParaRPr>
          </a:p>
          <a:p>
            <a:pPr algn="r" lvl="2" marL="609600" marR="5080" indent="-609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09600" algn="l"/>
              </a:tabLst>
            </a:pPr>
            <a:r>
              <a:rPr dirty="0" sz="1200" spc="75" b="0">
                <a:latin typeface="Microsoft YaHei Light"/>
                <a:cs typeface="Microsoft YaHei Light"/>
                <a:hlinkClick r:id="rId10" action="ppaction://hlinksldjump"/>
              </a:rPr>
              <a:t>B.7.2</a:t>
            </a:r>
            <a:r>
              <a:rPr dirty="0" sz="1200" spc="15" b="0">
                <a:latin typeface="Microsoft YaHei Light"/>
                <a:cs typeface="Microsoft YaHei Light"/>
                <a:hlinkClick r:id="rId10" action="ppaction://hlinksldjump"/>
              </a:rPr>
              <a:t> 非法着法被拒绝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0" action="ppaction://hlinksldjump"/>
              </a:rPr>
              <a:t>41</a:t>
            </a:r>
            <a:endParaRPr sz="1200">
              <a:latin typeface="Microsoft YaHei Light"/>
              <a:cs typeface="Microsoft YaHei Light"/>
            </a:endParaRPr>
          </a:p>
          <a:p>
            <a:pPr algn="r" lvl="2" marL="609600" marR="5080" indent="-609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09600" algn="l"/>
              </a:tabLst>
            </a:pPr>
            <a:r>
              <a:rPr dirty="0" sz="1200" spc="75" b="0">
                <a:latin typeface="Microsoft YaHei Light"/>
                <a:cs typeface="Microsoft YaHei Light"/>
                <a:hlinkClick r:id="rId11" action="ppaction://hlinksldjump"/>
              </a:rPr>
              <a:t>B.7.3</a:t>
            </a:r>
            <a:r>
              <a:rPr dirty="0" sz="1200" spc="-5" b="0">
                <a:latin typeface="Microsoft YaHei Light"/>
                <a:cs typeface="Microsoft YaHei Light"/>
                <a:hlinkClick r:id="rId11" action="ppaction://hlinksldjump"/>
              </a:rPr>
              <a:t> 超时判负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42</a:t>
            </a:r>
            <a:endParaRPr sz="1200">
              <a:latin typeface="Microsoft YaHei Light"/>
              <a:cs typeface="Microsoft YaHei Light"/>
            </a:endParaRPr>
          </a:p>
          <a:p>
            <a:pPr algn="r" lvl="2" marL="609600" marR="5080" indent="-609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09600" algn="l"/>
              </a:tabLst>
            </a:pPr>
            <a:r>
              <a:rPr dirty="0" sz="1200" spc="70" b="0">
                <a:latin typeface="Microsoft YaHei Light"/>
                <a:cs typeface="Microsoft YaHei Light"/>
                <a:hlinkClick r:id="rId11" action="ppaction://hlinksldjump"/>
              </a:rPr>
              <a:t>B.7.4</a:t>
            </a:r>
            <a:r>
              <a:rPr dirty="0" sz="1200" spc="-5" b="0">
                <a:latin typeface="Microsoft YaHei Light"/>
                <a:cs typeface="Microsoft YaHei Light"/>
                <a:hlinkClick r:id="rId11" action="ppaction://hlinksldjump"/>
              </a:rPr>
              <a:t> 提和流程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42</a:t>
            </a:r>
            <a:endParaRPr sz="1200">
              <a:latin typeface="Microsoft YaHei Light"/>
              <a:cs typeface="Microsoft YaHei Light"/>
            </a:endParaRPr>
          </a:p>
          <a:p>
            <a:pPr algn="r" lvl="2" marL="609600" marR="5080" indent="-609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09600" algn="l"/>
              </a:tabLst>
            </a:pPr>
            <a:r>
              <a:rPr dirty="0" sz="1200" spc="75" b="0">
                <a:latin typeface="Microsoft YaHei Light"/>
                <a:cs typeface="Microsoft YaHei Light"/>
                <a:hlinkClick r:id="rId11" action="ppaction://hlinksldjump"/>
              </a:rPr>
              <a:t>B.7.5</a:t>
            </a:r>
            <a:r>
              <a:rPr dirty="0" sz="1200" spc="-5" b="0">
                <a:latin typeface="Microsoft YaHei Light"/>
                <a:cs typeface="Microsoft YaHei Light"/>
                <a:hlinkClick r:id="rId11" action="ppaction://hlinksldjump"/>
              </a:rPr>
              <a:t> 认输流程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42</a:t>
            </a:r>
            <a:endParaRPr sz="1200">
              <a:latin typeface="Microsoft YaHei Light"/>
              <a:cs typeface="Microsoft YaHei Light"/>
            </a:endParaRPr>
          </a:p>
          <a:p>
            <a:pPr algn="r" lvl="1" marL="457200" marR="5080" indent="-457200">
              <a:lnSpc>
                <a:spcPct val="100000"/>
              </a:lnSpc>
              <a:spcBef>
                <a:spcPts val="400"/>
              </a:spcBef>
              <a:buAutoNum type="arabicPeriod" startAt="5"/>
              <a:tabLst>
                <a:tab pos="457200" algn="l"/>
              </a:tabLst>
            </a:pPr>
            <a:r>
              <a:rPr dirty="0" sz="1200" b="0">
                <a:latin typeface="Microsoft YaHei Light"/>
                <a:cs typeface="Microsoft YaHei Light"/>
                <a:hlinkClick r:id="rId11" action="ppaction://hlinksldjump"/>
              </a:rPr>
              <a:t>B.8</a:t>
            </a:r>
            <a:r>
              <a:rPr dirty="0" sz="1200" spc="215" b="0">
                <a:latin typeface="Microsoft YaHei Light"/>
                <a:cs typeface="Microsoft YaHei Light"/>
                <a:hlinkClick r:id="rId11" action="ppaction://hlinksldjump"/>
              </a:rPr>
              <a:t> </a:t>
            </a:r>
            <a:r>
              <a:rPr dirty="0" sz="1200" spc="-70" b="0">
                <a:latin typeface="Microsoft YaHei Light"/>
                <a:cs typeface="Microsoft YaHei Light"/>
                <a:hlinkClick r:id="rId11" action="ppaction://hlinksldjump"/>
              </a:rPr>
              <a:t>TCP</a:t>
            </a:r>
            <a:r>
              <a:rPr dirty="0" sz="1200" spc="-5" b="0">
                <a:latin typeface="Microsoft YaHei Light"/>
                <a:cs typeface="Microsoft YaHei Light"/>
                <a:hlinkClick r:id="rId11" action="ppaction://hlinksldjump"/>
              </a:rPr>
              <a:t> 消息快速参考卡片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1" action="ppaction://hlinksldjump"/>
              </a:rPr>
              <a:t>42</a:t>
            </a:r>
            <a:endParaRPr sz="1200">
              <a:latin typeface="Microsoft YaHei Light"/>
              <a:cs typeface="Microsoft YaHei Light"/>
            </a:endParaRPr>
          </a:p>
          <a:p>
            <a:pPr algn="r" marR="5080">
              <a:lnSpc>
                <a:spcPct val="100000"/>
              </a:lnSpc>
              <a:spcBef>
                <a:spcPts val="400"/>
              </a:spcBef>
            </a:pPr>
            <a:r>
              <a:rPr dirty="0" sz="1200" spc="130" b="0">
                <a:latin typeface="Microsoft YaHei Light"/>
                <a:cs typeface="Microsoft YaHei Light"/>
                <a:hlinkClick r:id="rId12" action="ppaction://hlinksldjump"/>
              </a:rPr>
              <a:t>17.</a:t>
            </a:r>
            <a:r>
              <a:rPr dirty="0" sz="1200" spc="114" b="0">
                <a:latin typeface="Microsoft YaHei Light"/>
                <a:cs typeface="Microsoft YaHei Light"/>
                <a:hlinkClick r:id="rId12" action="ppaction://hlinksldjump"/>
              </a:rPr>
              <a:t> 附录 </a:t>
            </a:r>
            <a:r>
              <a:rPr dirty="0" sz="1200" spc="-120" b="0">
                <a:latin typeface="Microsoft YaHei Light"/>
                <a:cs typeface="Microsoft YaHei Light"/>
                <a:hlinkClick r:id="rId12" action="ppaction://hlinksldjump"/>
              </a:rPr>
              <a:t>C：</a:t>
            </a:r>
            <a:r>
              <a:rPr dirty="0" sz="1200" spc="-35" b="0">
                <a:latin typeface="Microsoft YaHei Light"/>
                <a:cs typeface="Microsoft YaHei Light"/>
                <a:hlinkClick r:id="rId12" action="ppaction://hlinksldjump"/>
              </a:rPr>
              <a:t>版本历史 . . . . . . . . . . . . . . . . . . . . . . . . . . . . . . . . . . . . . . . </a:t>
            </a:r>
            <a:r>
              <a:rPr dirty="0" sz="1200" spc="-25" b="0">
                <a:latin typeface="Microsoft YaHei Light"/>
                <a:cs typeface="Microsoft YaHei Light"/>
                <a:hlinkClick r:id="rId12" action="ppaction://hlinksldjump"/>
              </a:rPr>
              <a:t>43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Microsoft YaHei Light"/>
              <a:cs typeface="Microsoft YaHei Light"/>
            </a:endParaRPr>
          </a:p>
          <a:p>
            <a:pPr marL="139700" marR="189230">
              <a:lnSpc>
                <a:spcPct val="127800"/>
              </a:lnSpc>
              <a:spcBef>
                <a:spcPts val="5"/>
              </a:spcBef>
            </a:pPr>
            <a:r>
              <a:rPr dirty="0" sz="1100" spc="560" b="0">
                <a:solidFill>
                  <a:srgbClr val="78350F"/>
                </a:solidFill>
                <a:latin typeface="Microsoft YaHei Light"/>
                <a:cs typeface="Microsoft YaHei Light"/>
              </a:rPr>
              <a:t>§</a:t>
            </a:r>
            <a:r>
              <a:rPr dirty="0" sz="1100" spc="90" b="0">
                <a:solidFill>
                  <a:srgbClr val="78350F"/>
                </a:solidFill>
                <a:latin typeface="Microsoft YaHei Light"/>
                <a:cs typeface="Microsoft YaHei Light"/>
              </a:rPr>
              <a:t> = 节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（section）</a:t>
            </a:r>
            <a:r>
              <a:rPr dirty="0" sz="1100" spc="15" b="0">
                <a:solidFill>
                  <a:srgbClr val="78350F"/>
                </a:solidFill>
                <a:latin typeface="Microsoft YaHei Light"/>
                <a:cs typeface="Microsoft YaHei Light"/>
              </a:rPr>
              <a:t>：正文章节引用，如 </a:t>
            </a:r>
            <a:r>
              <a:rPr dirty="0" sz="1100" spc="180" b="0">
                <a:solidFill>
                  <a:srgbClr val="78350F"/>
                </a:solidFill>
                <a:latin typeface="Microsoft YaHei Light"/>
                <a:cs typeface="Microsoft YaHei Light"/>
              </a:rPr>
              <a:t>§6.5</a:t>
            </a:r>
            <a:r>
              <a:rPr dirty="0" sz="1100" spc="95" b="0">
                <a:solidFill>
                  <a:srgbClr val="78350F"/>
                </a:solidFill>
                <a:latin typeface="Microsoft YaHei Light"/>
                <a:cs typeface="Microsoft YaHei Light"/>
              </a:rPr>
              <a:t> 即第 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6</a:t>
            </a:r>
            <a:r>
              <a:rPr dirty="0" sz="1100" spc="105" b="0">
                <a:solidFill>
                  <a:srgbClr val="78350F"/>
                </a:solidFill>
                <a:latin typeface="Microsoft YaHei Light"/>
                <a:cs typeface="Microsoft YaHei Light"/>
              </a:rPr>
              <a:t> 章第 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5</a:t>
            </a:r>
            <a:r>
              <a:rPr dirty="0" sz="1100" spc="65" b="0">
                <a:solidFill>
                  <a:srgbClr val="78350F"/>
                </a:solidFill>
                <a:latin typeface="Microsoft YaHei Light"/>
                <a:cs typeface="Microsoft YaHei Light"/>
              </a:rPr>
              <a:t> 节；附录 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B</a:t>
            </a:r>
            <a:r>
              <a:rPr dirty="0" sz="1100" spc="165" b="0">
                <a:solidFill>
                  <a:srgbClr val="78350F"/>
                </a:solidFill>
                <a:latin typeface="Microsoft YaHei Light"/>
                <a:cs typeface="Microsoft YaHei Light"/>
              </a:rPr>
              <a:t> §B.4</a:t>
            </a:r>
            <a:r>
              <a:rPr dirty="0" sz="1100" spc="35" b="0">
                <a:solidFill>
                  <a:srgbClr val="78350F"/>
                </a:solidFill>
                <a:latin typeface="Microsoft YaHei Light"/>
                <a:cs typeface="Microsoft YaHei Light"/>
              </a:rPr>
              <a:t> 即附</a:t>
            </a:r>
            <a:r>
              <a:rPr dirty="0" sz="1100" spc="90" b="0">
                <a:solidFill>
                  <a:srgbClr val="78350F"/>
                </a:solidFill>
                <a:latin typeface="Microsoft YaHei Light"/>
                <a:cs typeface="Microsoft YaHei Light"/>
              </a:rPr>
              <a:t>录 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B</a:t>
            </a:r>
            <a:r>
              <a:rPr dirty="0" sz="1100" spc="120" b="0">
                <a:solidFill>
                  <a:srgbClr val="78350F"/>
                </a:solidFill>
                <a:latin typeface="Microsoft YaHei Light"/>
                <a:cs typeface="Microsoft YaHei Light"/>
              </a:rPr>
              <a:t> 第 </a:t>
            </a:r>
            <a:r>
              <a:rPr dirty="0" sz="1100" b="0">
                <a:solidFill>
                  <a:srgbClr val="78350F"/>
                </a:solidFill>
                <a:latin typeface="Microsoft YaHei Light"/>
                <a:cs typeface="Microsoft YaHei Light"/>
              </a:rPr>
              <a:t>4</a:t>
            </a:r>
            <a:r>
              <a:rPr dirty="0" sz="1100" spc="60" b="0">
                <a:solidFill>
                  <a:srgbClr val="78350F"/>
                </a:solidFill>
                <a:latin typeface="Microsoft YaHei Light"/>
                <a:cs typeface="Microsoft YaHei Light"/>
              </a:rPr>
              <a:t> 节。</a:t>
            </a:r>
            <a:r>
              <a:rPr dirty="0" sz="1100" spc="180" b="0">
                <a:solidFill>
                  <a:srgbClr val="78350F"/>
                </a:solidFill>
                <a:latin typeface="Microsoft YaHei Light"/>
                <a:cs typeface="Microsoft YaHei Light"/>
              </a:rPr>
              <a:t>§0.2</a:t>
            </a:r>
            <a:r>
              <a:rPr dirty="0" sz="1100" spc="-5" b="0">
                <a:solidFill>
                  <a:srgbClr val="78350F"/>
                </a:solidFill>
                <a:latin typeface="Microsoft YaHei Light"/>
                <a:cs typeface="Microsoft YaHei Light"/>
              </a:rPr>
              <a:t> 仅指任务清单，非正文章节。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4600" y="792002"/>
            <a:ext cx="5785485" cy="427990"/>
            <a:chOff x="874600" y="792002"/>
            <a:chExt cx="5785485" cy="42799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4600" y="792002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87300" y="825935"/>
            <a:ext cx="1498600" cy="83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370" b="0">
                <a:solidFill>
                  <a:srgbClr val="1E3A8A"/>
                </a:solidFill>
                <a:latin typeface="Microsoft YaHei Light"/>
                <a:cs typeface="Microsoft YaHei Light"/>
              </a:rPr>
              <a:t>1.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基础约定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80" b="0">
                <a:solidFill>
                  <a:srgbClr val="1E40AF"/>
                </a:solidFill>
                <a:latin typeface="Microsoft YaHei Light"/>
                <a:cs typeface="Microsoft YaHei Light"/>
              </a:rPr>
              <a:t>1.1.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术语定义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185278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995250" y="2055608"/>
          <a:ext cx="5422900" cy="3078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2650"/>
                <a:gridCol w="4540250"/>
              </a:tblGrid>
              <a:tr h="229870">
                <a:tc>
                  <a:txBody>
                    <a:bodyPr/>
                    <a:lstStyle/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术语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含义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§（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节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号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章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节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引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用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符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号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；§6.5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 = 第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 章第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节。见目录后说明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5410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暗子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 marR="241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背面朝上、尚未翻开的棋子，按所在位置对应的中国象棋棋子规则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移动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明子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正面朝上、已翻开的棋子，按实际类型规则移动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5410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 marR="241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将暗子变为明子的操作。可通过移动触发，也可原地翻子（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消耗一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回合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先手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红方，行棋优先权，棋盘下方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后手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黑方，棋盘上方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回合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一方完成一次走子或翻子操作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3175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半步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一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的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一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次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走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（40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回合 = 双方共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80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个半步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87300" y="5397709"/>
            <a:ext cx="1225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1.2.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技术约定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98412" y="5844622"/>
          <a:ext cx="5763260" cy="3673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570"/>
                <a:gridCol w="2265045"/>
                <a:gridCol w="2365375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项目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约定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备注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传输协议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WebSocket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+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JSON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4945" marR="48577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课程公共接口；默认端口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60" b="0">
                          <a:latin typeface="Microsoft YaHei Light"/>
                          <a:cs typeface="Microsoft YaHei Light"/>
                        </a:rPr>
                        <a:t>8887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；见第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 章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扩展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 marR="67945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文本帧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msgType|len| payload\n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94945" marR="25717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本组保留；默认端口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8888；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见附录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B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54102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字符编码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94945" marR="33337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与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payload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均为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54102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行尾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LF（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\n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，0x0A）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94945" marR="18097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每条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消息以单个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换行符结尾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31369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310" b="0">
                          <a:latin typeface="Microsoft YaHei Light"/>
                          <a:cs typeface="Microsoft YaHei Light"/>
                        </a:rPr>
                        <a:t>WS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消息识别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messageType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字符串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每条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对象必含此字段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心跳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ping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/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pong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，建议 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10s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未实现心跳的客户端应被兼容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45656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超时阈值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64465" marR="187325">
                        <a:lnSpc>
                          <a:spcPts val="1839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65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秒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（60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秒思考 +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秒网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络裕量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服务器可配置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75"/>
                <a:gridCol w="1503680"/>
                <a:gridCol w="3091180"/>
              </a:tblGrid>
              <a:tr h="41148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时间戳单位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毫秒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884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System.currentTimeMillis()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918844">
                        <a:lnSpc>
                          <a:spcPts val="1035"/>
                        </a:lnSpc>
                        <a:spcBef>
                          <a:spcPts val="43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风格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时间戳权威方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服务器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918844" marR="182880">
                        <a:lnSpc>
                          <a:spcPts val="1839"/>
                        </a:lnSpc>
                        <a:spcBef>
                          <a:spcPts val="815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客户端时间戳仅供参考，超时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判定以服务器为准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03505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项目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82699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约定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78499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备注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4600" y="2589223"/>
            <a:ext cx="5785485" cy="427990"/>
            <a:chOff x="874600" y="2589223"/>
            <a:chExt cx="5785485" cy="427990"/>
          </a:xfrm>
        </p:grpSpPr>
        <p:sp>
          <p:nvSpPr>
            <p:cNvPr id="7" name="object 7" descr=""/>
            <p:cNvSpPr/>
            <p:nvPr/>
          </p:nvSpPr>
          <p:spPr>
            <a:xfrm>
              <a:off x="900000" y="2589223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74600" y="2589223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900000" y="3650001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87300" y="2623156"/>
            <a:ext cx="4673600" cy="1302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2.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坐标系统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2.1.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坐标定义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60" b="0">
                <a:latin typeface="Microsoft YaHei Light"/>
                <a:cs typeface="Microsoft YaHei Light"/>
              </a:rPr>
              <a:t>棋盘为 </a:t>
            </a:r>
            <a:r>
              <a:rPr dirty="0" sz="1200" b="0">
                <a:latin typeface="Microsoft YaHei Light"/>
                <a:cs typeface="Microsoft YaHei Light"/>
              </a:rPr>
              <a:t>10</a:t>
            </a:r>
            <a:r>
              <a:rPr dirty="0" sz="1200" spc="210" b="0">
                <a:latin typeface="Microsoft YaHei Light"/>
                <a:cs typeface="Microsoft YaHei Light"/>
              </a:rPr>
              <a:t> 行 × </a:t>
            </a:r>
            <a:r>
              <a:rPr dirty="0" sz="1200" b="0">
                <a:latin typeface="Microsoft YaHei Light"/>
                <a:cs typeface="Microsoft YaHei Light"/>
              </a:rPr>
              <a:t>9</a:t>
            </a:r>
            <a:r>
              <a:rPr dirty="0" sz="1200" spc="120" b="0">
                <a:latin typeface="Microsoft YaHei Light"/>
                <a:cs typeface="Microsoft YaHei Light"/>
              </a:rPr>
              <a:t> 列</a:t>
            </a:r>
            <a:r>
              <a:rPr dirty="0" sz="1200" b="0">
                <a:latin typeface="Microsoft YaHei Light"/>
                <a:cs typeface="Microsoft YaHei Light"/>
              </a:rPr>
              <a:t>，</a:t>
            </a:r>
            <a:r>
              <a:rPr dirty="0" sz="1200" b="0">
                <a:latin typeface="Microsoft YaHei Light"/>
                <a:cs typeface="Microsoft YaHei Light"/>
              </a:rPr>
              <a:t>坐</a:t>
            </a:r>
            <a:r>
              <a:rPr dirty="0" sz="1200" b="0">
                <a:latin typeface="Microsoft YaHei Light"/>
                <a:cs typeface="Microsoft YaHei Light"/>
              </a:rPr>
              <a:t>标</a:t>
            </a:r>
            <a:r>
              <a:rPr dirty="0" sz="1200" b="0">
                <a:latin typeface="Microsoft YaHei Light"/>
                <a:cs typeface="Microsoft YaHei Light"/>
              </a:rPr>
              <a:t>采</a:t>
            </a:r>
            <a:r>
              <a:rPr dirty="0" sz="1200" b="0">
                <a:latin typeface="Microsoft YaHei Light"/>
                <a:cs typeface="Microsoft YaHei Light"/>
              </a:rPr>
              <a:t>用</a:t>
            </a:r>
            <a:r>
              <a:rPr dirty="0" sz="1200" b="0">
                <a:latin typeface="Microsoft YaHei Light"/>
                <a:cs typeface="Microsoft YaHei Light"/>
              </a:rPr>
              <a:t>"</a:t>
            </a:r>
            <a:r>
              <a:rPr dirty="0" sz="1200" b="0">
                <a:latin typeface="Microsoft YaHei Light"/>
                <a:cs typeface="Microsoft YaHei Light"/>
              </a:rPr>
              <a:t>字</a:t>
            </a:r>
            <a:r>
              <a:rPr dirty="0" sz="1200" b="0">
                <a:latin typeface="Microsoft YaHei Light"/>
                <a:cs typeface="Microsoft YaHei Light"/>
              </a:rPr>
              <a:t>母</a:t>
            </a:r>
            <a:r>
              <a:rPr dirty="0" sz="1200" b="0">
                <a:latin typeface="Microsoft YaHei Light"/>
                <a:cs typeface="Microsoft YaHei Light"/>
              </a:rPr>
              <a:t>列</a:t>
            </a:r>
            <a:r>
              <a:rPr dirty="0" sz="1200" spc="105" b="0">
                <a:latin typeface="Microsoft YaHei Light"/>
                <a:cs typeface="Microsoft YaHei Light"/>
              </a:rPr>
              <a:t> + 数</a:t>
            </a:r>
            <a:r>
              <a:rPr dirty="0" sz="1200" b="0">
                <a:latin typeface="Microsoft YaHei Light"/>
                <a:cs typeface="Microsoft YaHei Light"/>
              </a:rPr>
              <a:t>字</a:t>
            </a:r>
            <a:r>
              <a:rPr dirty="0" sz="1200" b="0">
                <a:latin typeface="Microsoft YaHei Light"/>
                <a:cs typeface="Microsoft YaHei Light"/>
              </a:rPr>
              <a:t>行</a:t>
            </a:r>
            <a:r>
              <a:rPr dirty="0" sz="1200" b="0">
                <a:latin typeface="Microsoft YaHei Light"/>
                <a:cs typeface="Microsoft YaHei Light"/>
              </a:rPr>
              <a:t>"</a:t>
            </a:r>
            <a:r>
              <a:rPr dirty="0" sz="1200" b="0">
                <a:latin typeface="Microsoft YaHei Light"/>
                <a:cs typeface="Microsoft YaHei Light"/>
              </a:rPr>
              <a:t>的</a:t>
            </a:r>
            <a:r>
              <a:rPr dirty="0" sz="1200" b="0">
                <a:latin typeface="Microsoft YaHei Light"/>
                <a:cs typeface="Microsoft YaHei Light"/>
              </a:rPr>
              <a:t>字</a:t>
            </a:r>
            <a:r>
              <a:rPr dirty="0" sz="1200" b="0">
                <a:latin typeface="Microsoft YaHei Light"/>
                <a:cs typeface="Microsoft YaHei Light"/>
              </a:rPr>
              <a:t>符</a:t>
            </a:r>
            <a:r>
              <a:rPr dirty="0" sz="1200" b="0">
                <a:latin typeface="Microsoft YaHei Light"/>
                <a:cs typeface="Microsoft YaHei Light"/>
              </a:rPr>
              <a:t>串</a:t>
            </a:r>
            <a:r>
              <a:rPr dirty="0" sz="1200" b="0">
                <a:latin typeface="Microsoft YaHei Light"/>
                <a:cs typeface="Microsoft YaHei Light"/>
              </a:rPr>
              <a:t>表</a:t>
            </a:r>
            <a:r>
              <a:rPr dirty="0" sz="1200" b="0">
                <a:latin typeface="Microsoft YaHei Light"/>
                <a:cs typeface="Microsoft YaHei Light"/>
              </a:rPr>
              <a:t>示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</a:t>
            </a: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995250" y="4164067"/>
          <a:ext cx="4223385" cy="779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/>
                <a:gridCol w="974725"/>
                <a:gridCol w="2784475"/>
              </a:tblGrid>
              <a:tr h="229870">
                <a:tc>
                  <a:txBody>
                    <a:bodyPr/>
                    <a:lstStyle/>
                    <a:p>
                      <a:pPr marL="3175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维度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范围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292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3136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135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200" spc="13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35">
                          <a:latin typeface="Consolas"/>
                          <a:cs typeface="Consolas"/>
                        </a:rPr>
                        <a:t>9</a:t>
                      </a:r>
                      <a:r>
                        <a:rPr dirty="0" sz="1200" spc="135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共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542925" algn="l"/>
                        </a:tabLst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行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	从上到下依次为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9,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8,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320" b="0">
                          <a:latin typeface="Microsoft YaHei Light"/>
                          <a:cs typeface="Microsoft YaHei Light"/>
                        </a:rPr>
                        <a:t>…,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1,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列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050" spc="135"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200" spc="13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35">
                          <a:latin typeface="Consolas"/>
                          <a:cs typeface="Consolas"/>
                        </a:rPr>
                        <a:t>i</a:t>
                      </a:r>
                      <a:r>
                        <a:rPr dirty="0" sz="1200" spc="135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共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70"/>
                        </a:lnSpc>
                        <a:spcBef>
                          <a:spcPts val="390"/>
                        </a:spcBef>
                        <a:tabLst>
                          <a:tab pos="542925" algn="l"/>
                        </a:tabLst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列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	从左到右依次为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a,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b,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320" b="0">
                          <a:latin typeface="Microsoft YaHei Light"/>
                          <a:cs typeface="Microsoft YaHei Light"/>
                        </a:rPr>
                        <a:t>…,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280" b="0">
                          <a:latin typeface="Microsoft YaHei Light"/>
                          <a:cs typeface="Microsoft YaHei Light"/>
                        </a:rPr>
                        <a:t>i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618094" y="5216550"/>
          <a:ext cx="4324350" cy="3380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07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f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h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i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將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887300" y="8620799"/>
            <a:ext cx="5793740" cy="11214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265"/>
              </a:spcBef>
            </a:pPr>
            <a:r>
              <a:rPr dirty="0" sz="1100" b="0">
                <a:latin typeface="Microsoft YaHei Light"/>
                <a:cs typeface="Microsoft YaHei Light"/>
              </a:rPr>
              <a:t>Table</a:t>
            </a:r>
            <a:r>
              <a:rPr dirty="0" sz="1100" spc="160" b="0">
                <a:latin typeface="Microsoft YaHei Light"/>
                <a:cs typeface="Microsoft YaHei Light"/>
              </a:rPr>
              <a:t> </a:t>
            </a:r>
            <a:r>
              <a:rPr dirty="0" sz="1100" spc="204" b="0">
                <a:latin typeface="Microsoft YaHei Light"/>
                <a:cs typeface="Microsoft YaHei Light"/>
              </a:rPr>
              <a:t>1:</a:t>
            </a:r>
            <a:r>
              <a:rPr dirty="0" sz="1100" spc="15" b="0">
                <a:latin typeface="Microsoft YaHei Light"/>
                <a:cs typeface="Microsoft YaHei Light"/>
              </a:rPr>
              <a:t> 棋盘坐标表格</a:t>
            </a:r>
            <a:r>
              <a:rPr dirty="0" sz="1100" b="0">
                <a:latin typeface="Microsoft YaHei Light"/>
                <a:cs typeface="Microsoft YaHei Light"/>
              </a:rPr>
              <a:t>（</a:t>
            </a:r>
            <a:r>
              <a:rPr dirty="0" sz="1100" spc="80" b="0">
                <a:latin typeface="Microsoft YaHei Light"/>
                <a:cs typeface="Microsoft YaHei Light"/>
              </a:rPr>
              <a:t>行 </a:t>
            </a:r>
            <a:r>
              <a:rPr dirty="0" sz="1100" b="0">
                <a:latin typeface="Microsoft YaHei Light"/>
                <a:cs typeface="Microsoft YaHei Light"/>
              </a:rPr>
              <a:t>0</a:t>
            </a:r>
            <a:r>
              <a:rPr dirty="0" sz="1100" spc="30" b="0">
                <a:latin typeface="Microsoft YaHei Light"/>
                <a:cs typeface="Microsoft YaHei Light"/>
              </a:rPr>
              <a:t> = 红方底线，行 </a:t>
            </a:r>
            <a:r>
              <a:rPr dirty="0" sz="1100" b="0">
                <a:latin typeface="Microsoft YaHei Light"/>
                <a:cs typeface="Microsoft YaHei Light"/>
              </a:rPr>
              <a:t>9 = 黑方底线，粗线分隔楚河汉界</a:t>
            </a:r>
            <a:r>
              <a:rPr dirty="0" sz="1100" spc="-50" b="0"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重要约定：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先手（红方）始终在下方（</a:t>
            </a:r>
            <a:r>
              <a:rPr dirty="0" sz="1200" spc="125" b="0">
                <a:latin typeface="Microsoft YaHei Light"/>
                <a:cs typeface="Microsoft YaHei Light"/>
              </a:rPr>
              <a:t>行 </a:t>
            </a:r>
            <a:r>
              <a:rPr dirty="0" sz="1200" spc="70" b="0">
                <a:latin typeface="Microsoft YaHei Light"/>
                <a:cs typeface="Microsoft YaHei Light"/>
              </a:rPr>
              <a:t>0–4</a:t>
            </a:r>
            <a:r>
              <a:rPr dirty="0" sz="1200" spc="-530" b="0">
                <a:latin typeface="Microsoft YaHei Light"/>
                <a:cs typeface="Microsoft YaHei Light"/>
              </a:rPr>
              <a:t>）</a:t>
            </a:r>
            <a:r>
              <a:rPr dirty="0" sz="1200" spc="20" b="0">
                <a:latin typeface="Microsoft YaHei Light"/>
                <a:cs typeface="Microsoft YaHei Light"/>
              </a:rPr>
              <a:t>，后手</a:t>
            </a:r>
            <a:r>
              <a:rPr dirty="0" sz="1200" b="0">
                <a:latin typeface="Microsoft YaHei Light"/>
                <a:cs typeface="Microsoft YaHei Light"/>
              </a:rPr>
              <a:t>（黑方）在上方（</a:t>
            </a:r>
            <a:r>
              <a:rPr dirty="0" sz="1200" spc="125" b="0">
                <a:latin typeface="Microsoft YaHei Light"/>
                <a:cs typeface="Microsoft YaHei Light"/>
              </a:rPr>
              <a:t>行 </a:t>
            </a:r>
            <a:r>
              <a:rPr dirty="0" sz="1200" spc="80" b="0">
                <a:latin typeface="Microsoft YaHei Light"/>
                <a:cs typeface="Microsoft YaHei Light"/>
              </a:rPr>
              <a:t>5–9）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65" b="0">
                <a:latin typeface="Microsoft YaHei Light"/>
                <a:cs typeface="Microsoft YaHei Light"/>
              </a:rPr>
              <a:t>客户端 </a:t>
            </a:r>
            <a:r>
              <a:rPr dirty="0" sz="1200" b="0">
                <a:latin typeface="Microsoft YaHei Light"/>
                <a:cs typeface="Microsoft YaHei Light"/>
              </a:rPr>
              <a:t>UI</a:t>
            </a:r>
            <a:r>
              <a:rPr dirty="0" sz="1200" spc="-5" b="0">
                <a:latin typeface="Microsoft YaHei Light"/>
                <a:cs typeface="Microsoft YaHei Light"/>
              </a:rPr>
              <a:t> 可将己方置于下方显示，但逻辑坐标必须基于上图坐标系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坐标字符串中行号直接使用显示行号，不翻转（</a:t>
            </a:r>
            <a:r>
              <a:rPr dirty="0" sz="1200" spc="25" b="0">
                <a:latin typeface="Microsoft YaHei Light"/>
                <a:cs typeface="Microsoft YaHei Light"/>
              </a:rPr>
              <a:t>如红方帅 = </a:t>
            </a:r>
            <a:r>
              <a:rPr dirty="0" sz="1050">
                <a:latin typeface="Consolas"/>
                <a:cs typeface="Consolas"/>
              </a:rPr>
              <a:t>"e0"</a:t>
            </a:r>
            <a:r>
              <a:rPr dirty="0" sz="1200" spc="25" b="0">
                <a:latin typeface="Microsoft YaHei Light"/>
                <a:cs typeface="Microsoft YaHei Light"/>
              </a:rPr>
              <a:t>，黑方将 = </a:t>
            </a:r>
            <a:r>
              <a:rPr dirty="0" sz="1050" spc="-10">
                <a:latin typeface="Consolas"/>
                <a:cs typeface="Consolas"/>
              </a:rPr>
              <a:t>"e9"</a:t>
            </a:r>
            <a:r>
              <a:rPr dirty="0" sz="1200" spc="-1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96825" y="1497196"/>
            <a:ext cx="5766435" cy="2726690"/>
            <a:chOff x="896825" y="1497196"/>
            <a:chExt cx="5766435" cy="2726690"/>
          </a:xfrm>
        </p:grpSpPr>
        <p:sp>
          <p:nvSpPr>
            <p:cNvPr id="4" name="object 4" descr=""/>
            <p:cNvSpPr/>
            <p:nvPr/>
          </p:nvSpPr>
          <p:spPr>
            <a:xfrm>
              <a:off x="900000" y="1500371"/>
              <a:ext cx="5760085" cy="2720340"/>
            </a:xfrm>
            <a:custGeom>
              <a:avLst/>
              <a:gdLst/>
              <a:ahLst/>
              <a:cxnLst/>
              <a:rect l="l" t="t" r="r" b="b"/>
              <a:pathLst>
                <a:path w="5760084" h="2720340">
                  <a:moveTo>
                    <a:pt x="5725074" y="2719711"/>
                  </a:moveTo>
                  <a:lnTo>
                    <a:pt x="34925" y="2719711"/>
                  </a:lnTo>
                  <a:lnTo>
                    <a:pt x="21330" y="2716967"/>
                  </a:lnTo>
                  <a:lnTo>
                    <a:pt x="10229" y="2709482"/>
                  </a:lnTo>
                  <a:lnTo>
                    <a:pt x="2744" y="2698381"/>
                  </a:lnTo>
                  <a:lnTo>
                    <a:pt x="0" y="268478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684786"/>
                  </a:lnTo>
                  <a:lnTo>
                    <a:pt x="5757255" y="2698381"/>
                  </a:lnTo>
                  <a:lnTo>
                    <a:pt x="5749770" y="2709482"/>
                  </a:lnTo>
                  <a:lnTo>
                    <a:pt x="5738669" y="2716967"/>
                  </a:lnTo>
                  <a:lnTo>
                    <a:pt x="5725074" y="271971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0000" y="1500371"/>
              <a:ext cx="5760085" cy="2720340"/>
            </a:xfrm>
            <a:custGeom>
              <a:avLst/>
              <a:gdLst/>
              <a:ahLst/>
              <a:cxnLst/>
              <a:rect l="l" t="t" r="r" b="b"/>
              <a:pathLst>
                <a:path w="5760084" h="2720340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684786"/>
                  </a:lnTo>
                  <a:lnTo>
                    <a:pt x="5757255" y="2698381"/>
                  </a:lnTo>
                  <a:lnTo>
                    <a:pt x="5749770" y="2709482"/>
                  </a:lnTo>
                  <a:lnTo>
                    <a:pt x="5738669" y="2716967"/>
                  </a:lnTo>
                  <a:lnTo>
                    <a:pt x="5725074" y="2719711"/>
                  </a:lnTo>
                  <a:lnTo>
                    <a:pt x="34925" y="2719711"/>
                  </a:lnTo>
                  <a:lnTo>
                    <a:pt x="21330" y="2716967"/>
                  </a:lnTo>
                  <a:lnTo>
                    <a:pt x="10229" y="2709482"/>
                  </a:lnTo>
                  <a:lnTo>
                    <a:pt x="2744" y="2698381"/>
                  </a:lnTo>
                  <a:lnTo>
                    <a:pt x="0" y="268478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49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87300" y="719027"/>
            <a:ext cx="4785360" cy="341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2.2.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坐标转换公式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0">
                <a:latin typeface="Microsoft YaHei Light"/>
                <a:cs typeface="Microsoft YaHei Light"/>
              </a:rPr>
              <a:t>坐标字符串与内部棋盘数组索引的转换，本组提供参考：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5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50">
                <a:solidFill>
                  <a:srgbClr val="74747C"/>
                </a:solidFill>
                <a:latin typeface="Microsoft JhengHei"/>
                <a:cs typeface="Microsoft JhengHei"/>
              </a:rPr>
              <a:t>坐标字符串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→ </a:t>
            </a:r>
            <a:r>
              <a:rPr dirty="0" sz="1050" spc="-10">
                <a:solidFill>
                  <a:srgbClr val="74747C"/>
                </a:solidFill>
                <a:latin typeface="Microsoft JhengHei"/>
                <a:cs typeface="Microsoft JhengHei"/>
              </a:rPr>
              <a:t>内部数组索引</a:t>
            </a:r>
            <a:endParaRPr sz="1050">
              <a:latin typeface="Microsoft JhengHei"/>
              <a:cs typeface="Microsoft JhengHei"/>
            </a:endParaRPr>
          </a:p>
          <a:p>
            <a:pPr marL="139700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"b3" → row=6, col=1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（</a:t>
            </a:r>
            <a:r>
              <a:rPr dirty="0" sz="1050" spc="100">
                <a:solidFill>
                  <a:srgbClr val="74747C"/>
                </a:solidFill>
                <a:latin typeface="Microsoft JhengHei"/>
                <a:cs typeface="Microsoft JhengHei"/>
              </a:rPr>
              <a:t>数组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row 0 =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棋盘顶行</a:t>
            </a:r>
            <a:r>
              <a:rPr dirty="0" sz="1050" spc="-50">
                <a:solidFill>
                  <a:srgbClr val="74747C"/>
                </a:solidFill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  <a:p>
            <a:pPr marL="432434" marR="1339215" indent="-293370">
              <a:lnSpc>
                <a:spcPct val="107300"/>
              </a:lnSpc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public static int[]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fromCoord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</a:t>
            </a:r>
            <a:r>
              <a:rPr dirty="0" sz="1050">
                <a:latin typeface="Consolas"/>
                <a:cs typeface="Consolas"/>
              </a:rPr>
              <a:t>coord) </a:t>
            </a:r>
            <a:r>
              <a:rPr dirty="0" sz="1050" spc="-50">
                <a:latin typeface="Consolas"/>
                <a:cs typeface="Consolas"/>
              </a:rPr>
              <a:t>{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 new </a:t>
            </a:r>
            <a:r>
              <a:rPr dirty="0" sz="1050" spc="-10">
                <a:solidFill>
                  <a:srgbClr val="D73948"/>
                </a:solidFill>
                <a:latin typeface="Consolas"/>
                <a:cs typeface="Consolas"/>
              </a:rPr>
              <a:t>int</a:t>
            </a:r>
            <a:r>
              <a:rPr dirty="0" sz="1050" spc="-10">
                <a:latin typeface="Consolas"/>
                <a:cs typeface="Consolas"/>
              </a:rPr>
              <a:t>[]{</a:t>
            </a:r>
            <a:endParaRPr sz="1050">
              <a:latin typeface="Consolas"/>
              <a:cs typeface="Consolas"/>
            </a:endParaRPr>
          </a:p>
          <a:p>
            <a:pPr marL="725805">
              <a:lnSpc>
                <a:spcPct val="100000"/>
              </a:lnSpc>
              <a:spcBef>
                <a:spcPts val="325"/>
              </a:spcBef>
              <a:tabLst>
                <a:tab pos="2998470" algn="l"/>
              </a:tabLst>
            </a:pPr>
            <a:r>
              <a:rPr dirty="0" sz="1050">
                <a:solidFill>
                  <a:srgbClr val="B60157"/>
                </a:solidFill>
                <a:latin typeface="Consolas"/>
                <a:cs typeface="Consolas"/>
              </a:rPr>
              <a:t>9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- </a:t>
            </a:r>
            <a:r>
              <a:rPr dirty="0" sz="1050">
                <a:latin typeface="Consolas"/>
                <a:cs typeface="Consolas"/>
              </a:rPr>
              <a:t>(coord.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charAt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B60157"/>
                </a:solidFill>
                <a:latin typeface="Consolas"/>
                <a:cs typeface="Consolas"/>
              </a:rPr>
              <a:t>1</a:t>
            </a:r>
            <a:r>
              <a:rPr dirty="0" sz="1050">
                <a:latin typeface="Consolas"/>
                <a:cs typeface="Consolas"/>
              </a:rPr>
              <a:t>)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- </a:t>
            </a:r>
            <a:r>
              <a:rPr dirty="0" sz="1050" spc="-10">
                <a:solidFill>
                  <a:srgbClr val="198810"/>
                </a:solidFill>
                <a:latin typeface="Consolas"/>
                <a:cs typeface="Consolas"/>
              </a:rPr>
              <a:t>'0'</a:t>
            </a:r>
            <a:r>
              <a:rPr dirty="0" sz="1050" spc="-10">
                <a:latin typeface="Consolas"/>
                <a:cs typeface="Consolas"/>
              </a:rPr>
              <a:t>),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40">
                <a:solidFill>
                  <a:srgbClr val="74747C"/>
                </a:solidFill>
                <a:latin typeface="Microsoft JhengHei"/>
                <a:cs typeface="Microsoft JhengHei"/>
              </a:rPr>
              <a:t>行：显示行号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→ </a:t>
            </a:r>
            <a:r>
              <a:rPr dirty="0" sz="1050" spc="-15">
                <a:solidFill>
                  <a:srgbClr val="74747C"/>
                </a:solidFill>
                <a:latin typeface="Microsoft JhengHei"/>
                <a:cs typeface="Microsoft JhengHei"/>
              </a:rPr>
              <a:t>数组索引</a:t>
            </a:r>
            <a:endParaRPr sz="1050">
              <a:latin typeface="Microsoft JhengHei"/>
              <a:cs typeface="Microsoft JhengHei"/>
            </a:endParaRPr>
          </a:p>
          <a:p>
            <a:pPr marL="725805">
              <a:lnSpc>
                <a:spcPct val="100000"/>
              </a:lnSpc>
              <a:spcBef>
                <a:spcPts val="325"/>
              </a:spcBef>
              <a:tabLst>
                <a:tab pos="3072130" algn="l"/>
              </a:tabLst>
            </a:pPr>
            <a:r>
              <a:rPr dirty="0" sz="1050">
                <a:latin typeface="Consolas"/>
                <a:cs typeface="Consolas"/>
              </a:rPr>
              <a:t>coord.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charAt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B60157"/>
                </a:solidFill>
                <a:latin typeface="Consolas"/>
                <a:cs typeface="Consolas"/>
              </a:rPr>
              <a:t>0</a:t>
            </a:r>
            <a:r>
              <a:rPr dirty="0" sz="1050">
                <a:latin typeface="Consolas"/>
                <a:cs typeface="Consolas"/>
              </a:rPr>
              <a:t>)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- </a:t>
            </a:r>
            <a:r>
              <a:rPr dirty="0" sz="1050" spc="-25">
                <a:solidFill>
                  <a:srgbClr val="198810"/>
                </a:solidFill>
                <a:latin typeface="Consolas"/>
                <a:cs typeface="Consolas"/>
              </a:rPr>
              <a:t>'a'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列：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'a' → </a:t>
            </a:r>
            <a:r>
              <a:rPr dirty="0" sz="1050" spc="-50">
                <a:solidFill>
                  <a:srgbClr val="74747C"/>
                </a:solidFill>
                <a:latin typeface="Consolas"/>
                <a:cs typeface="Consolas"/>
              </a:rPr>
              <a:t>0</a:t>
            </a:r>
            <a:endParaRPr sz="1050">
              <a:latin typeface="Consolas"/>
              <a:cs typeface="Consolas"/>
            </a:endParaRPr>
          </a:p>
          <a:p>
            <a:pPr marL="432434">
              <a:lnSpc>
                <a:spcPct val="100000"/>
              </a:lnSpc>
              <a:spcBef>
                <a:spcPts val="95"/>
              </a:spcBef>
            </a:pPr>
            <a:r>
              <a:rPr dirty="0" sz="1050" spc="-25">
                <a:latin typeface="Consolas"/>
                <a:cs typeface="Consolas"/>
              </a:rPr>
              <a:t>};</a:t>
            </a:r>
            <a:endParaRPr sz="1050">
              <a:latin typeface="Consolas"/>
              <a:cs typeface="Consolas"/>
            </a:endParaRPr>
          </a:p>
          <a:p>
            <a:pPr marL="139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39700">
              <a:lnSpc>
                <a:spcPct val="100000"/>
              </a:lnSpc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40">
                <a:solidFill>
                  <a:srgbClr val="74747C"/>
                </a:solidFill>
                <a:latin typeface="Microsoft JhengHei"/>
                <a:cs typeface="Microsoft JhengHei"/>
              </a:rPr>
              <a:t>内部数组索引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→ </a:t>
            </a:r>
            <a:r>
              <a:rPr dirty="0" sz="1050" spc="-10">
                <a:solidFill>
                  <a:srgbClr val="74747C"/>
                </a:solidFill>
                <a:latin typeface="Microsoft JhengHei"/>
                <a:cs typeface="Microsoft JhengHei"/>
              </a:rPr>
              <a:t>坐标字符串</a:t>
            </a:r>
            <a:endParaRPr sz="1050">
              <a:latin typeface="Microsoft JhengHei"/>
              <a:cs typeface="Microsoft JhengHei"/>
            </a:endParaRPr>
          </a:p>
          <a:p>
            <a:pPr marL="139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row=6, col=1 → </a:t>
            </a:r>
            <a:r>
              <a:rPr dirty="0" sz="1050" spc="-20">
                <a:solidFill>
                  <a:srgbClr val="74747C"/>
                </a:solidFill>
                <a:latin typeface="Consolas"/>
                <a:cs typeface="Consolas"/>
              </a:rPr>
              <a:t>"b3"</a:t>
            </a:r>
            <a:endParaRPr sz="1050">
              <a:latin typeface="Consolas"/>
              <a:cs typeface="Consolas"/>
            </a:endParaRPr>
          </a:p>
          <a:p>
            <a:pPr marL="432434" marR="1118235" indent="-293370">
              <a:lnSpc>
                <a:spcPct val="107300"/>
              </a:lnSpc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public static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toCoord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int </a:t>
            </a:r>
            <a:r>
              <a:rPr dirty="0" sz="1050">
                <a:latin typeface="Consolas"/>
                <a:cs typeface="Consolas"/>
              </a:rPr>
              <a:t>row,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int </a:t>
            </a:r>
            <a:r>
              <a:rPr dirty="0" sz="1050">
                <a:latin typeface="Consolas"/>
                <a:cs typeface="Consolas"/>
              </a:rPr>
              <a:t>col) </a:t>
            </a:r>
            <a:r>
              <a:rPr dirty="0" sz="1050" spc="-50">
                <a:latin typeface="Consolas"/>
                <a:cs typeface="Consolas"/>
              </a:rPr>
              <a:t>{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 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""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+ 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char</a:t>
            </a:r>
            <a:r>
              <a:rPr dirty="0" sz="1050">
                <a:latin typeface="Consolas"/>
                <a:cs typeface="Consolas"/>
              </a:rPr>
              <a:t>)(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'a'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+ </a:t>
            </a:r>
            <a:r>
              <a:rPr dirty="0" sz="1050">
                <a:latin typeface="Consolas"/>
                <a:cs typeface="Consolas"/>
              </a:rPr>
              <a:t>col)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+ 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B60157"/>
                </a:solidFill>
                <a:latin typeface="Consolas"/>
                <a:cs typeface="Consolas"/>
              </a:rPr>
              <a:t>9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- </a:t>
            </a:r>
            <a:r>
              <a:rPr dirty="0" sz="1050" spc="-10">
                <a:latin typeface="Consolas"/>
                <a:cs typeface="Consolas"/>
              </a:rPr>
              <a:t>row);</a:t>
            </a:r>
            <a:endParaRPr sz="1050">
              <a:latin typeface="Consolas"/>
              <a:cs typeface="Consolas"/>
            </a:endParaRPr>
          </a:p>
          <a:p>
            <a:pPr marL="139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74600" y="4646803"/>
            <a:ext cx="5785485" cy="427990"/>
            <a:chOff x="874600" y="4646803"/>
            <a:chExt cx="5785485" cy="427990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4646803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74600" y="4646803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14300" y="4680735"/>
            <a:ext cx="1879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3.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棋子类型编码</a:t>
            </a:r>
            <a:endParaRPr sz="2000">
              <a:latin typeface="Microsoft YaHei Light"/>
              <a:cs typeface="Microsoft YaHei Light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96825" y="5362606"/>
          <a:ext cx="5695950" cy="230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863600"/>
                <a:gridCol w="863600"/>
                <a:gridCol w="863600"/>
                <a:gridCol w="2543175"/>
              </a:tblGrid>
              <a:tr h="23241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红方名称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黑方名称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基准价值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备注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10000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开局即明，双方各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1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600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双方各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270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蹩马腿规则同象棋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285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翻山吃子规则同象棋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30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过河后可横移，双方各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120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明子后可离宫、可过河，斜走一格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algn="ctr" marL="254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120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明子后可过河，塞象眼规则不变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2" name="object 12" descr=""/>
          <p:cNvSpPr/>
          <p:nvPr/>
        </p:nvSpPr>
        <p:spPr>
          <a:xfrm>
            <a:off x="900000" y="858321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87300" y="7784972"/>
            <a:ext cx="5726430" cy="1307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25" b="0">
                <a:latin typeface="Microsoft YaHei Light"/>
                <a:cs typeface="Microsoft YaHei Light"/>
              </a:rPr>
              <a:t>注意：基准价值仅作为 </a:t>
            </a:r>
            <a:r>
              <a:rPr dirty="0" sz="1200" b="0">
                <a:latin typeface="Microsoft YaHei Light"/>
                <a:cs typeface="Microsoft YaHei Light"/>
              </a:rPr>
              <a:t>AI</a:t>
            </a:r>
            <a:r>
              <a:rPr dirty="0" sz="1200" spc="-5" b="0">
                <a:latin typeface="Microsoft YaHei Light"/>
                <a:cs typeface="Microsoft YaHei Light"/>
              </a:rPr>
              <a:t> 评估函数的参考，组间互操作不依赖此值。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3.1.</a:t>
            </a:r>
            <a:r>
              <a:rPr dirty="0" sz="1500" spc="65" b="0">
                <a:solidFill>
                  <a:srgbClr val="1E40AF"/>
                </a:solidFill>
                <a:latin typeface="Microsoft YaHei Light"/>
                <a:cs typeface="Microsoft YaHei Light"/>
              </a:rPr>
              <a:t> 老师 </a:t>
            </a:r>
            <a:r>
              <a:rPr dirty="0" sz="1500" spc="-130" b="0">
                <a:solidFill>
                  <a:srgbClr val="1E40AF"/>
                </a:solidFill>
                <a:latin typeface="Microsoft YaHei Light"/>
                <a:cs typeface="Microsoft YaHei Light"/>
              </a:rPr>
              <a:t>JSON</a:t>
            </a:r>
            <a:r>
              <a:rPr dirty="0" sz="1500" spc="28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piece</a:t>
            </a:r>
            <a:r>
              <a:rPr dirty="0" sz="1500" spc="200" b="0">
                <a:solidFill>
                  <a:srgbClr val="1E40AF"/>
                </a:solidFill>
                <a:latin typeface="Microsoft YaHei Light"/>
                <a:cs typeface="Microsoft YaHei Light"/>
              </a:rPr>
              <a:t> 枚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举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映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射</a:t>
            </a:r>
            <a:r>
              <a:rPr dirty="0" sz="1500" spc="65" b="0">
                <a:solidFill>
                  <a:srgbClr val="1E40AF"/>
                </a:solidFill>
                <a:latin typeface="Microsoft YaHei Light"/>
                <a:cs typeface="Microsoft YaHei Light"/>
              </a:rPr>
              <a:t>（§3.2）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12700" marR="5080">
              <a:lnSpc>
                <a:spcPct val="127800"/>
              </a:lnSpc>
            </a:pPr>
            <a:r>
              <a:rPr dirty="0" sz="1200" spc="40" b="0">
                <a:latin typeface="Microsoft YaHei Light"/>
                <a:cs typeface="Microsoft YaHei Light"/>
              </a:rPr>
              <a:t>老师文档 </a:t>
            </a:r>
            <a:r>
              <a:rPr dirty="0" sz="1050">
                <a:latin typeface="Consolas"/>
                <a:cs typeface="Consolas"/>
              </a:rPr>
              <a:t>piece</a:t>
            </a:r>
            <a:r>
              <a:rPr dirty="0" sz="1050" spc="-1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枚举首字母大写</a:t>
            </a:r>
            <a:r>
              <a:rPr dirty="0" sz="1200" spc="-10" b="0">
                <a:latin typeface="Microsoft YaHei Light"/>
                <a:cs typeface="Microsoft YaHei Light"/>
              </a:rPr>
              <a:t>（Rook/Knight/…</a:t>
            </a:r>
            <a:r>
              <a:rPr dirty="0" sz="1200" spc="-610" b="0">
                <a:latin typeface="Microsoft YaHei Light"/>
                <a:cs typeface="Microsoft YaHei Light"/>
              </a:rPr>
              <a:t>）</a:t>
            </a:r>
            <a:r>
              <a:rPr dirty="0" sz="1200" spc="-10" b="0">
                <a:latin typeface="Microsoft YaHei Light"/>
                <a:cs typeface="Microsoft YaHei Light"/>
              </a:rPr>
              <a:t>，JSON</a:t>
            </a:r>
            <a:r>
              <a:rPr dirty="0" sz="1200" spc="-5" b="0">
                <a:latin typeface="Microsoft YaHei Light"/>
                <a:cs typeface="Microsoft YaHei Light"/>
              </a:rPr>
              <a:t> 示例使用全小写。本组统</a:t>
            </a:r>
            <a:r>
              <a:rPr dirty="0" sz="1200" spc="40" b="0">
                <a:latin typeface="Microsoft YaHei Light"/>
                <a:cs typeface="Microsoft YaHei Light"/>
              </a:rPr>
              <a:t>一 全小写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050">
                <a:latin typeface="Consolas"/>
                <a:cs typeface="Consolas"/>
              </a:rPr>
              <a:t>PieceJsonMapper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" b="0">
                <a:latin typeface="Microsoft YaHei Light"/>
                <a:cs typeface="Microsoft YaHei Light"/>
              </a:rPr>
              <a:t>，组间互操作以联调为准。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</a:t>
            </a: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896825" y="9223004"/>
          <a:ext cx="4425950" cy="459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75"/>
                <a:gridCol w="711200"/>
                <a:gridCol w="1016000"/>
                <a:gridCol w="558800"/>
                <a:gridCol w="558800"/>
                <a:gridCol w="714375"/>
              </a:tblGrid>
              <a:tr h="23241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内部编码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中文名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piece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红方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黑方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king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4425950" cy="1763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425"/>
                <a:gridCol w="806450"/>
                <a:gridCol w="930910"/>
                <a:gridCol w="681355"/>
                <a:gridCol w="520065"/>
                <a:gridCol w="751839"/>
              </a:tblGrid>
              <a:tr h="304165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rook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knight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cannon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pawn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guard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algn="r" marR="25336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bishop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347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5665" algn="l"/>
                <a:tab pos="1586865" algn="l"/>
                <a:tab pos="2602865" algn="l"/>
                <a:tab pos="3161665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内部编</a:t>
            </a:r>
            <a:r>
              <a:rPr dirty="0" sz="1200" spc="-50" b="0">
                <a:latin typeface="Microsoft YaHei Light"/>
                <a:cs typeface="Microsoft YaHei Light"/>
              </a:rPr>
              <a:t>码</a:t>
            </a:r>
            <a:r>
              <a:rPr dirty="0" sz="1200" b="0">
                <a:latin typeface="Microsoft YaHei Light"/>
                <a:cs typeface="Microsoft YaHei Light"/>
              </a:rPr>
              <a:t>	中文</a:t>
            </a:r>
            <a:r>
              <a:rPr dirty="0" sz="1200" spc="-50" b="0">
                <a:latin typeface="Microsoft YaHei Light"/>
                <a:cs typeface="Microsoft YaHei Light"/>
              </a:rPr>
              <a:t>名</a:t>
            </a:r>
            <a:r>
              <a:rPr dirty="0" sz="1200" b="0">
                <a:latin typeface="Microsoft YaHei Light"/>
                <a:cs typeface="Microsoft YaHei Light"/>
              </a:rPr>
              <a:t>	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65" b="0">
                <a:latin typeface="Microsoft YaHei Light"/>
                <a:cs typeface="Microsoft YaHei Light"/>
              </a:rPr>
              <a:t> </a:t>
            </a:r>
            <a:r>
              <a:rPr dirty="0" sz="1200" spc="-10" b="0">
                <a:latin typeface="Microsoft YaHei Light"/>
                <a:cs typeface="Microsoft YaHei Light"/>
              </a:rPr>
              <a:t>piece</a:t>
            </a:r>
            <a:r>
              <a:rPr dirty="0" sz="1200" b="0">
                <a:latin typeface="Microsoft YaHei Light"/>
                <a:cs typeface="Microsoft YaHei Light"/>
              </a:rPr>
              <a:t>	红</a:t>
            </a:r>
            <a:r>
              <a:rPr dirty="0" sz="1200" spc="-50" b="0">
                <a:latin typeface="Microsoft YaHei Light"/>
                <a:cs typeface="Microsoft YaHei Light"/>
              </a:rPr>
              <a:t>方</a:t>
            </a:r>
            <a:r>
              <a:rPr dirty="0" sz="1200" b="0">
                <a:latin typeface="Microsoft YaHei Light"/>
                <a:cs typeface="Microsoft YaHei Light"/>
              </a:rPr>
              <a:t>	黑</a:t>
            </a:r>
            <a:r>
              <a:rPr dirty="0" sz="1200" spc="-50" b="0">
                <a:latin typeface="Microsoft YaHei Light"/>
                <a:cs typeface="Microsoft YaHei Light"/>
              </a:rPr>
              <a:t>方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989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7300" y="3126717"/>
            <a:ext cx="44157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3.2.</a:t>
            </a:r>
            <a:r>
              <a:rPr dirty="0" sz="1500" spc="30" b="0">
                <a:solidFill>
                  <a:srgbClr val="1E40AF"/>
                </a:solidFill>
                <a:latin typeface="Microsoft YaHei Light"/>
                <a:cs typeface="Microsoft YaHei Light"/>
              </a:rPr>
              <a:t> 内部编码 </a:t>
            </a:r>
            <a:r>
              <a:rPr dirty="0" sz="1500" spc="254" b="1">
                <a:solidFill>
                  <a:srgbClr val="1E40AF"/>
                </a:solidFill>
                <a:latin typeface="Times New Roman"/>
                <a:cs typeface="Times New Roman"/>
              </a:rPr>
              <a:t>↔ </a:t>
            </a:r>
            <a:r>
              <a:rPr dirty="0" sz="1500" spc="-130" b="0">
                <a:solidFill>
                  <a:srgbClr val="1E40AF"/>
                </a:solidFill>
                <a:latin typeface="Microsoft YaHei Light"/>
                <a:cs typeface="Microsoft YaHei Light"/>
              </a:rPr>
              <a:t>JSON</a:t>
            </a:r>
            <a:r>
              <a:rPr dirty="0" sz="1500" spc="254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254" b="1">
                <a:solidFill>
                  <a:srgbClr val="1E40AF"/>
                </a:solidFill>
                <a:latin typeface="Times New Roman"/>
                <a:cs typeface="Times New Roman"/>
              </a:rPr>
              <a:t>↔ 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中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文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三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向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对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照</a:t>
            </a:r>
            <a:r>
              <a:rPr dirty="0" sz="1500" spc="45" b="0">
                <a:solidFill>
                  <a:srgbClr val="1E40AF"/>
                </a:solidFill>
                <a:latin typeface="Microsoft YaHei Light"/>
                <a:cs typeface="Microsoft YaHei Light"/>
              </a:rPr>
              <a:t>（§3.3）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357680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3779633"/>
          <a:ext cx="3613150" cy="230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75"/>
                <a:gridCol w="1016000"/>
                <a:gridCol w="863600"/>
                <a:gridCol w="8667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内部编码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piece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红方中文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黑方中文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king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rook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knight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cannon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pawn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guard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bishop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6151159"/>
            <a:ext cx="5740400" cy="4933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25" b="0">
                <a:latin typeface="Microsoft YaHei Light"/>
                <a:cs typeface="Microsoft YaHei Light"/>
              </a:rPr>
              <a:t>注意：内部编码 </a:t>
            </a:r>
            <a:r>
              <a:rPr dirty="0" sz="1200" spc="135" b="0">
                <a:latin typeface="Microsoft YaHei Light"/>
                <a:cs typeface="Microsoft YaHei Light"/>
              </a:rPr>
              <a:t>0–6</a:t>
            </a:r>
            <a:r>
              <a:rPr dirty="0" sz="1200" spc="10" b="0">
                <a:latin typeface="Microsoft YaHei Light"/>
                <a:cs typeface="Microsoft YaHei Light"/>
              </a:rPr>
              <a:t> 用于领域层、棋谱记法与附录 </a:t>
            </a:r>
            <a:r>
              <a:rPr dirty="0" sz="1200" b="0">
                <a:latin typeface="Microsoft YaHei Light"/>
                <a:cs typeface="Microsoft YaHei Light"/>
              </a:rPr>
              <a:t>B</a:t>
            </a:r>
            <a:r>
              <a:rPr dirty="0" sz="1200" spc="204" b="0">
                <a:latin typeface="Microsoft YaHei Light"/>
                <a:cs typeface="Microsoft YaHei Light"/>
              </a:rPr>
              <a:t> </a:t>
            </a:r>
            <a:r>
              <a:rPr dirty="0" sz="1200" spc="-125" b="0">
                <a:latin typeface="Microsoft YaHei Light"/>
                <a:cs typeface="Microsoft YaHei Light"/>
              </a:rPr>
              <a:t>BOARD_STATE；JSON</a:t>
            </a:r>
            <a:r>
              <a:rPr dirty="0" sz="1200" spc="25" b="0">
                <a:latin typeface="Microsoft YaHei Light"/>
                <a:cs typeface="Microsoft YaHei Light"/>
              </a:rPr>
              <a:t> 层仅使用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>
                <a:latin typeface="Consolas"/>
                <a:cs typeface="Consolas"/>
              </a:rPr>
              <a:t>piece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10" b="0">
                <a:latin typeface="Microsoft YaHei Light"/>
                <a:cs typeface="Microsoft YaHei Light"/>
              </a:rPr>
              <a:t>英文字符串。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74600" y="7027538"/>
            <a:ext cx="5785485" cy="427990"/>
            <a:chOff x="874600" y="7027538"/>
            <a:chExt cx="5785485" cy="427990"/>
          </a:xfrm>
        </p:grpSpPr>
        <p:sp>
          <p:nvSpPr>
            <p:cNvPr id="10" name="object 10" descr=""/>
            <p:cNvSpPr/>
            <p:nvPr/>
          </p:nvSpPr>
          <p:spPr>
            <a:xfrm>
              <a:off x="900000" y="7027538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4600" y="7027538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14300" y="7061471"/>
            <a:ext cx="1371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5" b="0">
                <a:solidFill>
                  <a:srgbClr val="1E3A8A"/>
                </a:solidFill>
                <a:latin typeface="Microsoft YaHei Light"/>
                <a:cs typeface="Microsoft YaHei Light"/>
              </a:rPr>
              <a:t>4.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颜色编码</a:t>
            </a:r>
            <a:endParaRPr sz="2000">
              <a:latin typeface="Microsoft YaHei Light"/>
              <a:cs typeface="Microsoft YaHei Ligh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</a:t>
            </a:r>
          </a:p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896825" y="7743342"/>
          <a:ext cx="2444750" cy="76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558800"/>
                <a:gridCol w="13239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阵营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红方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先手，棋盘下方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黑方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后手，棋盘上方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4600" y="792002"/>
            <a:ext cx="5785485" cy="427990"/>
            <a:chOff x="874600" y="792002"/>
            <a:chExt cx="5785485" cy="42799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4600" y="792002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87300" y="825935"/>
            <a:ext cx="2133600" cy="83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5.</a:t>
            </a:r>
            <a:r>
              <a:rPr dirty="0" sz="2000" spc="5" b="0">
                <a:solidFill>
                  <a:srgbClr val="1E3A8A"/>
                </a:solidFill>
                <a:latin typeface="Microsoft YaHei Light"/>
                <a:cs typeface="Microsoft YaHei Light"/>
              </a:rPr>
              <a:t> </a:t>
            </a:r>
            <a:r>
              <a:rPr dirty="0" sz="2000" spc="-280" b="0">
                <a:solidFill>
                  <a:srgbClr val="1E3A8A"/>
                </a:solidFill>
                <a:latin typeface="Microsoft YaHei Light"/>
                <a:cs typeface="Microsoft YaHei Light"/>
              </a:rPr>
              <a:t>Move</a:t>
            </a:r>
            <a:r>
              <a:rPr dirty="0" sz="2000" spc="70" b="0">
                <a:solidFill>
                  <a:srgbClr val="1E3A8A"/>
                </a:solidFill>
                <a:latin typeface="Microsoft YaHei Light"/>
                <a:cs typeface="Microsoft YaHei Light"/>
              </a:rPr>
              <a:t> 对象规范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5.1.</a:t>
            </a:r>
            <a:r>
              <a:rPr dirty="0" sz="1500" spc="-15" b="0">
                <a:solidFill>
                  <a:srgbClr val="1E40AF"/>
                </a:solidFill>
                <a:latin typeface="Microsoft YaHei Light"/>
                <a:cs typeface="Microsoft YaHei Light"/>
              </a:rPr>
              <a:t> 类定义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185278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96825" y="1977621"/>
            <a:ext cx="5766435" cy="2127885"/>
            <a:chOff x="896825" y="1977621"/>
            <a:chExt cx="5766435" cy="2127885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1980796"/>
              <a:ext cx="5760085" cy="2121535"/>
            </a:xfrm>
            <a:custGeom>
              <a:avLst/>
              <a:gdLst/>
              <a:ahLst/>
              <a:cxnLst/>
              <a:rect l="l" t="t" r="r" b="b"/>
              <a:pathLst>
                <a:path w="5760084" h="2121535">
                  <a:moveTo>
                    <a:pt x="5725074" y="2121082"/>
                  </a:moveTo>
                  <a:lnTo>
                    <a:pt x="34925" y="2121082"/>
                  </a:lnTo>
                  <a:lnTo>
                    <a:pt x="21330" y="2118337"/>
                  </a:lnTo>
                  <a:lnTo>
                    <a:pt x="10229" y="2110853"/>
                  </a:lnTo>
                  <a:lnTo>
                    <a:pt x="2744" y="2099751"/>
                  </a:lnTo>
                  <a:lnTo>
                    <a:pt x="0" y="2086157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086157"/>
                  </a:lnTo>
                  <a:lnTo>
                    <a:pt x="5757255" y="2099751"/>
                  </a:lnTo>
                  <a:lnTo>
                    <a:pt x="5749770" y="2110853"/>
                  </a:lnTo>
                  <a:lnTo>
                    <a:pt x="5738669" y="2118337"/>
                  </a:lnTo>
                  <a:lnTo>
                    <a:pt x="5725074" y="2121082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0000" y="1980796"/>
              <a:ext cx="5760085" cy="2121535"/>
            </a:xfrm>
            <a:custGeom>
              <a:avLst/>
              <a:gdLst/>
              <a:ahLst/>
              <a:cxnLst/>
              <a:rect l="l" t="t" r="r" b="b"/>
              <a:pathLst>
                <a:path w="5760084" h="2121535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086157"/>
                  </a:lnTo>
                  <a:lnTo>
                    <a:pt x="5757255" y="2099751"/>
                  </a:lnTo>
                  <a:lnTo>
                    <a:pt x="5749770" y="2110853"/>
                  </a:lnTo>
                  <a:lnTo>
                    <a:pt x="5738669" y="2118337"/>
                  </a:lnTo>
                  <a:lnTo>
                    <a:pt x="5725074" y="2121082"/>
                  </a:lnTo>
                  <a:lnTo>
                    <a:pt x="34925" y="2121082"/>
                  </a:lnTo>
                  <a:lnTo>
                    <a:pt x="21330" y="2118337"/>
                  </a:lnTo>
                  <a:lnTo>
                    <a:pt x="10229" y="2110853"/>
                  </a:lnTo>
                  <a:lnTo>
                    <a:pt x="2744" y="2099751"/>
                  </a:lnTo>
                  <a:lnTo>
                    <a:pt x="0" y="2086157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14300" y="2005594"/>
            <a:ext cx="2371725" cy="83058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public class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Move </a:t>
            </a:r>
            <a:r>
              <a:rPr dirty="0" sz="1050" spc="-50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080">
              <a:lnSpc>
                <a:spcPct val="125800"/>
              </a:lnSpc>
              <a:tabLst>
                <a:tab pos="1478915" algn="l"/>
              </a:tabLst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String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source;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String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destination;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Integer </a:t>
            </a:r>
            <a:r>
              <a:rPr dirty="0" sz="1050" spc="-10">
                <a:latin typeface="Consolas"/>
                <a:cs typeface="Consolas"/>
              </a:rPr>
              <a:t>type;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727008" y="2206868"/>
            <a:ext cx="2766060" cy="6292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40">
                <a:solidFill>
                  <a:srgbClr val="74747C"/>
                </a:solidFill>
                <a:latin typeface="Microsoft JhengHei"/>
                <a:cs typeface="Microsoft JhengHei"/>
              </a:rPr>
              <a:t>起点坐标，如 </a:t>
            </a:r>
            <a:r>
              <a:rPr dirty="0" sz="1050" spc="-20">
                <a:solidFill>
                  <a:srgbClr val="74747C"/>
                </a:solidFill>
                <a:latin typeface="Consolas"/>
                <a:cs typeface="Consolas"/>
              </a:rPr>
              <a:t>"a0"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40">
                <a:solidFill>
                  <a:srgbClr val="74747C"/>
                </a:solidFill>
                <a:latin typeface="Microsoft JhengHei"/>
                <a:cs typeface="Microsoft JhengHei"/>
              </a:rPr>
              <a:t>终点坐标，如 </a:t>
            </a:r>
            <a:r>
              <a:rPr dirty="0" sz="1050" spc="-20">
                <a:solidFill>
                  <a:srgbClr val="74747C"/>
                </a:solidFill>
                <a:latin typeface="Consolas"/>
                <a:cs typeface="Consolas"/>
              </a:rPr>
              <a:t>"a1"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翻出的棋子类型（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0–6</a:t>
            </a:r>
            <a:r>
              <a:rPr dirty="0" sz="1050" spc="-525">
                <a:solidFill>
                  <a:srgbClr val="74747C"/>
                </a:solidFill>
                <a:latin typeface="Microsoft JhengHei"/>
                <a:cs typeface="Microsoft JhengHei"/>
              </a:rPr>
              <a:t>）</a:t>
            </a:r>
            <a:r>
              <a:rPr dirty="0" sz="1050" spc="40">
                <a:solidFill>
                  <a:srgbClr val="74747C"/>
                </a:solidFill>
                <a:latin typeface="Microsoft JhengHei"/>
                <a:cs typeface="Microsoft JhengHei"/>
              </a:rPr>
              <a:t>，非翻子步为 </a:t>
            </a:r>
            <a:r>
              <a:rPr dirty="0" sz="1050" spc="-20">
                <a:solidFill>
                  <a:srgbClr val="74747C"/>
                </a:solidFill>
                <a:latin typeface="Consolas"/>
                <a:cs typeface="Consolas"/>
              </a:rPr>
              <a:t>null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14300" y="2810693"/>
            <a:ext cx="5425440" cy="4279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05435">
              <a:lnSpc>
                <a:spcPct val="100000"/>
              </a:lnSpc>
              <a:spcBef>
                <a:spcPts val="425"/>
              </a:spcBef>
              <a:tabLst>
                <a:tab pos="1478915" algn="l"/>
                <a:tab pos="2724785" algn="l"/>
              </a:tabLst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 spc="-20">
                <a:solidFill>
                  <a:srgbClr val="D73948"/>
                </a:solidFill>
                <a:latin typeface="Consolas"/>
                <a:cs typeface="Consolas"/>
              </a:rPr>
              <a:t>long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turnStartTime;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回合开始时间戳（毫秒</a:t>
            </a:r>
            <a:r>
              <a:rPr dirty="0" sz="1050" spc="-525">
                <a:solidFill>
                  <a:srgbClr val="74747C"/>
                </a:solidFill>
                <a:latin typeface="Microsoft JhengHei"/>
                <a:cs typeface="Microsoft JhengHei"/>
              </a:rPr>
              <a:t>）</a:t>
            </a:r>
            <a:r>
              <a:rPr dirty="0" sz="1050" spc="-10">
                <a:solidFill>
                  <a:srgbClr val="74747C"/>
                </a:solidFill>
                <a:latin typeface="Microsoft JhengHei"/>
                <a:cs typeface="Microsoft JhengHei"/>
              </a:rPr>
              <a:t>，以服务器记录值</a:t>
            </a:r>
            <a:endParaRPr sz="10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50" spc="-25">
                <a:solidFill>
                  <a:srgbClr val="74747C"/>
                </a:solidFill>
                <a:latin typeface="Microsoft JhengHei"/>
                <a:cs typeface="Microsoft JhengHei"/>
              </a:rPr>
              <a:t>为准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07565" y="3213243"/>
            <a:ext cx="90551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800"/>
              </a:lnSpc>
              <a:spcBef>
                <a:spcPts val="100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 spc="-20">
                <a:solidFill>
                  <a:srgbClr val="D73948"/>
                </a:solidFill>
                <a:latin typeface="Consolas"/>
                <a:cs typeface="Consolas"/>
              </a:rPr>
              <a:t>long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</a:t>
            </a:r>
            <a:r>
              <a:rPr dirty="0" sz="1050" spc="-20">
                <a:solidFill>
                  <a:srgbClr val="D73948"/>
                </a:solidFill>
                <a:latin typeface="Consolas"/>
                <a:cs typeface="Consolas"/>
              </a:rPr>
              <a:t>long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80629" y="3213243"/>
            <a:ext cx="3892550" cy="42799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050">
                <a:latin typeface="Consolas"/>
                <a:cs typeface="Consolas"/>
              </a:rPr>
              <a:t>clientTimestamp;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客户端发送时间戳（服务器忽略防伪造</a:t>
            </a:r>
            <a:r>
              <a:rPr dirty="0" sz="1050" spc="-50">
                <a:solidFill>
                  <a:srgbClr val="74747C"/>
                </a:solidFill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latin typeface="Consolas"/>
                <a:cs typeface="Consolas"/>
              </a:rPr>
              <a:t>serverTimestamp; 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>
                <a:solidFill>
                  <a:srgbClr val="74747C"/>
                </a:solidFill>
                <a:latin typeface="Microsoft JhengHei"/>
                <a:cs typeface="Microsoft JhengHei"/>
              </a:rPr>
              <a:t>服务器处理时间戳（服务器写入</a:t>
            </a:r>
            <a:r>
              <a:rPr dirty="0" sz="1050" spc="-50">
                <a:solidFill>
                  <a:srgbClr val="74747C"/>
                </a:solidFill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87300" y="3645291"/>
            <a:ext cx="4152265" cy="8940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190"/>
              </a:spcBef>
              <a:tabLst>
                <a:tab pos="2851785" algn="l"/>
              </a:tabLst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private boolean </a:t>
            </a:r>
            <a:r>
              <a:rPr dirty="0" sz="1050" spc="-10">
                <a:latin typeface="Consolas"/>
                <a:cs typeface="Consolas"/>
              </a:rPr>
              <a:t>isFlipOnly;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-10">
                <a:solidFill>
                  <a:srgbClr val="74747C"/>
                </a:solidFill>
                <a:latin typeface="Microsoft JhengHei"/>
                <a:cs typeface="Microsoft JhengHei"/>
              </a:rPr>
              <a:t>是否原地翻子操作</a:t>
            </a:r>
            <a:endParaRPr sz="1050">
              <a:latin typeface="Microsoft JhengHei"/>
              <a:cs typeface="Microsoft JhengHei"/>
            </a:endParaRPr>
          </a:p>
          <a:p>
            <a:pPr marL="139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5.2.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字段规则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00000" y="473502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893650" y="4856689"/>
          <a:ext cx="5772785" cy="277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/>
                <a:gridCol w="4286885"/>
              </a:tblGrid>
              <a:tr h="3073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规则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首翻必带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18923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暗子首次被移动或翻开后，服务器必须将真实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填入并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广播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非首翻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 为空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已知明子的移动，type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字段为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null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或留空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时间戳权威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18923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超时判定以服务器回合开始时间为准，客户端时间戳仅供参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考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flipOnly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等价性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126364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source.equals(destination)</a:t>
                      </a:r>
                      <a:r>
                        <a:rPr dirty="0" sz="105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95">
                          <a:latin typeface="Lucida Sans Unicode"/>
                          <a:cs typeface="Lucida Sans Unicode"/>
                        </a:rPr>
                        <a:t>⇔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isFlipOnly</a:t>
                      </a:r>
                      <a:r>
                        <a:rPr dirty="0" sz="1050" spc="-15">
                          <a:latin typeface="Consolas"/>
                          <a:cs typeface="Consolas"/>
                        </a:rPr>
                        <a:t> ==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，两者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等效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翻子随机性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18923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服务器在棋局初始化时完成暗子随机排列，翻子时仅揭示预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置类型；客户端提交的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被忽略并覆盖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 descr=""/>
          <p:cNvSpPr/>
          <p:nvPr/>
        </p:nvSpPr>
        <p:spPr>
          <a:xfrm>
            <a:off x="900000" y="827534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87300" y="7825252"/>
            <a:ext cx="5740400" cy="1894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5.3.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翻子随机性机制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241300" marR="5080" indent="-228600">
              <a:lnSpc>
                <a:spcPct val="127800"/>
              </a:lnSpc>
              <a:buAutoNum type="arabicPeriod"/>
              <a:tabLst>
                <a:tab pos="2413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服务器在棋局初始化时完成暗子随机排列（</a:t>
            </a:r>
            <a:r>
              <a:rPr dirty="0" sz="1200" spc="65" b="0">
                <a:latin typeface="Microsoft YaHei Light"/>
                <a:cs typeface="Microsoft YaHei Light"/>
              </a:rPr>
              <a:t>每方 </a:t>
            </a:r>
            <a:r>
              <a:rPr dirty="0" sz="1200" b="0">
                <a:latin typeface="Microsoft YaHei Light"/>
                <a:cs typeface="Microsoft YaHei Light"/>
              </a:rPr>
              <a:t>15</a:t>
            </a:r>
            <a:r>
              <a:rPr dirty="0" sz="1200" spc="-5" b="0">
                <a:latin typeface="Microsoft YaHei Light"/>
                <a:cs typeface="Microsoft YaHei Light"/>
              </a:rPr>
              <a:t> 枚暗子，从类型池随机分配至</a:t>
            </a:r>
            <a:r>
              <a:rPr dirty="0" sz="1200" b="0">
                <a:latin typeface="Microsoft YaHei Light"/>
                <a:cs typeface="Microsoft YaHei Light"/>
              </a:rPr>
              <a:t>各位置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类型池（每方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80" b="0">
                <a:latin typeface="Microsoft YaHei Light"/>
                <a:cs typeface="Microsoft YaHei Light"/>
              </a:rPr>
              <a:t>：车 </a:t>
            </a:r>
            <a:r>
              <a:rPr dirty="0" sz="1200" spc="50" b="0">
                <a:latin typeface="Microsoft YaHei Light"/>
                <a:cs typeface="Microsoft YaHei Light"/>
              </a:rPr>
              <a:t>×2</a:t>
            </a:r>
            <a:r>
              <a:rPr dirty="0" sz="1200" spc="80" b="0">
                <a:latin typeface="Microsoft YaHei Light"/>
                <a:cs typeface="Microsoft YaHei Light"/>
              </a:rPr>
              <a:t>、</a:t>
            </a:r>
            <a:r>
              <a:rPr dirty="0" sz="1200" spc="80" b="0">
                <a:latin typeface="Microsoft YaHei Light"/>
                <a:cs typeface="Microsoft YaHei Light"/>
              </a:rPr>
              <a:t>马</a:t>
            </a:r>
            <a:r>
              <a:rPr dirty="0" sz="1200" spc="250" b="0">
                <a:latin typeface="Microsoft YaHei Light"/>
                <a:cs typeface="Microsoft YaHei Light"/>
              </a:rPr>
              <a:t> </a:t>
            </a:r>
            <a:r>
              <a:rPr dirty="0" sz="1200" spc="50" b="0">
                <a:latin typeface="Microsoft YaHei Light"/>
                <a:cs typeface="Microsoft YaHei Light"/>
              </a:rPr>
              <a:t>×2</a:t>
            </a:r>
            <a:r>
              <a:rPr dirty="0" sz="1200" spc="80" b="0">
                <a:latin typeface="Microsoft YaHei Light"/>
                <a:cs typeface="Microsoft YaHei Light"/>
              </a:rPr>
              <a:t>、</a:t>
            </a:r>
            <a:r>
              <a:rPr dirty="0" sz="1200" spc="80" b="0">
                <a:latin typeface="Microsoft YaHei Light"/>
                <a:cs typeface="Microsoft YaHei Light"/>
              </a:rPr>
              <a:t>炮</a:t>
            </a:r>
            <a:r>
              <a:rPr dirty="0" sz="1200" spc="250" b="0">
                <a:latin typeface="Microsoft YaHei Light"/>
                <a:cs typeface="Microsoft YaHei Light"/>
              </a:rPr>
              <a:t> </a:t>
            </a:r>
            <a:r>
              <a:rPr dirty="0" sz="1200" spc="50" b="0">
                <a:latin typeface="Microsoft YaHei Light"/>
                <a:cs typeface="Microsoft YaHei Light"/>
              </a:rPr>
              <a:t>×2</a:t>
            </a:r>
            <a:r>
              <a:rPr dirty="0" sz="1200" spc="80" b="0">
                <a:latin typeface="Microsoft YaHei Light"/>
                <a:cs typeface="Microsoft YaHei Light"/>
              </a:rPr>
              <a:t>、</a:t>
            </a:r>
            <a:r>
              <a:rPr dirty="0" sz="1200" spc="80" b="0">
                <a:latin typeface="Microsoft YaHei Light"/>
                <a:cs typeface="Microsoft YaHei Light"/>
              </a:rPr>
              <a:t>卒</a:t>
            </a:r>
            <a:r>
              <a:rPr dirty="0" sz="1200" spc="254" b="0">
                <a:latin typeface="Microsoft YaHei Light"/>
                <a:cs typeface="Microsoft YaHei Light"/>
              </a:rPr>
              <a:t> </a:t>
            </a:r>
            <a:r>
              <a:rPr dirty="0" sz="1200" spc="50" b="0">
                <a:latin typeface="Microsoft YaHei Light"/>
                <a:cs typeface="Microsoft YaHei Light"/>
              </a:rPr>
              <a:t>×5</a:t>
            </a:r>
            <a:r>
              <a:rPr dirty="0" sz="1200" spc="80" b="0">
                <a:latin typeface="Microsoft YaHei Light"/>
                <a:cs typeface="Microsoft YaHei Light"/>
              </a:rPr>
              <a:t>、</a:t>
            </a:r>
            <a:r>
              <a:rPr dirty="0" sz="1200" spc="80" b="0">
                <a:latin typeface="Microsoft YaHei Light"/>
                <a:cs typeface="Microsoft YaHei Light"/>
              </a:rPr>
              <a:t>士</a:t>
            </a:r>
            <a:r>
              <a:rPr dirty="0" sz="1200" spc="250" b="0">
                <a:latin typeface="Microsoft YaHei Light"/>
                <a:cs typeface="Microsoft YaHei Light"/>
              </a:rPr>
              <a:t> </a:t>
            </a:r>
            <a:r>
              <a:rPr dirty="0" sz="1200" spc="50" b="0">
                <a:latin typeface="Microsoft YaHei Light"/>
                <a:cs typeface="Microsoft YaHei Light"/>
              </a:rPr>
              <a:t>×2</a:t>
            </a:r>
            <a:r>
              <a:rPr dirty="0" sz="1200" spc="80" b="0">
                <a:latin typeface="Microsoft YaHei Light"/>
                <a:cs typeface="Microsoft YaHei Light"/>
              </a:rPr>
              <a:t>、</a:t>
            </a:r>
            <a:r>
              <a:rPr dirty="0" sz="1200" spc="80" b="0">
                <a:latin typeface="Microsoft YaHei Light"/>
                <a:cs typeface="Microsoft YaHei Light"/>
              </a:rPr>
              <a:t>象</a:t>
            </a:r>
            <a:r>
              <a:rPr dirty="0" sz="1200" spc="250" b="0">
                <a:latin typeface="Microsoft YaHei Light"/>
                <a:cs typeface="Microsoft YaHei Light"/>
              </a:rPr>
              <a:t> </a:t>
            </a:r>
            <a:r>
              <a:rPr dirty="0" sz="1200" spc="114" b="0">
                <a:latin typeface="Microsoft YaHei Light"/>
                <a:cs typeface="Microsoft YaHei Light"/>
              </a:rPr>
              <a:t>×2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客户端无法预知暗子真实类型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客户端走子/翻子时，服务器仅揭示已预置的真实类型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翻子后该棋子类型永久固定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00000" y="152932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87300" y="731082"/>
            <a:ext cx="3759200" cy="1073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4" b="0">
                <a:latin typeface="Microsoft YaHei Light"/>
                <a:cs typeface="Microsoft YaHei Light"/>
              </a:rPr>
              <a:t>6.</a:t>
            </a:r>
            <a:r>
              <a:rPr dirty="0" sz="1200" spc="15" b="0">
                <a:latin typeface="Microsoft YaHei Light"/>
                <a:cs typeface="Microsoft YaHei Light"/>
              </a:rPr>
              <a:t> 安全性：客户端无法通过伪造 </a:t>
            </a:r>
            <a:r>
              <a:rPr dirty="0" sz="1200" b="0">
                <a:latin typeface="Microsoft YaHei Light"/>
                <a:cs typeface="Microsoft YaHei Light"/>
              </a:rPr>
              <a:t>type</a:t>
            </a:r>
            <a:r>
              <a:rPr dirty="0" sz="1200" spc="20" b="0">
                <a:latin typeface="Microsoft YaHei Light"/>
                <a:cs typeface="Microsoft YaHei Light"/>
              </a:rPr>
              <a:t> 值改变翻子结果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0" b="0">
                <a:solidFill>
                  <a:srgbClr val="1E40AF"/>
                </a:solidFill>
                <a:latin typeface="Microsoft YaHei Light"/>
                <a:cs typeface="Microsoft YaHei Light"/>
              </a:rPr>
              <a:t>5.4.</a:t>
            </a:r>
            <a:r>
              <a:rPr dirty="0" sz="1500" spc="-10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130" b="0">
                <a:solidFill>
                  <a:srgbClr val="1E40AF"/>
                </a:solidFill>
                <a:latin typeface="Microsoft YaHei Light"/>
                <a:cs typeface="Microsoft YaHei Light"/>
              </a:rPr>
              <a:t>JSON</a:t>
            </a:r>
            <a:r>
              <a:rPr dirty="0" sz="1500" spc="13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140" b="0">
                <a:solidFill>
                  <a:srgbClr val="1E40AF"/>
                </a:solidFill>
                <a:latin typeface="Microsoft YaHei Light"/>
                <a:cs typeface="Microsoft YaHei Light"/>
              </a:rPr>
              <a:t>move</a:t>
            </a:r>
            <a:r>
              <a:rPr dirty="0" sz="1500" spc="125" b="0">
                <a:solidFill>
                  <a:srgbClr val="1E40AF"/>
                </a:solidFill>
                <a:latin typeface="Microsoft YaHei Light"/>
                <a:cs typeface="Microsoft YaHei Light"/>
              </a:rPr>
              <a:t> 对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象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格</a:t>
            </a:r>
            <a:r>
              <a:rPr dirty="0" sz="1500" spc="120" b="0">
                <a:solidFill>
                  <a:srgbClr val="1E40AF"/>
                </a:solidFill>
                <a:latin typeface="Microsoft YaHei Light"/>
                <a:cs typeface="Microsoft YaHei Light"/>
              </a:rPr>
              <a:t>式</a:t>
            </a:r>
            <a:r>
              <a:rPr dirty="0" sz="1500" spc="65" b="0">
                <a:solidFill>
                  <a:srgbClr val="1E40AF"/>
                </a:solidFill>
                <a:latin typeface="Microsoft YaHei Light"/>
                <a:cs typeface="Microsoft YaHei Light"/>
              </a:rPr>
              <a:t>（§5.4）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0">
                <a:latin typeface="Microsoft YaHei Light"/>
                <a:cs typeface="Microsoft YaHei Light"/>
              </a:rPr>
              <a:t>与老师文档一致，坐标拆分为列字母与行数字：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1935394"/>
          <a:ext cx="4837430" cy="1086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2515"/>
                <a:gridCol w="787399"/>
                <a:gridCol w="297751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fromX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toX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列 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i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fromY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int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70" b="0">
                          <a:latin typeface="Microsoft YaHei Light"/>
                          <a:cs typeface="Microsoft YaHei Light"/>
                        </a:rPr>
                        <a:t>行 </a:t>
                      </a:r>
                      <a:r>
                        <a:rPr dirty="0" sz="1050" spc="7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70">
                          <a:latin typeface="Consolas"/>
                          <a:cs typeface="Consolas"/>
                        </a:rPr>
                        <a:t>9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（0=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红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底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线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，9=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黑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底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线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3622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isFlip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true=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本步翻子；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from==to</a:t>
                      </a:r>
                      <a:r>
                        <a:rPr dirty="0" sz="1050" spc="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时为原地翻子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2828218"/>
            <a:ext cx="6019800" cy="113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0000"/>
                </a:solidFill>
                <a:latin typeface="Microsoft YaHei"/>
                <a:cs typeface="Microsoft YaHei"/>
              </a:rPr>
              <a:t>不允许原地翻子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200" b="0">
                <a:latin typeface="Microsoft YaHei Light"/>
                <a:cs typeface="Microsoft YaHei Light"/>
              </a:rPr>
              <a:t>映射：</a:t>
            </a:r>
            <a:r>
              <a:rPr dirty="0" sz="1050">
                <a:latin typeface="Consolas"/>
                <a:cs typeface="Consolas"/>
              </a:rPr>
              <a:t>"b"+1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55" b="0">
                <a:latin typeface="Microsoft YaHei Light"/>
                <a:cs typeface="Microsoft YaHei Light"/>
              </a:rPr>
              <a:t>→ </a:t>
            </a:r>
            <a:r>
              <a:rPr dirty="0" sz="1050">
                <a:latin typeface="Consolas"/>
                <a:cs typeface="Consolas"/>
              </a:rPr>
              <a:t>source="b1"</a:t>
            </a:r>
            <a:r>
              <a:rPr dirty="0" sz="1200" b="0">
                <a:latin typeface="Microsoft YaHei Light"/>
                <a:cs typeface="Microsoft YaHei Light"/>
              </a:rPr>
              <a:t>；</a:t>
            </a:r>
            <a:r>
              <a:rPr dirty="0" sz="1050">
                <a:latin typeface="Consolas"/>
                <a:cs typeface="Consolas"/>
              </a:rPr>
              <a:t>JsonMessages.parseMove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80" b="0">
                <a:latin typeface="Microsoft YaHei Light"/>
                <a:cs typeface="Microsoft YaHei Light"/>
              </a:rPr>
              <a:t>/ </a:t>
            </a:r>
            <a:r>
              <a:rPr dirty="0" sz="1050">
                <a:latin typeface="Consolas"/>
                <a:cs typeface="Consolas"/>
              </a:rPr>
              <a:t>toMoveJson</a:t>
            </a:r>
            <a:r>
              <a:rPr dirty="0" sz="1050" spc="25">
                <a:latin typeface="Consolas"/>
                <a:cs typeface="Consolas"/>
              </a:rPr>
              <a:t> </a:t>
            </a:r>
            <a:r>
              <a:rPr dirty="0" sz="1200" spc="60" b="0">
                <a:latin typeface="Microsoft YaHei Light"/>
                <a:cs typeface="Microsoft YaHei Light"/>
              </a:rPr>
              <a:t>负责与 </a:t>
            </a:r>
            <a:r>
              <a:rPr dirty="0" sz="1200" spc="-20" b="0">
                <a:latin typeface="Microsoft YaHei Light"/>
                <a:cs typeface="Microsoft YaHei Light"/>
              </a:rPr>
              <a:t>Java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>
                <a:latin typeface="Consolas"/>
                <a:cs typeface="Consolas"/>
              </a:rPr>
              <a:t>Move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20" b="0">
                <a:latin typeface="Microsoft YaHei Light"/>
                <a:cs typeface="Microsoft YaHei Light"/>
              </a:rPr>
              <a:t>互转。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5.5.</a:t>
            </a:r>
            <a:r>
              <a:rPr dirty="0" sz="1500" spc="-9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130" b="0">
                <a:solidFill>
                  <a:srgbClr val="1E40AF"/>
                </a:solidFill>
                <a:latin typeface="Microsoft YaHei Light"/>
                <a:cs typeface="Microsoft YaHei Light"/>
              </a:rPr>
              <a:t>JSON</a:t>
            </a: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20" b="0">
                <a:solidFill>
                  <a:srgbClr val="1E40AF"/>
                </a:solidFill>
                <a:latin typeface="Microsoft YaHei Light"/>
                <a:cs typeface="Microsoft YaHei Light"/>
              </a:rPr>
              <a:t>moveResult</a:t>
            </a: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 对</a:t>
            </a:r>
            <a:r>
              <a:rPr dirty="0" sz="1500" spc="165" b="0">
                <a:solidFill>
                  <a:srgbClr val="1E40AF"/>
                </a:solidFill>
                <a:latin typeface="Microsoft YaHei Light"/>
                <a:cs typeface="Microsoft YaHei Light"/>
              </a:rPr>
              <a:t>象</a:t>
            </a:r>
            <a:r>
              <a:rPr dirty="0" sz="1500" spc="95" b="0">
                <a:solidFill>
                  <a:srgbClr val="1E40AF"/>
                </a:solidFill>
                <a:latin typeface="Microsoft YaHei Light"/>
                <a:cs typeface="Microsoft YaHei Light"/>
              </a:rPr>
              <a:t>（§5.5）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416020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4363032"/>
          <a:ext cx="5322570" cy="139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787400"/>
                <a:gridCol w="2830195"/>
                <a:gridCol w="714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success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消息处理是否成功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valid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走子是否符合规则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move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object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同客户端 </a:t>
                      </a:r>
                      <a:r>
                        <a:rPr dirty="0" sz="1200" spc="-114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结构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425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flipResult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String?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isFlip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为真时，翻出棋子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piece</a:t>
                      </a:r>
                      <a:r>
                        <a:rPr dirty="0" sz="1050" spc="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枚举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5863259"/>
            <a:ext cx="2082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 b="0">
                <a:latin typeface="Microsoft YaHei Light"/>
                <a:cs typeface="Microsoft YaHei Light"/>
              </a:rPr>
              <a:t>完整 </a:t>
            </a:r>
            <a:r>
              <a:rPr dirty="0" sz="1200" spc="-310" b="0">
                <a:latin typeface="Microsoft YaHei Light"/>
                <a:cs typeface="Microsoft YaHei Light"/>
              </a:rPr>
              <a:t>WS</a:t>
            </a:r>
            <a:r>
              <a:rPr dirty="0" sz="1200" spc="45" b="0">
                <a:latin typeface="Microsoft YaHei Light"/>
                <a:cs typeface="Microsoft YaHei Light"/>
              </a:rPr>
              <a:t> 消息定义见第 </a:t>
            </a:r>
            <a:r>
              <a:rPr dirty="0" sz="1200" b="0">
                <a:latin typeface="Microsoft YaHei Light"/>
                <a:cs typeface="Microsoft YaHei Light"/>
              </a:rPr>
              <a:t>6</a:t>
            </a:r>
            <a:r>
              <a:rPr dirty="0" sz="1200" spc="55" b="0">
                <a:latin typeface="Microsoft YaHei Light"/>
                <a:cs typeface="Microsoft YaHei Light"/>
              </a:rPr>
              <a:t> 章。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74600" y="6455080"/>
            <a:ext cx="5785485" cy="427990"/>
            <a:chOff x="874600" y="6455080"/>
            <a:chExt cx="5785485" cy="427990"/>
          </a:xfrm>
        </p:grpSpPr>
        <p:sp>
          <p:nvSpPr>
            <p:cNvPr id="10" name="object 10" descr=""/>
            <p:cNvSpPr/>
            <p:nvPr/>
          </p:nvSpPr>
          <p:spPr>
            <a:xfrm>
              <a:off x="900000" y="6455080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4600" y="6455080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87300" y="6489012"/>
            <a:ext cx="3657600" cy="83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6.</a:t>
            </a:r>
            <a:r>
              <a:rPr dirty="0" sz="2000" spc="-110" b="0">
                <a:solidFill>
                  <a:srgbClr val="1E3A8A"/>
                </a:solidFill>
                <a:latin typeface="Microsoft YaHei Light"/>
                <a:cs typeface="Microsoft YaHei Light"/>
              </a:rPr>
              <a:t> </a:t>
            </a:r>
            <a:r>
              <a:rPr dirty="0" sz="2000" spc="-105" b="0">
                <a:solidFill>
                  <a:srgbClr val="1E3A8A"/>
                </a:solidFill>
                <a:latin typeface="Microsoft YaHei Light"/>
                <a:cs typeface="Microsoft YaHei Light"/>
              </a:rPr>
              <a:t>WebSocket</a:t>
            </a:r>
            <a:r>
              <a:rPr dirty="0" sz="2000" spc="30" b="0">
                <a:solidFill>
                  <a:srgbClr val="1E3A8A"/>
                </a:solidFill>
                <a:latin typeface="Microsoft YaHei Light"/>
                <a:cs typeface="Microsoft YaHei Light"/>
              </a:rPr>
              <a:t> + </a:t>
            </a:r>
            <a:r>
              <a:rPr dirty="0" sz="2000" spc="-170" b="0">
                <a:solidFill>
                  <a:srgbClr val="1E3A8A"/>
                </a:solidFill>
                <a:latin typeface="Microsoft YaHei Light"/>
                <a:cs typeface="Microsoft YaHei Light"/>
              </a:rPr>
              <a:t>JSON</a:t>
            </a:r>
            <a:r>
              <a:rPr dirty="0" sz="2000" spc="35" b="0">
                <a:solidFill>
                  <a:srgbClr val="1E3A8A"/>
                </a:solidFill>
                <a:latin typeface="Microsoft YaHei Light"/>
                <a:cs typeface="Microsoft YaHei Light"/>
              </a:rPr>
              <a:t> 通信协议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6.1.</a:t>
            </a:r>
            <a:r>
              <a:rPr dirty="0" sz="1500" spc="75" b="0">
                <a:solidFill>
                  <a:srgbClr val="1E40AF"/>
                </a:solidFill>
                <a:latin typeface="Microsoft YaHei Light"/>
                <a:cs typeface="Microsoft YaHei Light"/>
              </a:rPr>
              <a:t> 传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输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层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约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定</a:t>
            </a:r>
            <a:r>
              <a:rPr dirty="0" sz="1500" spc="70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（§6.1）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00000" y="751585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896825" y="8077658"/>
            <a:ext cx="5766435" cy="528320"/>
            <a:chOff x="896825" y="8077658"/>
            <a:chExt cx="5766435" cy="528320"/>
          </a:xfrm>
        </p:grpSpPr>
        <p:sp>
          <p:nvSpPr>
            <p:cNvPr id="15" name="object 15" descr=""/>
            <p:cNvSpPr/>
            <p:nvPr/>
          </p:nvSpPr>
          <p:spPr>
            <a:xfrm>
              <a:off x="900000" y="8080833"/>
              <a:ext cx="5760085" cy="521970"/>
            </a:xfrm>
            <a:custGeom>
              <a:avLst/>
              <a:gdLst/>
              <a:ahLst/>
              <a:cxnLst/>
              <a:rect l="l" t="t" r="r" b="b"/>
              <a:pathLst>
                <a:path w="5760084" h="521970">
                  <a:moveTo>
                    <a:pt x="5712374" y="521554"/>
                  </a:moveTo>
                  <a:lnTo>
                    <a:pt x="47625" y="521554"/>
                  </a:lnTo>
                  <a:lnTo>
                    <a:pt x="29087" y="517812"/>
                  </a:lnTo>
                  <a:lnTo>
                    <a:pt x="13949" y="507605"/>
                  </a:lnTo>
                  <a:lnTo>
                    <a:pt x="3742" y="492467"/>
                  </a:lnTo>
                  <a:lnTo>
                    <a:pt x="0" y="473929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73929"/>
                  </a:lnTo>
                  <a:lnTo>
                    <a:pt x="5756257" y="492467"/>
                  </a:lnTo>
                  <a:lnTo>
                    <a:pt x="5746050" y="507605"/>
                  </a:lnTo>
                  <a:lnTo>
                    <a:pt x="5730912" y="517812"/>
                  </a:lnTo>
                  <a:lnTo>
                    <a:pt x="5712374" y="521554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0000" y="8080833"/>
              <a:ext cx="5760085" cy="521970"/>
            </a:xfrm>
            <a:custGeom>
              <a:avLst/>
              <a:gdLst/>
              <a:ahLst/>
              <a:cxnLst/>
              <a:rect l="l" t="t" r="r" b="b"/>
              <a:pathLst>
                <a:path w="5760084" h="52197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73929"/>
                  </a:lnTo>
                  <a:lnTo>
                    <a:pt x="5756257" y="492467"/>
                  </a:lnTo>
                  <a:lnTo>
                    <a:pt x="5746050" y="507605"/>
                  </a:lnTo>
                  <a:lnTo>
                    <a:pt x="5730912" y="517812"/>
                  </a:lnTo>
                  <a:lnTo>
                    <a:pt x="5712374" y="521554"/>
                  </a:lnTo>
                  <a:lnTo>
                    <a:pt x="47625" y="521554"/>
                  </a:lnTo>
                  <a:lnTo>
                    <a:pt x="29087" y="517812"/>
                  </a:lnTo>
                  <a:lnTo>
                    <a:pt x="13949" y="507605"/>
                  </a:lnTo>
                  <a:lnTo>
                    <a:pt x="3742" y="492467"/>
                  </a:lnTo>
                  <a:lnTo>
                    <a:pt x="0" y="473929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87300" y="7532114"/>
            <a:ext cx="5762625" cy="953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670">
              <a:lnSpc>
                <a:spcPct val="127800"/>
              </a:lnSpc>
              <a:spcBef>
                <a:spcPts val="100"/>
              </a:spcBef>
            </a:pPr>
            <a:r>
              <a:rPr dirty="0" sz="1200" spc="15" b="0">
                <a:latin typeface="Microsoft YaHei Light"/>
                <a:cs typeface="Microsoft YaHei Light"/>
              </a:rPr>
              <a:t>客户端与服务器通过 </a:t>
            </a:r>
            <a:r>
              <a:rPr dirty="0" sz="1200" spc="-65" b="0">
                <a:latin typeface="Microsoft YaHei Light"/>
                <a:cs typeface="Microsoft YaHei Light"/>
              </a:rPr>
              <a:t>WebSocket</a:t>
            </a:r>
            <a:r>
              <a:rPr dirty="0" sz="1200" spc="75" b="0">
                <a:latin typeface="Microsoft YaHei Light"/>
                <a:cs typeface="Microsoft YaHei Light"/>
              </a:rPr>
              <a:t> 交换 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10" b="0">
                <a:latin typeface="Microsoft YaHei Light"/>
                <a:cs typeface="Microsoft YaHei Light"/>
              </a:rPr>
              <a:t> 文本。每条消息为一个 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10" b="0">
                <a:latin typeface="Microsoft YaHei Light"/>
                <a:cs typeface="Microsoft YaHei Light"/>
              </a:rPr>
              <a:t> 对象，必须</a:t>
            </a:r>
            <a:r>
              <a:rPr dirty="0" sz="1200" spc="75" b="0">
                <a:latin typeface="Microsoft YaHei Light"/>
                <a:cs typeface="Microsoft YaHei Light"/>
              </a:rPr>
              <a:t>包含 </a:t>
            </a:r>
            <a:r>
              <a:rPr dirty="0" sz="1050">
                <a:latin typeface="Consolas"/>
                <a:cs typeface="Consolas"/>
              </a:rPr>
              <a:t>messageType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20" b="0">
                <a:latin typeface="Microsoft YaHei Light"/>
                <a:cs typeface="Microsoft YaHei Light"/>
              </a:rPr>
              <a:t>字段：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Microsoft YaHei Light"/>
              <a:cs typeface="Microsoft YaHei Light"/>
            </a:endParaRPr>
          </a:p>
          <a:p>
            <a:pPr marL="165100" marR="499109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{"messageType": "move", "fromX": "b", "fromY": 1, "toX": "b", "toY": 3, </a:t>
            </a:r>
            <a:r>
              <a:rPr dirty="0" sz="900" spc="-10">
                <a:latin typeface="Consolas"/>
                <a:cs typeface="Consolas"/>
              </a:rPr>
              <a:t>"isFlip": false}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6</a:t>
            </a:r>
          </a:p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896825" y="8776258"/>
          <a:ext cx="5766435" cy="69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/>
                <a:gridCol w="2049780"/>
                <a:gridCol w="1826260"/>
                <a:gridCol w="871854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项目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356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约定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传输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35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WebSocket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文本帧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5745" marR="123825">
                        <a:lnSpc>
                          <a:spcPts val="1839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一帧 = 一条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字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符串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1862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6375"/>
                <a:gridCol w="1668780"/>
                <a:gridCol w="1750060"/>
                <a:gridCol w="871854"/>
              </a:tblGrid>
              <a:tr h="53784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连接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URL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ws://host:8887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9545" marR="12382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默认端口 </a:t>
                      </a:r>
                      <a:r>
                        <a:rPr dirty="0" sz="1200" spc="-40" b="0">
                          <a:latin typeface="Microsoft YaHei Light"/>
                          <a:cs typeface="Microsoft YaHei Light"/>
                        </a:rPr>
                        <a:t>8887；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启</a:t>
                      </a:r>
                      <a:r>
                        <a:rPr dirty="0" sz="1200" spc="-80" b="0">
                          <a:latin typeface="Microsoft YaHei Light"/>
                          <a:cs typeface="Microsoft YaHei Light"/>
                        </a:rPr>
                        <a:t>动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时打印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字符串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5473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心跳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可选，建议 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10s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ping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pong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9545" marR="20002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未实现心跳的客户端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应被兼容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46990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未知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静默忽略，不得崩溃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老师原文；本组返回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69545">
                        <a:lnSpc>
                          <a:spcPts val="1370"/>
                        </a:lnSpc>
                        <a:spcBef>
                          <a:spcPts val="40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error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4001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solidFill>
                            <a:srgbClr val="C2410C"/>
                          </a:solidFill>
                          <a:latin typeface="Microsoft YaHei Light"/>
                          <a:cs typeface="Microsoft YaHei Light"/>
                        </a:rPr>
                        <a:t>部分实现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项目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87499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约定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9099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说明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107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00000" y="4100164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87300" y="3017360"/>
            <a:ext cx="4802505" cy="13582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b="0">
                <a:latin typeface="Microsoft YaHei Light"/>
                <a:cs typeface="Microsoft YaHei Light"/>
              </a:rPr>
              <a:t>实现类：</a:t>
            </a:r>
            <a:r>
              <a:rPr dirty="0" sz="1050">
                <a:latin typeface="Consolas"/>
                <a:cs typeface="Consolas"/>
              </a:rPr>
              <a:t>com.jieqi.protocol.json.JsonMessages</a:t>
            </a:r>
            <a:r>
              <a:rPr dirty="0" sz="1200" spc="-50" b="0">
                <a:latin typeface="Microsoft YaHei Light"/>
                <a:cs typeface="Microsoft YaHei Light"/>
              </a:rPr>
              <a:t>、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>
                <a:latin typeface="Consolas"/>
                <a:cs typeface="Consolas"/>
              </a:rPr>
              <a:t>com.jieqi.server.ws.WsGameServer</a:t>
            </a:r>
            <a:r>
              <a:rPr dirty="0" sz="1200" b="0">
                <a:latin typeface="Microsoft YaHei Light"/>
                <a:cs typeface="Microsoft YaHei Light"/>
              </a:rPr>
              <a:t>、</a:t>
            </a:r>
            <a:r>
              <a:rPr dirty="0" sz="1050">
                <a:latin typeface="Consolas"/>
                <a:cs typeface="Consolas"/>
              </a:rPr>
              <a:t>com.jieqi.client.WsGameClient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6.2.</a:t>
            </a:r>
            <a:r>
              <a:rPr dirty="0" sz="1500" spc="60" b="0">
                <a:solidFill>
                  <a:srgbClr val="1E40AF"/>
                </a:solidFill>
                <a:latin typeface="Microsoft YaHei Light"/>
                <a:cs typeface="Microsoft YaHei Light"/>
              </a:rPr>
              <a:t> 依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赖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库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版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本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（§6.2）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0">
                <a:latin typeface="Microsoft YaHei Light"/>
                <a:cs typeface="Microsoft YaHei Light"/>
              </a:rPr>
              <a:t>老师示例指定，各组统一：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96825" y="4506231"/>
          <a:ext cx="4102735" cy="76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6525"/>
                <a:gridCol w="711200"/>
                <a:gridCol w="714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依赖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版本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org.java-websocket:Java-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WebSocket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1.5.7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com.google.code.gson:gson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2.10.1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900000" y="598670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87300" y="5536615"/>
            <a:ext cx="5633085" cy="1353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6.3.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 消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息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格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式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总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览</a:t>
            </a:r>
            <a:r>
              <a:rPr dirty="0" sz="1500" spc="4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（§6.3）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12700" marR="5080">
              <a:lnSpc>
                <a:spcPct val="127800"/>
              </a:lnSpc>
            </a:pPr>
            <a:r>
              <a:rPr dirty="0" sz="1200" spc="5" b="0">
                <a:latin typeface="Microsoft YaHei Light"/>
                <a:cs typeface="Microsoft YaHei Light"/>
              </a:rPr>
              <a:t>所有消息必含 </a:t>
            </a:r>
            <a:r>
              <a:rPr dirty="0" sz="1050">
                <a:latin typeface="Consolas"/>
                <a:cs typeface="Consolas"/>
              </a:rPr>
              <a:t>messageType</a:t>
            </a:r>
            <a:r>
              <a:rPr dirty="0" sz="1200" b="0">
                <a:latin typeface="Microsoft YaHei Light"/>
                <a:cs typeface="Microsoft YaHei Light"/>
              </a:rPr>
              <a:t>（字符串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b="0">
                <a:latin typeface="Microsoft YaHei Light"/>
                <a:cs typeface="Microsoft YaHei Light"/>
              </a:rPr>
              <a:t>。方向缩写：C→S = 客户端→服务器，S→C</a:t>
            </a:r>
            <a:r>
              <a:rPr dirty="0" sz="1200" spc="-50" b="0">
                <a:latin typeface="Microsoft YaHei Light"/>
                <a:cs typeface="Microsoft YaHei Light"/>
              </a:rPr>
              <a:t> =</a:t>
            </a:r>
            <a:r>
              <a:rPr dirty="0" sz="1200" spc="-10" b="0">
                <a:latin typeface="Microsoft YaHei Light"/>
                <a:cs typeface="Microsoft YaHei Light"/>
              </a:rPr>
              <a:t>服务器→客户端。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0" b="0">
                <a:solidFill>
                  <a:srgbClr val="1E40AF"/>
                </a:solidFill>
                <a:latin typeface="Microsoft YaHei Light"/>
                <a:cs typeface="Microsoft YaHei Light"/>
              </a:rPr>
              <a:t>6.4.</a:t>
            </a:r>
            <a:r>
              <a:rPr dirty="0" sz="1500" spc="100" b="0">
                <a:solidFill>
                  <a:srgbClr val="1E40AF"/>
                </a:solidFill>
                <a:latin typeface="Microsoft YaHei Light"/>
                <a:cs typeface="Microsoft YaHei Light"/>
              </a:rPr>
              <a:t> 客户端 → 服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务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器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消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息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（§6.4）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7</a:t>
            </a: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896825" y="7082588"/>
          <a:ext cx="5766435" cy="264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/>
                <a:gridCol w="558800"/>
                <a:gridCol w="1502409"/>
                <a:gridCol w="1511300"/>
                <a:gridCol w="763904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4572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Login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登录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password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21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register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注册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55575" marR="92075">
                        <a:lnSpc>
                          <a:spcPts val="1689"/>
                        </a:lnSpc>
                        <a:spcBef>
                          <a:spcPts val="23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password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nickname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29845"/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226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startMatch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开始匹配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无额外字段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cancelMatch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取消匹配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无额外字段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</a:tr>
              <a:tr h="539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requestFirstHand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26364" marR="147955">
                        <a:lnSpc>
                          <a:spcPct val="127800"/>
                        </a:lnSpc>
                        <a:spcBef>
                          <a:spcPts val="25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请求先手（10s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窗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口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55575" marR="80645">
                        <a:lnSpc>
                          <a:spcPct val="127800"/>
                        </a:lnSpc>
                        <a:spcBef>
                          <a:spcPts val="2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wannaFirst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: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true/ 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false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</a:tr>
              <a:tr h="233045">
                <a:tc>
                  <a:txBody>
                    <a:bodyPr/>
                    <a:lstStyle/>
                    <a:p>
                      <a:pPr algn="ctr" marL="2540">
                        <a:lnSpc>
                          <a:spcPts val="1220"/>
                        </a:lnSpc>
                        <a:spcBef>
                          <a:spcPts val="51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Ready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95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95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准备就绪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295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无额外字段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45720">
                        <a:lnSpc>
                          <a:spcPts val="1295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131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7140"/>
                <a:gridCol w="742315"/>
                <a:gridCol w="1235709"/>
                <a:gridCol w="1781175"/>
                <a:gridCol w="761364"/>
              </a:tblGrid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375920">
                        <a:lnSpc>
                          <a:spcPct val="100000"/>
                        </a:lnSpc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move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翻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2275" marR="16573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050" spc="50">
                          <a:latin typeface="Consolas"/>
                          <a:cs typeface="Consolas"/>
                        </a:rPr>
                        <a:t>fromX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40">
                          <a:latin typeface="Consolas"/>
                          <a:cs typeface="Consolas"/>
                        </a:rPr>
                        <a:t>fromY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 spc="75">
                          <a:latin typeface="Consolas"/>
                          <a:cs typeface="Consolas"/>
                        </a:rPr>
                        <a:t>toX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75">
                          <a:latin typeface="Consolas"/>
                          <a:cs typeface="Consolas"/>
                        </a:rPr>
                        <a:t>toY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isFlip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375920">
                        <a:lnSpc>
                          <a:spcPct val="100000"/>
                        </a:lnSpc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ping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心跳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422275" marR="233045">
                        <a:lnSpc>
                          <a:spcPts val="1839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timestamp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: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long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毫秒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 marR="302260">
                        <a:lnSpc>
                          <a:spcPts val="122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Resign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295"/>
                        </a:lnSpc>
                        <a:spcBef>
                          <a:spcPts val="88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95"/>
                        </a:lnSpc>
                        <a:spcBef>
                          <a:spcPts val="88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认输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  <a:tc>
                  <a:txBody>
                    <a:bodyPr/>
                    <a:lstStyle/>
                    <a:p>
                      <a:pPr marL="422275">
                        <a:lnSpc>
                          <a:spcPts val="1295"/>
                        </a:lnSpc>
                        <a:spcBef>
                          <a:spcPts val="885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无额外字段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ts val="1295"/>
                        </a:lnSpc>
                        <a:spcBef>
                          <a:spcPts val="885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181731" y="832682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0">
                <a:latin typeface="Microsoft YaHei Light"/>
                <a:cs typeface="Microsoft YaHei Light"/>
              </a:rPr>
              <a:t>messageType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41363" y="832682"/>
            <a:ext cx="889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865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方</a:t>
            </a:r>
            <a:r>
              <a:rPr dirty="0" sz="1200" spc="-50" b="0">
                <a:latin typeface="Microsoft YaHei Light"/>
                <a:cs typeface="Microsoft YaHei Light"/>
              </a:rPr>
              <a:t>向</a:t>
            </a:r>
            <a:r>
              <a:rPr dirty="0" sz="1200" b="0">
                <a:latin typeface="Microsoft YaHei Light"/>
                <a:cs typeface="Microsoft YaHei Light"/>
              </a:rPr>
              <a:t>	说</a:t>
            </a:r>
            <a:r>
              <a:rPr dirty="0" sz="1200" spc="-50" b="0">
                <a:latin typeface="Microsoft YaHei Light"/>
                <a:cs typeface="Microsoft YaHei Light"/>
              </a:rPr>
              <a:t>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31631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字段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39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7300" y="2527100"/>
            <a:ext cx="1397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0">
                <a:latin typeface="Microsoft YaHei Light"/>
                <a:cs typeface="Microsoft YaHei Light"/>
              </a:rPr>
              <a:t>字段类型</a:t>
            </a:r>
            <a:r>
              <a:rPr dirty="0" sz="1200" spc="-25" b="0">
                <a:latin typeface="Microsoft YaHei Light"/>
                <a:cs typeface="Microsoft YaHei Light"/>
              </a:rPr>
              <a:t>（C→S）：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2866071"/>
          <a:ext cx="5766435" cy="244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185"/>
                <a:gridCol w="1136650"/>
                <a:gridCol w="558800"/>
                <a:gridCol w="220980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必填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password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/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nickname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账号信息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wannaFirst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true=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请求红方先手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fromX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toX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列 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i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fromY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int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行 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9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53403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isFlip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 marR="170180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true=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本步翻子；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from=to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 时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为原地翻子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timestamp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long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毫秒时间戳，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pong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原样返回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grpSp>
        <p:nvGrpSpPr>
          <p:cNvPr id="9" name="object 9" descr=""/>
          <p:cNvGrpSpPr/>
          <p:nvPr/>
        </p:nvGrpSpPr>
        <p:grpSpPr>
          <a:xfrm>
            <a:off x="896825" y="5743744"/>
            <a:ext cx="5766435" cy="1222375"/>
            <a:chOff x="896825" y="5743744"/>
            <a:chExt cx="5766435" cy="1222375"/>
          </a:xfrm>
        </p:grpSpPr>
        <p:sp>
          <p:nvSpPr>
            <p:cNvPr id="10" name="object 10" descr=""/>
            <p:cNvSpPr/>
            <p:nvPr/>
          </p:nvSpPr>
          <p:spPr>
            <a:xfrm>
              <a:off x="900000" y="5746919"/>
              <a:ext cx="5760085" cy="1216025"/>
            </a:xfrm>
            <a:custGeom>
              <a:avLst/>
              <a:gdLst/>
              <a:ahLst/>
              <a:cxnLst/>
              <a:rect l="l" t="t" r="r" b="b"/>
              <a:pathLst>
                <a:path w="5760084" h="1216025">
                  <a:moveTo>
                    <a:pt x="5712374" y="1215488"/>
                  </a:moveTo>
                  <a:lnTo>
                    <a:pt x="47625" y="1215488"/>
                  </a:lnTo>
                  <a:lnTo>
                    <a:pt x="29087" y="1211746"/>
                  </a:lnTo>
                  <a:lnTo>
                    <a:pt x="13949" y="1201539"/>
                  </a:lnTo>
                  <a:lnTo>
                    <a:pt x="3742" y="1186401"/>
                  </a:lnTo>
                  <a:lnTo>
                    <a:pt x="0" y="11678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167863"/>
                  </a:lnTo>
                  <a:lnTo>
                    <a:pt x="5756257" y="1186401"/>
                  </a:lnTo>
                  <a:lnTo>
                    <a:pt x="5746050" y="1201539"/>
                  </a:lnTo>
                  <a:lnTo>
                    <a:pt x="5730912" y="1211746"/>
                  </a:lnTo>
                  <a:lnTo>
                    <a:pt x="5712374" y="121548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00000" y="5746919"/>
              <a:ext cx="5760085" cy="1216025"/>
            </a:xfrm>
            <a:custGeom>
              <a:avLst/>
              <a:gdLst/>
              <a:ahLst/>
              <a:cxnLst/>
              <a:rect l="l" t="t" r="r" b="b"/>
              <a:pathLst>
                <a:path w="5760084" h="1216025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167863"/>
                  </a:lnTo>
                  <a:lnTo>
                    <a:pt x="5756257" y="1186401"/>
                  </a:lnTo>
                  <a:lnTo>
                    <a:pt x="5746050" y="1201539"/>
                  </a:lnTo>
                  <a:lnTo>
                    <a:pt x="5730912" y="1211746"/>
                  </a:lnTo>
                  <a:lnTo>
                    <a:pt x="5712374" y="1215488"/>
                  </a:lnTo>
                  <a:lnTo>
                    <a:pt x="47625" y="1215488"/>
                  </a:lnTo>
                  <a:lnTo>
                    <a:pt x="29087" y="1211746"/>
                  </a:lnTo>
                  <a:lnTo>
                    <a:pt x="13949" y="1201539"/>
                  </a:lnTo>
                  <a:lnTo>
                    <a:pt x="3742" y="1186401"/>
                  </a:lnTo>
                  <a:lnTo>
                    <a:pt x="0" y="11678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87300" y="5429419"/>
            <a:ext cx="5762625" cy="1416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20" b="0">
                <a:latin typeface="Microsoft YaHei Light"/>
                <a:cs typeface="Microsoft YaHei Light"/>
              </a:rPr>
              <a:t> 示例</a:t>
            </a:r>
            <a:r>
              <a:rPr dirty="0" sz="1200" spc="-10" b="0">
                <a:latin typeface="Microsoft YaHei Light"/>
                <a:cs typeface="Microsoft YaHei Light"/>
              </a:rPr>
              <a:t>（C→S）：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Login</a:t>
            </a:r>
            <a:endParaRPr sz="11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14401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"Login", </a:t>
            </a:r>
            <a:r>
              <a:rPr dirty="0" sz="900">
                <a:latin typeface="Consolas"/>
                <a:cs typeface="Consolas"/>
              </a:rPr>
              <a:t>"userId": </a:t>
            </a:r>
            <a:r>
              <a:rPr dirty="0" sz="900" spc="-10">
                <a:latin typeface="Consolas"/>
                <a:cs typeface="Consolas"/>
              </a:rPr>
              <a:t>"u1", </a:t>
            </a:r>
            <a:r>
              <a:rPr dirty="0" sz="900">
                <a:latin typeface="Consolas"/>
                <a:cs typeface="Consolas"/>
              </a:rPr>
              <a:t>"password": </a:t>
            </a:r>
            <a:r>
              <a:rPr dirty="0" sz="900" spc="-10">
                <a:latin typeface="Consolas"/>
                <a:cs typeface="Consolas"/>
              </a:rPr>
              <a:t>"123456"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96825" y="7111634"/>
            <a:ext cx="5766435" cy="1391285"/>
            <a:chOff x="896825" y="7111634"/>
            <a:chExt cx="5766435" cy="1391285"/>
          </a:xfrm>
        </p:grpSpPr>
        <p:sp>
          <p:nvSpPr>
            <p:cNvPr id="14" name="object 14" descr=""/>
            <p:cNvSpPr/>
            <p:nvPr/>
          </p:nvSpPr>
          <p:spPr>
            <a:xfrm>
              <a:off x="900000" y="7114809"/>
              <a:ext cx="5760085" cy="1384935"/>
            </a:xfrm>
            <a:custGeom>
              <a:avLst/>
              <a:gdLst/>
              <a:ahLst/>
              <a:cxnLst/>
              <a:rect l="l" t="t" r="r" b="b"/>
              <a:pathLst>
                <a:path w="5760084" h="1384934">
                  <a:moveTo>
                    <a:pt x="5712374" y="1384581"/>
                  </a:moveTo>
                  <a:lnTo>
                    <a:pt x="47625" y="1384581"/>
                  </a:lnTo>
                  <a:lnTo>
                    <a:pt x="29087" y="1380838"/>
                  </a:lnTo>
                  <a:lnTo>
                    <a:pt x="13949" y="1370632"/>
                  </a:lnTo>
                  <a:lnTo>
                    <a:pt x="3742" y="1355494"/>
                  </a:lnTo>
                  <a:lnTo>
                    <a:pt x="0" y="133695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36956"/>
                  </a:lnTo>
                  <a:lnTo>
                    <a:pt x="5756257" y="1355494"/>
                  </a:lnTo>
                  <a:lnTo>
                    <a:pt x="5746050" y="1370632"/>
                  </a:lnTo>
                  <a:lnTo>
                    <a:pt x="5730912" y="1380838"/>
                  </a:lnTo>
                  <a:lnTo>
                    <a:pt x="5712374" y="138458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0000" y="7114809"/>
              <a:ext cx="5760085" cy="1384935"/>
            </a:xfrm>
            <a:custGeom>
              <a:avLst/>
              <a:gdLst/>
              <a:ahLst/>
              <a:cxnLst/>
              <a:rect l="l" t="t" r="r" b="b"/>
              <a:pathLst>
                <a:path w="5760084" h="1384934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36956"/>
                  </a:lnTo>
                  <a:lnTo>
                    <a:pt x="5756257" y="1355494"/>
                  </a:lnTo>
                  <a:lnTo>
                    <a:pt x="5746050" y="1370632"/>
                  </a:lnTo>
                  <a:lnTo>
                    <a:pt x="5730912" y="1380838"/>
                  </a:lnTo>
                  <a:lnTo>
                    <a:pt x="5712374" y="1384581"/>
                  </a:lnTo>
                  <a:lnTo>
                    <a:pt x="47625" y="1384581"/>
                  </a:lnTo>
                  <a:lnTo>
                    <a:pt x="29087" y="1380838"/>
                  </a:lnTo>
                  <a:lnTo>
                    <a:pt x="13949" y="1370632"/>
                  </a:lnTo>
                  <a:lnTo>
                    <a:pt x="3742" y="1355494"/>
                  </a:lnTo>
                  <a:lnTo>
                    <a:pt x="0" y="133695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10149" y="7210307"/>
            <a:ext cx="5739765" cy="1172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70" b="0">
                <a:solidFill>
                  <a:srgbClr val="334155"/>
                </a:solidFill>
                <a:latin typeface="Microsoft YaHei Light"/>
                <a:cs typeface="Microsoft YaHei Light"/>
              </a:rPr>
              <a:t>register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95541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"register", </a:t>
            </a:r>
            <a:r>
              <a:rPr dirty="0" sz="900">
                <a:latin typeface="Consolas"/>
                <a:cs typeface="Consolas"/>
              </a:rPr>
              <a:t>"userId": </a:t>
            </a:r>
            <a:r>
              <a:rPr dirty="0" sz="900" spc="-10">
                <a:latin typeface="Consolas"/>
                <a:cs typeface="Consolas"/>
              </a:rPr>
              <a:t>"u2", </a:t>
            </a:r>
            <a:r>
              <a:rPr dirty="0" sz="900">
                <a:latin typeface="Consolas"/>
                <a:cs typeface="Consolas"/>
              </a:rPr>
              <a:t>"password": </a:t>
            </a:r>
            <a:r>
              <a:rPr dirty="0" sz="900" spc="-10">
                <a:latin typeface="Consolas"/>
                <a:cs typeface="Consolas"/>
              </a:rPr>
              <a:t>"123456",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250"/>
              </a:spcBef>
            </a:pPr>
            <a:r>
              <a:rPr dirty="0" sz="900">
                <a:latin typeface="Consolas"/>
                <a:cs typeface="Consolas"/>
              </a:rPr>
              <a:t>"nickname": "</a:t>
            </a:r>
            <a:r>
              <a:rPr dirty="0" sz="900">
                <a:latin typeface="Microsoft JhengHei"/>
                <a:cs typeface="Microsoft JhengHei"/>
              </a:rPr>
              <a:t>李四</a:t>
            </a:r>
            <a:r>
              <a:rPr dirty="0" sz="900" spc="-50">
                <a:latin typeface="Consolas"/>
                <a:cs typeface="Consolas"/>
              </a:rPr>
              <a:t>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96825" y="8648615"/>
            <a:ext cx="5766435" cy="969010"/>
            <a:chOff x="896825" y="8648615"/>
            <a:chExt cx="5766435" cy="969010"/>
          </a:xfrm>
        </p:grpSpPr>
        <p:sp>
          <p:nvSpPr>
            <p:cNvPr id="18" name="object 18" descr=""/>
            <p:cNvSpPr/>
            <p:nvPr/>
          </p:nvSpPr>
          <p:spPr>
            <a:xfrm>
              <a:off x="900000" y="8651790"/>
              <a:ext cx="5760085" cy="962660"/>
            </a:xfrm>
            <a:custGeom>
              <a:avLst/>
              <a:gdLst/>
              <a:ahLst/>
              <a:cxnLst/>
              <a:rect l="l" t="t" r="r" b="b"/>
              <a:pathLst>
                <a:path w="5760084" h="962659">
                  <a:moveTo>
                    <a:pt x="5712374" y="962158"/>
                  </a:moveTo>
                  <a:lnTo>
                    <a:pt x="47625" y="962158"/>
                  </a:lnTo>
                  <a:lnTo>
                    <a:pt x="29087" y="958415"/>
                  </a:lnTo>
                  <a:lnTo>
                    <a:pt x="13949" y="948209"/>
                  </a:lnTo>
                  <a:lnTo>
                    <a:pt x="3742" y="933071"/>
                  </a:lnTo>
                  <a:lnTo>
                    <a:pt x="0" y="91453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914533"/>
                  </a:lnTo>
                  <a:lnTo>
                    <a:pt x="5756257" y="933071"/>
                  </a:lnTo>
                  <a:lnTo>
                    <a:pt x="5746050" y="948209"/>
                  </a:lnTo>
                  <a:lnTo>
                    <a:pt x="5730912" y="958415"/>
                  </a:lnTo>
                  <a:lnTo>
                    <a:pt x="5712374" y="96215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00000" y="8651790"/>
              <a:ext cx="5760085" cy="962660"/>
            </a:xfrm>
            <a:custGeom>
              <a:avLst/>
              <a:gdLst/>
              <a:ahLst/>
              <a:cxnLst/>
              <a:rect l="l" t="t" r="r" b="b"/>
              <a:pathLst>
                <a:path w="5760084" h="96265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914533"/>
                  </a:lnTo>
                  <a:lnTo>
                    <a:pt x="5756257" y="933071"/>
                  </a:lnTo>
                  <a:lnTo>
                    <a:pt x="5746050" y="948209"/>
                  </a:lnTo>
                  <a:lnTo>
                    <a:pt x="5730912" y="958415"/>
                  </a:lnTo>
                  <a:lnTo>
                    <a:pt x="5712374" y="962158"/>
                  </a:lnTo>
                  <a:lnTo>
                    <a:pt x="47625" y="962158"/>
                  </a:lnTo>
                  <a:lnTo>
                    <a:pt x="29087" y="958415"/>
                  </a:lnTo>
                  <a:lnTo>
                    <a:pt x="13949" y="948209"/>
                  </a:lnTo>
                  <a:lnTo>
                    <a:pt x="3742" y="933071"/>
                  </a:lnTo>
                  <a:lnTo>
                    <a:pt x="0" y="91453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10149" y="8747288"/>
            <a:ext cx="5739765" cy="71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startMatch</a:t>
            </a:r>
            <a:r>
              <a:rPr dirty="0" sz="1100" spc="19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110" b="0">
                <a:solidFill>
                  <a:srgbClr val="334155"/>
                </a:solidFill>
                <a:latin typeface="Microsoft YaHei Light"/>
                <a:cs typeface="Microsoft YaHei Light"/>
              </a:rPr>
              <a:t>/</a:t>
            </a:r>
            <a:r>
              <a:rPr dirty="0" sz="1100" spc="2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cancelMatch</a:t>
            </a:r>
            <a:r>
              <a:rPr dirty="0" sz="1100" spc="2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110" b="0">
                <a:solidFill>
                  <a:srgbClr val="334155"/>
                </a:solidFill>
                <a:latin typeface="Microsoft YaHei Light"/>
                <a:cs typeface="Microsoft YaHei Light"/>
              </a:rPr>
              <a:t>/</a:t>
            </a:r>
            <a:r>
              <a:rPr dirty="0" sz="1100" spc="2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30" b="0">
                <a:solidFill>
                  <a:srgbClr val="334155"/>
                </a:solidFill>
                <a:latin typeface="Microsoft YaHei Light"/>
                <a:cs typeface="Microsoft YaHei Light"/>
              </a:rPr>
              <a:t>Ready</a:t>
            </a:r>
            <a:r>
              <a:rPr dirty="0" sz="1100" spc="2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110" b="0">
                <a:solidFill>
                  <a:srgbClr val="334155"/>
                </a:solidFill>
                <a:latin typeface="Microsoft YaHei Light"/>
                <a:cs typeface="Microsoft YaHei Light"/>
              </a:rPr>
              <a:t>/</a:t>
            </a:r>
            <a:r>
              <a:rPr dirty="0" sz="1100" spc="2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Resign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"startMatch"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788827"/>
            <a:ext cx="5766435" cy="1461770"/>
            <a:chOff x="896825" y="788827"/>
            <a:chExt cx="5766435" cy="146177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1455420"/>
            </a:xfrm>
            <a:custGeom>
              <a:avLst/>
              <a:gdLst/>
              <a:ahLst/>
              <a:cxnLst/>
              <a:rect l="l" t="t" r="r" b="b"/>
              <a:pathLst>
                <a:path w="5760084" h="1455420">
                  <a:moveTo>
                    <a:pt x="5712374" y="1455075"/>
                  </a:moveTo>
                  <a:lnTo>
                    <a:pt x="47625" y="1455075"/>
                  </a:lnTo>
                  <a:lnTo>
                    <a:pt x="29087" y="1451332"/>
                  </a:lnTo>
                  <a:lnTo>
                    <a:pt x="13949" y="1441126"/>
                  </a:lnTo>
                  <a:lnTo>
                    <a:pt x="3742" y="1425988"/>
                  </a:lnTo>
                  <a:lnTo>
                    <a:pt x="0" y="1407450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407450"/>
                  </a:lnTo>
                  <a:lnTo>
                    <a:pt x="5756257" y="1425988"/>
                  </a:lnTo>
                  <a:lnTo>
                    <a:pt x="5746050" y="1441126"/>
                  </a:lnTo>
                  <a:lnTo>
                    <a:pt x="5730912" y="1451332"/>
                  </a:lnTo>
                  <a:lnTo>
                    <a:pt x="5712374" y="1455075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792002"/>
              <a:ext cx="5760085" cy="1455420"/>
            </a:xfrm>
            <a:custGeom>
              <a:avLst/>
              <a:gdLst/>
              <a:ahLst/>
              <a:cxnLst/>
              <a:rect l="l" t="t" r="r" b="b"/>
              <a:pathLst>
                <a:path w="5760084" h="145542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407450"/>
                  </a:lnTo>
                  <a:lnTo>
                    <a:pt x="5756257" y="1425988"/>
                  </a:lnTo>
                  <a:lnTo>
                    <a:pt x="5746050" y="1441126"/>
                  </a:lnTo>
                  <a:lnTo>
                    <a:pt x="5730912" y="1451332"/>
                  </a:lnTo>
                  <a:lnTo>
                    <a:pt x="5712374" y="1455075"/>
                  </a:lnTo>
                  <a:lnTo>
                    <a:pt x="47625" y="1455075"/>
                  </a:lnTo>
                  <a:lnTo>
                    <a:pt x="29087" y="1451332"/>
                  </a:lnTo>
                  <a:lnTo>
                    <a:pt x="13949" y="1441126"/>
                  </a:lnTo>
                  <a:lnTo>
                    <a:pt x="3742" y="1425988"/>
                  </a:lnTo>
                  <a:lnTo>
                    <a:pt x="0" y="1407450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0149" y="890347"/>
            <a:ext cx="5739765" cy="1240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"cancelMatch"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ts val="96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ts val="960"/>
              </a:lnSpc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"Ready"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ts val="96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ts val="960"/>
              </a:lnSpc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"Resign"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96825" y="2396303"/>
            <a:ext cx="5766435" cy="1078230"/>
            <a:chOff x="896825" y="2396303"/>
            <a:chExt cx="5766435" cy="1078230"/>
          </a:xfrm>
        </p:grpSpPr>
        <p:sp>
          <p:nvSpPr>
            <p:cNvPr id="7" name="object 7" descr=""/>
            <p:cNvSpPr/>
            <p:nvPr/>
          </p:nvSpPr>
          <p:spPr>
            <a:xfrm>
              <a:off x="900000" y="2399478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5712374" y="1071678"/>
                  </a:move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00000" y="2399478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10149" y="2494976"/>
            <a:ext cx="5739765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requestFirstHand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453129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"requestFirstHand", </a:t>
            </a:r>
            <a:r>
              <a:rPr dirty="0" sz="900">
                <a:latin typeface="Consolas"/>
                <a:cs typeface="Consolas"/>
              </a:rPr>
              <a:t>"wannaFirst":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96825" y="3620382"/>
            <a:ext cx="5766435" cy="1653539"/>
            <a:chOff x="896825" y="3620382"/>
            <a:chExt cx="5766435" cy="1653539"/>
          </a:xfrm>
        </p:grpSpPr>
        <p:sp>
          <p:nvSpPr>
            <p:cNvPr id="11" name="object 11" descr=""/>
            <p:cNvSpPr/>
            <p:nvPr/>
          </p:nvSpPr>
          <p:spPr>
            <a:xfrm>
              <a:off x="900000" y="3623557"/>
              <a:ext cx="5760085" cy="1647189"/>
            </a:xfrm>
            <a:custGeom>
              <a:avLst/>
              <a:gdLst/>
              <a:ahLst/>
              <a:cxnLst/>
              <a:rect l="l" t="t" r="r" b="b"/>
              <a:pathLst>
                <a:path w="5760084" h="1647189">
                  <a:moveTo>
                    <a:pt x="5712374" y="1646920"/>
                  </a:moveTo>
                  <a:lnTo>
                    <a:pt x="47625" y="1646920"/>
                  </a:lnTo>
                  <a:lnTo>
                    <a:pt x="29087" y="1643177"/>
                  </a:lnTo>
                  <a:lnTo>
                    <a:pt x="13949" y="1632971"/>
                  </a:lnTo>
                  <a:lnTo>
                    <a:pt x="3742" y="1617832"/>
                  </a:lnTo>
                  <a:lnTo>
                    <a:pt x="0" y="1599295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99295"/>
                  </a:lnTo>
                  <a:lnTo>
                    <a:pt x="5756257" y="1617832"/>
                  </a:lnTo>
                  <a:lnTo>
                    <a:pt x="5746050" y="1632971"/>
                  </a:lnTo>
                  <a:lnTo>
                    <a:pt x="5730912" y="1643177"/>
                  </a:lnTo>
                  <a:lnTo>
                    <a:pt x="5712374" y="164692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00000" y="3623557"/>
              <a:ext cx="5760085" cy="1647189"/>
            </a:xfrm>
            <a:custGeom>
              <a:avLst/>
              <a:gdLst/>
              <a:ahLst/>
              <a:cxnLst/>
              <a:rect l="l" t="t" r="r" b="b"/>
              <a:pathLst>
                <a:path w="5760084" h="164718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99295"/>
                  </a:lnTo>
                  <a:lnTo>
                    <a:pt x="5756257" y="1617832"/>
                  </a:lnTo>
                  <a:lnTo>
                    <a:pt x="5746050" y="1632971"/>
                  </a:lnTo>
                  <a:lnTo>
                    <a:pt x="5730912" y="1643177"/>
                  </a:lnTo>
                  <a:lnTo>
                    <a:pt x="5712374" y="1646920"/>
                  </a:lnTo>
                  <a:lnTo>
                    <a:pt x="47625" y="1646920"/>
                  </a:lnTo>
                  <a:lnTo>
                    <a:pt x="29087" y="1643177"/>
                  </a:lnTo>
                  <a:lnTo>
                    <a:pt x="13949" y="1632971"/>
                  </a:lnTo>
                  <a:lnTo>
                    <a:pt x="3742" y="1617832"/>
                  </a:lnTo>
                  <a:lnTo>
                    <a:pt x="0" y="1599295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10149" y="3719055"/>
            <a:ext cx="5739765" cy="143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25" b="0">
                <a:solidFill>
                  <a:srgbClr val="334155"/>
                </a:solidFill>
                <a:latin typeface="Microsoft YaHei Light"/>
                <a:cs typeface="Microsoft YaHei Light"/>
              </a:rPr>
              <a:t>move（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含翻子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420687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"move", </a:t>
            </a:r>
            <a:r>
              <a:rPr dirty="0" sz="900">
                <a:latin typeface="Consolas"/>
                <a:cs typeface="Consolas"/>
              </a:rPr>
              <a:t>"fromX": </a:t>
            </a:r>
            <a:r>
              <a:rPr dirty="0" sz="900" spc="-20">
                <a:latin typeface="Consolas"/>
                <a:cs typeface="Consolas"/>
              </a:rPr>
              <a:t>"a",</a:t>
            </a:r>
            <a:endParaRPr sz="900">
              <a:latin typeface="Consolas"/>
              <a:cs typeface="Consolas"/>
            </a:endParaRPr>
          </a:p>
          <a:p>
            <a:pPr algn="just" marL="142240" marR="489839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"fromY": </a:t>
            </a:r>
            <a:r>
              <a:rPr dirty="0" sz="900" spc="-25">
                <a:latin typeface="Consolas"/>
                <a:cs typeface="Consolas"/>
              </a:rPr>
              <a:t>0, </a:t>
            </a:r>
            <a:r>
              <a:rPr dirty="0" sz="900">
                <a:latin typeface="Consolas"/>
                <a:cs typeface="Consolas"/>
              </a:rPr>
              <a:t>"toX":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"toY": </a:t>
            </a:r>
            <a:r>
              <a:rPr dirty="0" sz="900" spc="-25">
                <a:latin typeface="Consolas"/>
                <a:cs typeface="Consolas"/>
              </a:rPr>
              <a:t>1,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"isFlip":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96825" y="5419702"/>
            <a:ext cx="5766435" cy="1078230"/>
            <a:chOff x="896825" y="5419702"/>
            <a:chExt cx="5766435" cy="1078230"/>
          </a:xfrm>
        </p:grpSpPr>
        <p:sp>
          <p:nvSpPr>
            <p:cNvPr id="15" name="object 15" descr=""/>
            <p:cNvSpPr/>
            <p:nvPr/>
          </p:nvSpPr>
          <p:spPr>
            <a:xfrm>
              <a:off x="900000" y="5422877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5712374" y="1071678"/>
                  </a:move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0000" y="5422877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10149" y="5518375"/>
            <a:ext cx="5739765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ping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95541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"ping", </a:t>
            </a:r>
            <a:r>
              <a:rPr dirty="0" sz="900">
                <a:latin typeface="Consolas"/>
                <a:cs typeface="Consolas"/>
              </a:rPr>
              <a:t>"timestamp": </a:t>
            </a:r>
            <a:r>
              <a:rPr dirty="0" sz="900" spc="-10">
                <a:latin typeface="Consolas"/>
                <a:cs typeface="Consolas"/>
              </a:rPr>
              <a:t>1712345678901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9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887300" y="6677612"/>
            <a:ext cx="3225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6.5.</a:t>
            </a:r>
            <a:r>
              <a:rPr dirty="0" sz="1500" spc="95" b="0">
                <a:solidFill>
                  <a:srgbClr val="1E40AF"/>
                </a:solidFill>
                <a:latin typeface="Microsoft YaHei Light"/>
                <a:cs typeface="Microsoft YaHei Light"/>
              </a:rPr>
              <a:t> 服务器 → 客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户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端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消</a:t>
            </a:r>
            <a:r>
              <a:rPr dirty="0" sz="1500" spc="105" b="0">
                <a:solidFill>
                  <a:srgbClr val="1E40AF"/>
                </a:solidFill>
                <a:latin typeface="Microsoft YaHei Light"/>
                <a:cs typeface="Microsoft YaHei Light"/>
              </a:rPr>
              <a:t>息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（§6.5）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896825" y="7124525"/>
          <a:ext cx="5794375" cy="249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285"/>
                <a:gridCol w="558800"/>
                <a:gridCol w="863600"/>
                <a:gridCol w="2357120"/>
                <a:gridCol w="877570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00" marR="2159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6002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1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loginResult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登录结果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27800"/>
                        </a:lnSpc>
                        <a:spcBef>
                          <a:spcPts val="1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success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message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成功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27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6002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84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matchSuccess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匹配成功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  <a:tc>
                  <a:txBody>
                    <a:bodyPr/>
                    <a:lstStyle/>
                    <a:p>
                      <a:pPr marL="127000" marR="820419">
                        <a:lnSpc>
                          <a:spcPct val="127800"/>
                        </a:lnSpc>
                        <a:spcBef>
                          <a:spcPts val="484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roomId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opponentId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opponentNickname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 algn="ctr" marL="16002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12395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roomInfo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房间状态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 marR="21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opponentReady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: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true/false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ctr" marL="1600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684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gameStart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开局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 marR="215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redPlayerId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blackPlayerId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,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 marR="673735">
                        <a:lnSpc>
                          <a:spcPct val="1278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yourColor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firstHand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initialBoard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ctr" marL="1600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1702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/>
                <a:gridCol w="595630"/>
                <a:gridCol w="863600"/>
                <a:gridCol w="2295525"/>
                <a:gridCol w="911225"/>
              </a:tblGrid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9370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moveResult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r" marR="12001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走子结果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 marR="60642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success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40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50">
                          <a:latin typeface="Consolas"/>
                          <a:cs typeface="Consolas"/>
                        </a:rPr>
                        <a:t>valid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40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40">
                          <a:latin typeface="Consolas"/>
                          <a:cs typeface="Consolas"/>
                        </a:rPr>
                        <a:t>move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,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flipResult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?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 marL="3937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timeout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超时判负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loserId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winnerId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reason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algn="ctr" marL="3937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gameOver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终局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winner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reason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winnerId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2260">
                <a:tc>
                  <a:txBody>
                    <a:bodyPr/>
                    <a:lstStyle/>
                    <a:p>
                      <a:pPr algn="ctr" marL="3937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pong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心跳回复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timestamp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40665">
                <a:tc>
                  <a:txBody>
                    <a:bodyPr/>
                    <a:lstStyle/>
                    <a:p>
                      <a:pPr algn="ctr" marL="393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error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错误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050" spc="60">
                          <a:latin typeface="Consolas"/>
                          <a:cs typeface="Consolas"/>
                        </a:rPr>
                        <a:t>code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message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ts val="1370"/>
                        </a:lnSpc>
                        <a:spcBef>
                          <a:spcPts val="425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35098" y="832682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0">
                <a:latin typeface="Microsoft YaHei Light"/>
                <a:cs typeface="Microsoft YaHei Light"/>
              </a:rPr>
              <a:t>messageType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8097" y="832682"/>
            <a:ext cx="889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865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方</a:t>
            </a:r>
            <a:r>
              <a:rPr dirty="0" sz="1200" spc="-50" b="0">
                <a:latin typeface="Microsoft YaHei Light"/>
                <a:cs typeface="Microsoft YaHei Light"/>
              </a:rPr>
              <a:t>向</a:t>
            </a:r>
            <a:r>
              <a:rPr dirty="0" sz="1200" b="0">
                <a:latin typeface="Microsoft YaHei Light"/>
                <a:cs typeface="Microsoft YaHei Light"/>
              </a:rPr>
              <a:t>	说</a:t>
            </a:r>
            <a:r>
              <a:rPr dirty="0" sz="1200" spc="-50" b="0">
                <a:latin typeface="Microsoft YaHei Light"/>
                <a:cs typeface="Microsoft YaHei Light"/>
              </a:rPr>
              <a:t>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70497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字段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39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96825" y="3893144"/>
            <a:ext cx="5766435" cy="1365885"/>
            <a:chOff x="896825" y="3893144"/>
            <a:chExt cx="5766435" cy="1365885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3896319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5">
                  <a:moveTo>
                    <a:pt x="5712374" y="1359299"/>
                  </a:move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0000" y="3896319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5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87300" y="2857300"/>
            <a:ext cx="5762625" cy="2281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430">
              <a:lnSpc>
                <a:spcPct val="127800"/>
              </a:lnSpc>
              <a:spcBef>
                <a:spcPts val="100"/>
              </a:spcBef>
            </a:pPr>
            <a:r>
              <a:rPr dirty="0" sz="1200" b="0">
                <a:latin typeface="Microsoft YaHei Light"/>
                <a:cs typeface="Microsoft YaHei Light"/>
              </a:rPr>
              <a:t>走子结果广播规则（老师原文</a:t>
            </a:r>
            <a:r>
              <a:rPr dirty="0" sz="1200" spc="-595" b="0">
                <a:latin typeface="Microsoft YaHei Light"/>
                <a:cs typeface="Microsoft YaHei Light"/>
              </a:rPr>
              <a:t>）</a:t>
            </a:r>
            <a:r>
              <a:rPr dirty="0" sz="1200" spc="5" b="0">
                <a:latin typeface="Microsoft YaHei Light"/>
                <a:cs typeface="Microsoft YaHei Light"/>
              </a:rPr>
              <a:t>：</a:t>
            </a:r>
            <a:r>
              <a:rPr dirty="0" sz="1050" spc="5">
                <a:latin typeface="Consolas"/>
                <a:cs typeface="Consolas"/>
              </a:rPr>
              <a:t>valid=true</a:t>
            </a:r>
            <a:r>
              <a:rPr dirty="0" sz="1050" spc="-8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时向双方广播；</a:t>
            </a:r>
            <a:r>
              <a:rPr dirty="0" sz="1050">
                <a:latin typeface="Consolas"/>
                <a:cs typeface="Consolas"/>
              </a:rPr>
              <a:t>valid=false</a:t>
            </a:r>
            <a:r>
              <a:rPr dirty="0" sz="1050" spc="-80">
                <a:latin typeface="Consolas"/>
                <a:cs typeface="Consolas"/>
              </a:rPr>
              <a:t> </a:t>
            </a:r>
            <a:r>
              <a:rPr dirty="0" sz="1200" spc="-10" b="0">
                <a:latin typeface="Microsoft YaHei Light"/>
                <a:cs typeface="Microsoft YaHei Light"/>
              </a:rPr>
              <a:t>时仅回复发</a:t>
            </a:r>
            <a:r>
              <a:rPr dirty="0" sz="1200" spc="-20" b="0">
                <a:latin typeface="Microsoft YaHei Light"/>
                <a:cs typeface="Microsoft YaHei Light"/>
              </a:rPr>
              <a:t>送方。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50" b="0">
                <a:latin typeface="Microsoft YaHei Light"/>
                <a:cs typeface="Microsoft YaHei Light"/>
              </a:rPr>
              <a:t> 示例</a:t>
            </a:r>
            <a:r>
              <a:rPr dirty="0" sz="1200" spc="-40" b="0">
                <a:latin typeface="Microsoft YaHei Light"/>
                <a:cs typeface="Microsoft YaHei Light"/>
              </a:rPr>
              <a:t>（S→C）</a:t>
            </a:r>
            <a:r>
              <a:rPr dirty="0" sz="1200" spc="-15" b="0">
                <a:latin typeface="Microsoft YaHei Light"/>
                <a:cs typeface="Microsoft YaHei Light"/>
              </a:rPr>
              <a:t>：以下每条消息单独成框；</a:t>
            </a:r>
            <a:r>
              <a:rPr dirty="0" sz="1050">
                <a:latin typeface="Consolas"/>
                <a:cs typeface="Consolas"/>
              </a:rPr>
              <a:t>raw</a:t>
            </a:r>
            <a:r>
              <a:rPr dirty="0" sz="1050" spc="-55">
                <a:latin typeface="Consolas"/>
                <a:cs typeface="Consolas"/>
              </a:rPr>
              <a:t> </a:t>
            </a:r>
            <a:r>
              <a:rPr dirty="0" sz="1200" spc="20" b="0">
                <a:latin typeface="Microsoft YaHei Light"/>
                <a:cs typeface="Microsoft YaHei Light"/>
              </a:rPr>
              <a:t>不换行会导致长 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10" b="0">
                <a:latin typeface="Microsoft YaHei Light"/>
                <a:cs typeface="Microsoft YaHei Light"/>
              </a:rPr>
              <a:t> 撑破灰框，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故采用可换行等宽文本。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1100" spc="40" b="0">
                <a:solidFill>
                  <a:srgbClr val="334155"/>
                </a:solidFill>
                <a:latin typeface="Microsoft YaHei Light"/>
                <a:cs typeface="Microsoft YaHei Light"/>
              </a:rPr>
              <a:t>loginResult</a:t>
            </a:r>
            <a:endParaRPr sz="11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376682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"loginResult", </a:t>
            </a:r>
            <a:r>
              <a:rPr dirty="0" sz="900">
                <a:latin typeface="Consolas"/>
                <a:cs typeface="Consolas"/>
              </a:rPr>
              <a:t>"success": </a:t>
            </a:r>
            <a:r>
              <a:rPr dirty="0" sz="900" spc="-10">
                <a:latin typeface="Consolas"/>
                <a:cs typeface="Consolas"/>
              </a:rPr>
              <a:t>true,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"message": </a:t>
            </a:r>
            <a:r>
              <a:rPr dirty="0" sz="900" spc="-10">
                <a:latin typeface="Consolas"/>
                <a:cs typeface="Consolas"/>
              </a:rPr>
              <a:t>"ok",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"userId": </a:t>
            </a:r>
            <a:r>
              <a:rPr dirty="0" sz="900" spc="-20">
                <a:latin typeface="Consolas"/>
                <a:cs typeface="Consolas"/>
              </a:rPr>
              <a:t>"u1"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96825" y="5404844"/>
            <a:ext cx="5766435" cy="1391285"/>
            <a:chOff x="896825" y="5404844"/>
            <a:chExt cx="5766435" cy="1391285"/>
          </a:xfrm>
        </p:grpSpPr>
        <p:sp>
          <p:nvSpPr>
            <p:cNvPr id="12" name="object 12" descr=""/>
            <p:cNvSpPr/>
            <p:nvPr/>
          </p:nvSpPr>
          <p:spPr>
            <a:xfrm>
              <a:off x="900000" y="5408019"/>
              <a:ext cx="5760085" cy="1384935"/>
            </a:xfrm>
            <a:custGeom>
              <a:avLst/>
              <a:gdLst/>
              <a:ahLst/>
              <a:cxnLst/>
              <a:rect l="l" t="t" r="r" b="b"/>
              <a:pathLst>
                <a:path w="5760084" h="1384934">
                  <a:moveTo>
                    <a:pt x="5712374" y="1384581"/>
                  </a:moveTo>
                  <a:lnTo>
                    <a:pt x="47625" y="1384581"/>
                  </a:lnTo>
                  <a:lnTo>
                    <a:pt x="29087" y="1380838"/>
                  </a:lnTo>
                  <a:lnTo>
                    <a:pt x="13949" y="1370632"/>
                  </a:lnTo>
                  <a:lnTo>
                    <a:pt x="3742" y="1355494"/>
                  </a:lnTo>
                  <a:lnTo>
                    <a:pt x="0" y="133695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36956"/>
                  </a:lnTo>
                  <a:lnTo>
                    <a:pt x="5756257" y="1355494"/>
                  </a:lnTo>
                  <a:lnTo>
                    <a:pt x="5746050" y="1370632"/>
                  </a:lnTo>
                  <a:lnTo>
                    <a:pt x="5730912" y="1380838"/>
                  </a:lnTo>
                  <a:lnTo>
                    <a:pt x="5712374" y="138458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00000" y="5408019"/>
              <a:ext cx="5760085" cy="1384935"/>
            </a:xfrm>
            <a:custGeom>
              <a:avLst/>
              <a:gdLst/>
              <a:ahLst/>
              <a:cxnLst/>
              <a:rect l="l" t="t" r="r" b="b"/>
              <a:pathLst>
                <a:path w="5760084" h="1384934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36956"/>
                  </a:lnTo>
                  <a:lnTo>
                    <a:pt x="5756257" y="1355494"/>
                  </a:lnTo>
                  <a:lnTo>
                    <a:pt x="5746050" y="1370632"/>
                  </a:lnTo>
                  <a:lnTo>
                    <a:pt x="5730912" y="1380838"/>
                  </a:lnTo>
                  <a:lnTo>
                    <a:pt x="5712374" y="1384581"/>
                  </a:lnTo>
                  <a:lnTo>
                    <a:pt x="47625" y="1384581"/>
                  </a:lnTo>
                  <a:lnTo>
                    <a:pt x="29087" y="1380838"/>
                  </a:lnTo>
                  <a:lnTo>
                    <a:pt x="13949" y="1370632"/>
                  </a:lnTo>
                  <a:lnTo>
                    <a:pt x="3742" y="1355494"/>
                  </a:lnTo>
                  <a:lnTo>
                    <a:pt x="0" y="133695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10149" y="5503517"/>
            <a:ext cx="5739765" cy="1172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matchSuccess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703954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"matchSuccess", </a:t>
            </a:r>
            <a:r>
              <a:rPr dirty="0" sz="900">
                <a:latin typeface="Consolas"/>
                <a:cs typeface="Consolas"/>
              </a:rPr>
              <a:t>"roomId": </a:t>
            </a:r>
            <a:r>
              <a:rPr dirty="0" sz="900" spc="-10">
                <a:latin typeface="Consolas"/>
                <a:cs typeface="Consolas"/>
              </a:rPr>
              <a:t>"room_123", </a:t>
            </a:r>
            <a:r>
              <a:rPr dirty="0" sz="900">
                <a:latin typeface="Consolas"/>
                <a:cs typeface="Consolas"/>
              </a:rPr>
              <a:t>"opponentId": </a:t>
            </a:r>
            <a:r>
              <a:rPr dirty="0" sz="900" spc="-10">
                <a:latin typeface="Consolas"/>
                <a:cs typeface="Consolas"/>
              </a:rPr>
              <a:t>"user456",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250"/>
              </a:spcBef>
            </a:pPr>
            <a:r>
              <a:rPr dirty="0" sz="900">
                <a:latin typeface="Consolas"/>
                <a:cs typeface="Consolas"/>
              </a:rPr>
              <a:t>"opponentNickname": "</a:t>
            </a:r>
            <a:r>
              <a:rPr dirty="0" sz="900">
                <a:latin typeface="Microsoft JhengHei"/>
                <a:cs typeface="Microsoft JhengHei"/>
              </a:rPr>
              <a:t>象棋高手</a:t>
            </a:r>
            <a:r>
              <a:rPr dirty="0" sz="900" spc="-50">
                <a:latin typeface="Consolas"/>
                <a:cs typeface="Consolas"/>
              </a:rPr>
              <a:t>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96825" y="6941825"/>
            <a:ext cx="5766435" cy="1078230"/>
            <a:chOff x="896825" y="6941825"/>
            <a:chExt cx="5766435" cy="1078230"/>
          </a:xfrm>
        </p:grpSpPr>
        <p:sp>
          <p:nvSpPr>
            <p:cNvPr id="16" name="object 16" descr=""/>
            <p:cNvSpPr/>
            <p:nvPr/>
          </p:nvSpPr>
          <p:spPr>
            <a:xfrm>
              <a:off x="900000" y="6945000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5712374" y="1071678"/>
                  </a:move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00000" y="6945000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10149" y="7040498"/>
            <a:ext cx="5739765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roomInfo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95541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"roomInfo", </a:t>
            </a:r>
            <a:r>
              <a:rPr dirty="0" sz="900">
                <a:latin typeface="Consolas"/>
                <a:cs typeface="Consolas"/>
              </a:rPr>
              <a:t>"opponentReady":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96825" y="8165903"/>
            <a:ext cx="5766435" cy="1653539"/>
            <a:chOff x="896825" y="8165903"/>
            <a:chExt cx="5766435" cy="1653539"/>
          </a:xfrm>
        </p:grpSpPr>
        <p:sp>
          <p:nvSpPr>
            <p:cNvPr id="20" name="object 20" descr=""/>
            <p:cNvSpPr/>
            <p:nvPr/>
          </p:nvSpPr>
          <p:spPr>
            <a:xfrm>
              <a:off x="900000" y="8169078"/>
              <a:ext cx="5760085" cy="1647189"/>
            </a:xfrm>
            <a:custGeom>
              <a:avLst/>
              <a:gdLst/>
              <a:ahLst/>
              <a:cxnLst/>
              <a:rect l="l" t="t" r="r" b="b"/>
              <a:pathLst>
                <a:path w="5760084" h="1647190">
                  <a:moveTo>
                    <a:pt x="5712374" y="1646920"/>
                  </a:moveTo>
                  <a:lnTo>
                    <a:pt x="47625" y="1646920"/>
                  </a:lnTo>
                  <a:lnTo>
                    <a:pt x="29087" y="1643177"/>
                  </a:lnTo>
                  <a:lnTo>
                    <a:pt x="13949" y="1632971"/>
                  </a:lnTo>
                  <a:lnTo>
                    <a:pt x="3742" y="1617832"/>
                  </a:lnTo>
                  <a:lnTo>
                    <a:pt x="0" y="1599295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99295"/>
                  </a:lnTo>
                  <a:lnTo>
                    <a:pt x="5756257" y="1617832"/>
                  </a:lnTo>
                  <a:lnTo>
                    <a:pt x="5746050" y="1632971"/>
                  </a:lnTo>
                  <a:lnTo>
                    <a:pt x="5730912" y="1643177"/>
                  </a:lnTo>
                  <a:lnTo>
                    <a:pt x="5712374" y="164692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00000" y="8169078"/>
              <a:ext cx="5760085" cy="1647189"/>
            </a:xfrm>
            <a:custGeom>
              <a:avLst/>
              <a:gdLst/>
              <a:ahLst/>
              <a:cxnLst/>
              <a:rect l="l" t="t" r="r" b="b"/>
              <a:pathLst>
                <a:path w="5760084" h="164719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99295"/>
                  </a:lnTo>
                  <a:lnTo>
                    <a:pt x="5756257" y="1617832"/>
                  </a:lnTo>
                  <a:lnTo>
                    <a:pt x="5746050" y="1632971"/>
                  </a:lnTo>
                  <a:lnTo>
                    <a:pt x="5730912" y="1643177"/>
                  </a:lnTo>
                  <a:lnTo>
                    <a:pt x="5712374" y="1646920"/>
                  </a:lnTo>
                  <a:lnTo>
                    <a:pt x="47625" y="1646920"/>
                  </a:lnTo>
                  <a:lnTo>
                    <a:pt x="29087" y="1643177"/>
                  </a:lnTo>
                  <a:lnTo>
                    <a:pt x="13949" y="1632971"/>
                  </a:lnTo>
                  <a:lnTo>
                    <a:pt x="3742" y="1617832"/>
                  </a:lnTo>
                  <a:lnTo>
                    <a:pt x="0" y="1599295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910149" y="8264576"/>
            <a:ext cx="5739765" cy="143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gameStart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89255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"gameStart", </a:t>
            </a:r>
            <a:r>
              <a:rPr dirty="0" sz="900">
                <a:latin typeface="Consolas"/>
                <a:cs typeface="Consolas"/>
              </a:rPr>
              <a:t>"redPlayerId": </a:t>
            </a:r>
            <a:r>
              <a:rPr dirty="0" sz="900" spc="-10">
                <a:latin typeface="Consolas"/>
                <a:cs typeface="Consolas"/>
              </a:rPr>
              <a:t>"user123", </a:t>
            </a:r>
            <a:r>
              <a:rPr dirty="0" sz="900">
                <a:latin typeface="Consolas"/>
                <a:cs typeface="Consolas"/>
              </a:rPr>
              <a:t>"blackPlayerId": </a:t>
            </a:r>
            <a:r>
              <a:rPr dirty="0" sz="900" spc="-10">
                <a:latin typeface="Consolas"/>
                <a:cs typeface="Consolas"/>
              </a:rPr>
              <a:t>"user456", </a:t>
            </a:r>
            <a:r>
              <a:rPr dirty="0" sz="900">
                <a:latin typeface="Consolas"/>
                <a:cs typeface="Consolas"/>
              </a:rPr>
              <a:t>"yourColor": </a:t>
            </a:r>
            <a:r>
              <a:rPr dirty="0" sz="900" spc="-10">
                <a:latin typeface="Consolas"/>
                <a:cs typeface="Consolas"/>
              </a:rPr>
              <a:t>"red", </a:t>
            </a:r>
            <a:r>
              <a:rPr dirty="0" sz="900">
                <a:latin typeface="Consolas"/>
                <a:cs typeface="Consolas"/>
              </a:rPr>
              <a:t>"firstHand": </a:t>
            </a:r>
            <a:r>
              <a:rPr dirty="0" sz="900" spc="-10">
                <a:latin typeface="Consolas"/>
                <a:cs typeface="Consolas"/>
              </a:rPr>
              <a:t>true, </a:t>
            </a:r>
            <a:r>
              <a:rPr dirty="0" sz="900">
                <a:latin typeface="Consolas"/>
                <a:cs typeface="Consolas"/>
              </a:rPr>
              <a:t>"initialBoard": </a:t>
            </a:r>
            <a:r>
              <a:rPr dirty="0" sz="900" spc="-50">
                <a:latin typeface="Consolas"/>
                <a:cs typeface="Consolas"/>
              </a:rPr>
              <a:t>[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788827"/>
            <a:ext cx="5766435" cy="1247140"/>
            <a:chOff x="896825" y="788827"/>
            <a:chExt cx="5766435" cy="124714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1240790"/>
            </a:xfrm>
            <a:custGeom>
              <a:avLst/>
              <a:gdLst/>
              <a:ahLst/>
              <a:cxnLst/>
              <a:rect l="l" t="t" r="r" b="b"/>
              <a:pathLst>
                <a:path w="5760084" h="1240789">
                  <a:moveTo>
                    <a:pt x="5712374" y="1240606"/>
                  </a:moveTo>
                  <a:lnTo>
                    <a:pt x="47625" y="1240606"/>
                  </a:lnTo>
                  <a:lnTo>
                    <a:pt x="29087" y="1236864"/>
                  </a:lnTo>
                  <a:lnTo>
                    <a:pt x="13949" y="1226657"/>
                  </a:lnTo>
                  <a:lnTo>
                    <a:pt x="3742" y="1211519"/>
                  </a:lnTo>
                  <a:lnTo>
                    <a:pt x="0" y="119298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192981"/>
                  </a:lnTo>
                  <a:lnTo>
                    <a:pt x="5756257" y="1211519"/>
                  </a:lnTo>
                  <a:lnTo>
                    <a:pt x="5746050" y="1226657"/>
                  </a:lnTo>
                  <a:lnTo>
                    <a:pt x="5730912" y="1236864"/>
                  </a:lnTo>
                  <a:lnTo>
                    <a:pt x="5712374" y="124060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792002"/>
              <a:ext cx="5760085" cy="1240790"/>
            </a:xfrm>
            <a:custGeom>
              <a:avLst/>
              <a:gdLst/>
              <a:ahLst/>
              <a:cxnLst/>
              <a:rect l="l" t="t" r="r" b="b"/>
              <a:pathLst>
                <a:path w="5760084" h="124078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192981"/>
                  </a:lnTo>
                  <a:lnTo>
                    <a:pt x="5756257" y="1211519"/>
                  </a:lnTo>
                  <a:lnTo>
                    <a:pt x="5746050" y="1226657"/>
                  </a:lnTo>
                  <a:lnTo>
                    <a:pt x="5730912" y="1236864"/>
                  </a:lnTo>
                  <a:lnTo>
                    <a:pt x="5712374" y="1240606"/>
                  </a:lnTo>
                  <a:lnTo>
                    <a:pt x="47625" y="1240606"/>
                  </a:lnTo>
                  <a:lnTo>
                    <a:pt x="29087" y="1236864"/>
                  </a:lnTo>
                  <a:lnTo>
                    <a:pt x="13949" y="1226657"/>
                  </a:lnTo>
                  <a:lnTo>
                    <a:pt x="3742" y="1211519"/>
                  </a:lnTo>
                  <a:lnTo>
                    <a:pt x="0" y="119298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0149" y="890347"/>
            <a:ext cx="5739765" cy="102552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42240" marR="5024120">
              <a:lnSpc>
                <a:spcPct val="104800"/>
              </a:lnSpc>
              <a:spcBef>
                <a:spcPts val="45"/>
              </a:spcBef>
            </a:pPr>
            <a:r>
              <a:rPr dirty="0" sz="900">
                <a:latin typeface="Consolas"/>
                <a:cs typeface="Consolas"/>
              </a:rPr>
              <a:t>"x":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"y": </a:t>
            </a:r>
            <a:r>
              <a:rPr dirty="0" sz="900" spc="-25">
                <a:latin typeface="Consolas"/>
                <a:cs typeface="Consolas"/>
              </a:rPr>
              <a:t>0,</a:t>
            </a:r>
            <a:endParaRPr sz="900">
              <a:latin typeface="Consolas"/>
              <a:cs typeface="Consolas"/>
            </a:endParaRPr>
          </a:p>
          <a:p>
            <a:pPr marL="142240" marR="458406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"piece": </a:t>
            </a:r>
            <a:r>
              <a:rPr dirty="0" sz="900" spc="-10">
                <a:latin typeface="Consolas"/>
                <a:cs typeface="Consolas"/>
              </a:rPr>
              <a:t>"rook", </a:t>
            </a:r>
            <a:r>
              <a:rPr dirty="0" sz="900">
                <a:latin typeface="Consolas"/>
                <a:cs typeface="Consolas"/>
              </a:rPr>
              <a:t>"visible": </a:t>
            </a:r>
            <a:r>
              <a:rPr dirty="0" sz="900" spc="-10">
                <a:latin typeface="Consolas"/>
                <a:cs typeface="Consolas"/>
              </a:rPr>
              <a:t>false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96825" y="2181834"/>
            <a:ext cx="5766435" cy="2372360"/>
            <a:chOff x="896825" y="2181834"/>
            <a:chExt cx="5766435" cy="2372360"/>
          </a:xfrm>
        </p:grpSpPr>
        <p:sp>
          <p:nvSpPr>
            <p:cNvPr id="7" name="object 7" descr=""/>
            <p:cNvSpPr/>
            <p:nvPr/>
          </p:nvSpPr>
          <p:spPr>
            <a:xfrm>
              <a:off x="900000" y="2185009"/>
              <a:ext cx="5760085" cy="2366010"/>
            </a:xfrm>
            <a:custGeom>
              <a:avLst/>
              <a:gdLst/>
              <a:ahLst/>
              <a:cxnLst/>
              <a:rect l="l" t="t" r="r" b="b"/>
              <a:pathLst>
                <a:path w="5760084" h="2366010">
                  <a:moveTo>
                    <a:pt x="5712374" y="2365972"/>
                  </a:moveTo>
                  <a:lnTo>
                    <a:pt x="47625" y="2365972"/>
                  </a:lnTo>
                  <a:lnTo>
                    <a:pt x="29087" y="2362229"/>
                  </a:lnTo>
                  <a:lnTo>
                    <a:pt x="13949" y="2352022"/>
                  </a:lnTo>
                  <a:lnTo>
                    <a:pt x="3742" y="2336884"/>
                  </a:lnTo>
                  <a:lnTo>
                    <a:pt x="0" y="231834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2318347"/>
                  </a:lnTo>
                  <a:lnTo>
                    <a:pt x="5756257" y="2336884"/>
                  </a:lnTo>
                  <a:lnTo>
                    <a:pt x="5746050" y="2352022"/>
                  </a:lnTo>
                  <a:lnTo>
                    <a:pt x="5730912" y="2362229"/>
                  </a:lnTo>
                  <a:lnTo>
                    <a:pt x="5712374" y="2365972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00000" y="2185009"/>
              <a:ext cx="5760085" cy="2366010"/>
            </a:xfrm>
            <a:custGeom>
              <a:avLst/>
              <a:gdLst/>
              <a:ahLst/>
              <a:cxnLst/>
              <a:rect l="l" t="t" r="r" b="b"/>
              <a:pathLst>
                <a:path w="5760084" h="236601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2318347"/>
                  </a:lnTo>
                  <a:lnTo>
                    <a:pt x="5756257" y="2336884"/>
                  </a:lnTo>
                  <a:lnTo>
                    <a:pt x="5746050" y="2352022"/>
                  </a:lnTo>
                  <a:lnTo>
                    <a:pt x="5730912" y="2362229"/>
                  </a:lnTo>
                  <a:lnTo>
                    <a:pt x="5712374" y="2365972"/>
                  </a:lnTo>
                  <a:lnTo>
                    <a:pt x="47625" y="2365972"/>
                  </a:lnTo>
                  <a:lnTo>
                    <a:pt x="29087" y="2362229"/>
                  </a:lnTo>
                  <a:lnTo>
                    <a:pt x="13949" y="2352022"/>
                  </a:lnTo>
                  <a:lnTo>
                    <a:pt x="3742" y="2336884"/>
                  </a:lnTo>
                  <a:lnTo>
                    <a:pt x="0" y="231834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10149" y="2280508"/>
            <a:ext cx="5739765" cy="2153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moveResult（valid=true，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双方广播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82968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"moveResult", </a:t>
            </a:r>
            <a:r>
              <a:rPr dirty="0" sz="900">
                <a:latin typeface="Consolas"/>
                <a:cs typeface="Consolas"/>
              </a:rPr>
              <a:t>"success": </a:t>
            </a:r>
            <a:r>
              <a:rPr dirty="0" sz="900" spc="-10">
                <a:latin typeface="Consolas"/>
                <a:cs typeface="Consolas"/>
              </a:rPr>
              <a:t>true,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"valid": </a:t>
            </a:r>
            <a:r>
              <a:rPr dirty="0" sz="900" spc="-10">
                <a:latin typeface="Consolas"/>
                <a:cs typeface="Consolas"/>
              </a:rPr>
              <a:t>true,</a:t>
            </a:r>
            <a:endParaRPr sz="900">
              <a:latin typeface="Consolas"/>
              <a:cs typeface="Consolas"/>
            </a:endParaRPr>
          </a:p>
          <a:p>
            <a:pPr marL="142240" marR="477266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"move": </a:t>
            </a:r>
            <a:r>
              <a:rPr dirty="0" sz="900" spc="-50">
                <a:latin typeface="Consolas"/>
                <a:cs typeface="Consolas"/>
              </a:rPr>
              <a:t>{ </a:t>
            </a:r>
            <a:r>
              <a:rPr dirty="0" sz="900">
                <a:latin typeface="Consolas"/>
                <a:cs typeface="Consolas"/>
              </a:rPr>
              <a:t>"fromX":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"fromY": </a:t>
            </a:r>
            <a:r>
              <a:rPr dirty="0" sz="900" spc="-25">
                <a:latin typeface="Consolas"/>
                <a:cs typeface="Consolas"/>
              </a:rPr>
              <a:t>0, </a:t>
            </a:r>
            <a:r>
              <a:rPr dirty="0" sz="900">
                <a:latin typeface="Consolas"/>
                <a:cs typeface="Consolas"/>
              </a:rPr>
              <a:t>"toX":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"toY": </a:t>
            </a:r>
            <a:r>
              <a:rPr dirty="0" sz="900" spc="-25">
                <a:latin typeface="Consolas"/>
                <a:cs typeface="Consolas"/>
              </a:rPr>
              <a:t>1,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"isFlip":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 spc="-25">
                <a:latin typeface="Consolas"/>
                <a:cs typeface="Consolas"/>
              </a:rPr>
              <a:t>},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"flipResult": </a:t>
            </a:r>
            <a:r>
              <a:rPr dirty="0" sz="900" spc="-10">
                <a:latin typeface="Consolas"/>
                <a:cs typeface="Consolas"/>
              </a:rPr>
              <a:t>"cannon"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96825" y="4700206"/>
            <a:ext cx="5766435" cy="1365885"/>
            <a:chOff x="896825" y="4700206"/>
            <a:chExt cx="5766435" cy="1365885"/>
          </a:xfrm>
        </p:grpSpPr>
        <p:sp>
          <p:nvSpPr>
            <p:cNvPr id="11" name="object 11" descr=""/>
            <p:cNvSpPr/>
            <p:nvPr/>
          </p:nvSpPr>
          <p:spPr>
            <a:xfrm>
              <a:off x="900000" y="4703381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5">
                  <a:moveTo>
                    <a:pt x="5712374" y="1359299"/>
                  </a:move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00000" y="4703381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5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10149" y="4798879"/>
            <a:ext cx="5739765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timeout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4018279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"timeout", </a:t>
            </a:r>
            <a:r>
              <a:rPr dirty="0" sz="900">
                <a:latin typeface="Consolas"/>
                <a:cs typeface="Consolas"/>
              </a:rPr>
              <a:t>"loserId": </a:t>
            </a:r>
            <a:r>
              <a:rPr dirty="0" sz="900" spc="-10">
                <a:latin typeface="Consolas"/>
                <a:cs typeface="Consolas"/>
              </a:rPr>
              <a:t>"user123", </a:t>
            </a:r>
            <a:r>
              <a:rPr dirty="0" sz="900">
                <a:latin typeface="Consolas"/>
                <a:cs typeface="Consolas"/>
              </a:rPr>
              <a:t>"winnerId": </a:t>
            </a:r>
            <a:r>
              <a:rPr dirty="0" sz="900" spc="-10">
                <a:latin typeface="Consolas"/>
                <a:cs typeface="Consolas"/>
              </a:rPr>
              <a:t>"user456", </a:t>
            </a:r>
            <a:r>
              <a:rPr dirty="0" sz="900">
                <a:latin typeface="Consolas"/>
                <a:cs typeface="Consolas"/>
              </a:rPr>
              <a:t>"reason": </a:t>
            </a:r>
            <a:r>
              <a:rPr dirty="0" sz="900" spc="-10">
                <a:latin typeface="Consolas"/>
                <a:cs typeface="Consolas"/>
              </a:rPr>
              <a:t>"timeout"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96825" y="6211906"/>
            <a:ext cx="5766435" cy="1365885"/>
            <a:chOff x="896825" y="6211906"/>
            <a:chExt cx="5766435" cy="1365885"/>
          </a:xfrm>
        </p:grpSpPr>
        <p:sp>
          <p:nvSpPr>
            <p:cNvPr id="15" name="object 15" descr=""/>
            <p:cNvSpPr/>
            <p:nvPr/>
          </p:nvSpPr>
          <p:spPr>
            <a:xfrm>
              <a:off x="900000" y="6215081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4">
                  <a:moveTo>
                    <a:pt x="5712374" y="1359299"/>
                  </a:move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0000" y="6215081"/>
              <a:ext cx="5760085" cy="1359535"/>
            </a:xfrm>
            <a:custGeom>
              <a:avLst/>
              <a:gdLst/>
              <a:ahLst/>
              <a:cxnLst/>
              <a:rect l="l" t="t" r="r" b="b"/>
              <a:pathLst>
                <a:path w="5760084" h="1359534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311674"/>
                  </a:lnTo>
                  <a:lnTo>
                    <a:pt x="5756257" y="1330212"/>
                  </a:lnTo>
                  <a:lnTo>
                    <a:pt x="5746050" y="1345350"/>
                  </a:lnTo>
                  <a:lnTo>
                    <a:pt x="5730912" y="1355556"/>
                  </a:lnTo>
                  <a:lnTo>
                    <a:pt x="5712374" y="1359299"/>
                  </a:lnTo>
                  <a:lnTo>
                    <a:pt x="47625" y="1359299"/>
                  </a:lnTo>
                  <a:lnTo>
                    <a:pt x="29087" y="1355556"/>
                  </a:lnTo>
                  <a:lnTo>
                    <a:pt x="13949" y="1345350"/>
                  </a:lnTo>
                  <a:lnTo>
                    <a:pt x="3742" y="1330212"/>
                  </a:lnTo>
                  <a:lnTo>
                    <a:pt x="0" y="131167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10149" y="6310579"/>
            <a:ext cx="5739765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gameOver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95541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"gameOver", </a:t>
            </a:r>
            <a:r>
              <a:rPr dirty="0" sz="900">
                <a:latin typeface="Consolas"/>
                <a:cs typeface="Consolas"/>
              </a:rPr>
              <a:t>"winner": </a:t>
            </a:r>
            <a:r>
              <a:rPr dirty="0" sz="900" spc="-10">
                <a:latin typeface="Consolas"/>
                <a:cs typeface="Consolas"/>
              </a:rPr>
              <a:t>"red",</a:t>
            </a:r>
            <a:endParaRPr sz="900">
              <a:latin typeface="Consolas"/>
              <a:cs typeface="Consolas"/>
            </a:endParaRPr>
          </a:p>
          <a:p>
            <a:pPr marL="142240" marR="420687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"reason": </a:t>
            </a:r>
            <a:r>
              <a:rPr dirty="0" sz="900" spc="-10">
                <a:latin typeface="Consolas"/>
                <a:cs typeface="Consolas"/>
              </a:rPr>
              <a:t>"checkmate", </a:t>
            </a:r>
            <a:r>
              <a:rPr dirty="0" sz="900">
                <a:latin typeface="Consolas"/>
                <a:cs typeface="Consolas"/>
              </a:rPr>
              <a:t>"winnerId": </a:t>
            </a:r>
            <a:r>
              <a:rPr dirty="0" sz="900" spc="-10">
                <a:latin typeface="Consolas"/>
                <a:cs typeface="Consolas"/>
              </a:rPr>
              <a:t>"user123"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96825" y="7723605"/>
            <a:ext cx="5766435" cy="1078230"/>
            <a:chOff x="896825" y="7723605"/>
            <a:chExt cx="5766435" cy="1078230"/>
          </a:xfrm>
        </p:grpSpPr>
        <p:sp>
          <p:nvSpPr>
            <p:cNvPr id="19" name="object 19" descr=""/>
            <p:cNvSpPr/>
            <p:nvPr/>
          </p:nvSpPr>
          <p:spPr>
            <a:xfrm>
              <a:off x="900000" y="7726780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5712374" y="1071678"/>
                  </a:move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00000" y="7726780"/>
              <a:ext cx="5760085" cy="1071880"/>
            </a:xfrm>
            <a:custGeom>
              <a:avLst/>
              <a:gdLst/>
              <a:ahLst/>
              <a:cxnLst/>
              <a:rect l="l" t="t" r="r" b="b"/>
              <a:pathLst>
                <a:path w="5760084" h="10718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24053"/>
                  </a:lnTo>
                  <a:lnTo>
                    <a:pt x="5756257" y="1042591"/>
                  </a:lnTo>
                  <a:lnTo>
                    <a:pt x="5746050" y="1057729"/>
                  </a:lnTo>
                  <a:lnTo>
                    <a:pt x="5730912" y="1067935"/>
                  </a:lnTo>
                  <a:lnTo>
                    <a:pt x="5712374" y="1071678"/>
                  </a:lnTo>
                  <a:lnTo>
                    <a:pt x="47625" y="1071678"/>
                  </a:lnTo>
                  <a:lnTo>
                    <a:pt x="29087" y="1067935"/>
                  </a:lnTo>
                  <a:lnTo>
                    <a:pt x="13949" y="1057729"/>
                  </a:lnTo>
                  <a:lnTo>
                    <a:pt x="3742" y="1042591"/>
                  </a:lnTo>
                  <a:lnTo>
                    <a:pt x="0" y="102405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910149" y="7822278"/>
            <a:ext cx="5739765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pong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395541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"pong", </a:t>
            </a:r>
            <a:r>
              <a:rPr dirty="0" sz="900">
                <a:latin typeface="Consolas"/>
                <a:cs typeface="Consolas"/>
              </a:rPr>
              <a:t>"timestamp": </a:t>
            </a:r>
            <a:r>
              <a:rPr dirty="0" sz="900" spc="-10">
                <a:latin typeface="Consolas"/>
                <a:cs typeface="Consolas"/>
              </a:rPr>
              <a:t>1712345678901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96825" y="8947684"/>
            <a:ext cx="5766435" cy="934719"/>
            <a:chOff x="896825" y="8947684"/>
            <a:chExt cx="5766435" cy="934719"/>
          </a:xfrm>
        </p:grpSpPr>
        <p:sp>
          <p:nvSpPr>
            <p:cNvPr id="23" name="object 23" descr=""/>
            <p:cNvSpPr/>
            <p:nvPr/>
          </p:nvSpPr>
          <p:spPr>
            <a:xfrm>
              <a:off x="900000" y="8950859"/>
              <a:ext cx="5760085" cy="928369"/>
            </a:xfrm>
            <a:custGeom>
              <a:avLst/>
              <a:gdLst/>
              <a:ahLst/>
              <a:cxnLst/>
              <a:rect l="l" t="t" r="r" b="b"/>
              <a:pathLst>
                <a:path w="5760084" h="928370">
                  <a:moveTo>
                    <a:pt x="5712374" y="927868"/>
                  </a:moveTo>
                  <a:lnTo>
                    <a:pt x="47625" y="927868"/>
                  </a:lnTo>
                  <a:lnTo>
                    <a:pt x="29087" y="924125"/>
                  </a:lnTo>
                  <a:lnTo>
                    <a:pt x="13949" y="913919"/>
                  </a:lnTo>
                  <a:lnTo>
                    <a:pt x="3742" y="898780"/>
                  </a:lnTo>
                  <a:lnTo>
                    <a:pt x="0" y="88024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880243"/>
                  </a:lnTo>
                  <a:lnTo>
                    <a:pt x="5756257" y="898780"/>
                  </a:lnTo>
                  <a:lnTo>
                    <a:pt x="5746050" y="913919"/>
                  </a:lnTo>
                  <a:lnTo>
                    <a:pt x="5730912" y="924125"/>
                  </a:lnTo>
                  <a:lnTo>
                    <a:pt x="5712374" y="92786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00000" y="8950859"/>
              <a:ext cx="5760085" cy="928369"/>
            </a:xfrm>
            <a:custGeom>
              <a:avLst/>
              <a:gdLst/>
              <a:ahLst/>
              <a:cxnLst/>
              <a:rect l="l" t="t" r="r" b="b"/>
              <a:pathLst>
                <a:path w="5760084" h="92837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880243"/>
                  </a:lnTo>
                  <a:lnTo>
                    <a:pt x="5756257" y="898780"/>
                  </a:lnTo>
                  <a:lnTo>
                    <a:pt x="5746050" y="913919"/>
                  </a:lnTo>
                  <a:lnTo>
                    <a:pt x="5730912" y="924125"/>
                  </a:lnTo>
                  <a:lnTo>
                    <a:pt x="5712374" y="927868"/>
                  </a:lnTo>
                  <a:lnTo>
                    <a:pt x="47625" y="927868"/>
                  </a:lnTo>
                  <a:lnTo>
                    <a:pt x="29087" y="924125"/>
                  </a:lnTo>
                  <a:lnTo>
                    <a:pt x="13949" y="913919"/>
                  </a:lnTo>
                  <a:lnTo>
                    <a:pt x="3742" y="898780"/>
                  </a:lnTo>
                  <a:lnTo>
                    <a:pt x="0" y="88024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10149" y="9046357"/>
            <a:ext cx="5739765" cy="71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1100" spc="45" b="0">
                <a:solidFill>
                  <a:srgbClr val="334155"/>
                </a:solidFill>
                <a:latin typeface="Microsoft YaHei Light"/>
                <a:cs typeface="Microsoft YaHei Light"/>
              </a:rPr>
              <a:t>error</a:t>
            </a:r>
            <a:endParaRPr sz="1100">
              <a:latin typeface="Microsoft YaHei Light"/>
              <a:cs typeface="Microsoft YaHei Light"/>
            </a:endParaRPr>
          </a:p>
          <a:p>
            <a:pPr marL="142240">
              <a:lnSpc>
                <a:spcPct val="100000"/>
              </a:lnSpc>
              <a:spcBef>
                <a:spcPts val="77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42240" marR="414401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"error", </a:t>
            </a:r>
            <a:r>
              <a:rPr dirty="0" sz="900">
                <a:latin typeface="Consolas"/>
                <a:cs typeface="Consolas"/>
              </a:rPr>
              <a:t>"code": </a:t>
            </a:r>
            <a:r>
              <a:rPr dirty="0" sz="900" spc="-10">
                <a:latin typeface="Consolas"/>
                <a:cs typeface="Consolas"/>
              </a:rPr>
              <a:t>2001,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788827"/>
            <a:ext cx="5766435" cy="553720"/>
            <a:chOff x="896825" y="788827"/>
            <a:chExt cx="5766435" cy="55372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547370"/>
            </a:xfrm>
            <a:custGeom>
              <a:avLst/>
              <a:gdLst/>
              <a:ahLst/>
              <a:cxnLst/>
              <a:rect l="l" t="t" r="r" b="b"/>
              <a:pathLst>
                <a:path w="5760084" h="547369">
                  <a:moveTo>
                    <a:pt x="5712374" y="546836"/>
                  </a:moveTo>
                  <a:lnTo>
                    <a:pt x="47625" y="546836"/>
                  </a:lnTo>
                  <a:lnTo>
                    <a:pt x="29087" y="543094"/>
                  </a:lnTo>
                  <a:lnTo>
                    <a:pt x="13949" y="532887"/>
                  </a:lnTo>
                  <a:lnTo>
                    <a:pt x="3742" y="517749"/>
                  </a:lnTo>
                  <a:lnTo>
                    <a:pt x="0" y="49921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99211"/>
                  </a:lnTo>
                  <a:lnTo>
                    <a:pt x="5756257" y="517749"/>
                  </a:lnTo>
                  <a:lnTo>
                    <a:pt x="5746050" y="532887"/>
                  </a:lnTo>
                  <a:lnTo>
                    <a:pt x="5730912" y="543094"/>
                  </a:lnTo>
                  <a:lnTo>
                    <a:pt x="5712374" y="54683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792002"/>
              <a:ext cx="5760085" cy="547370"/>
            </a:xfrm>
            <a:custGeom>
              <a:avLst/>
              <a:gdLst/>
              <a:ahLst/>
              <a:cxnLst/>
              <a:rect l="l" t="t" r="r" b="b"/>
              <a:pathLst>
                <a:path w="5760084" h="54736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99211"/>
                  </a:lnTo>
                  <a:lnTo>
                    <a:pt x="5756257" y="517749"/>
                  </a:lnTo>
                  <a:lnTo>
                    <a:pt x="5746050" y="532887"/>
                  </a:lnTo>
                  <a:lnTo>
                    <a:pt x="5730912" y="543094"/>
                  </a:lnTo>
                  <a:lnTo>
                    <a:pt x="5712374" y="546836"/>
                  </a:lnTo>
                  <a:lnTo>
                    <a:pt x="47625" y="546836"/>
                  </a:lnTo>
                  <a:lnTo>
                    <a:pt x="29087" y="543094"/>
                  </a:lnTo>
                  <a:lnTo>
                    <a:pt x="13949" y="532887"/>
                  </a:lnTo>
                  <a:lnTo>
                    <a:pt x="3742" y="517749"/>
                  </a:lnTo>
                  <a:lnTo>
                    <a:pt x="0" y="49921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10149" y="915629"/>
            <a:ext cx="5739765" cy="306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onsolas"/>
                <a:cs typeface="Consolas"/>
              </a:rPr>
              <a:t>"message": "</a:t>
            </a:r>
            <a:r>
              <a:rPr dirty="0" sz="900">
                <a:latin typeface="Microsoft JhengHei"/>
                <a:cs typeface="Microsoft JhengHei"/>
              </a:rPr>
              <a:t>非法走子</a:t>
            </a:r>
            <a:r>
              <a:rPr dirty="0" sz="900" spc="-50">
                <a:latin typeface="Consolas"/>
                <a:cs typeface="Consolas"/>
              </a:rPr>
              <a:t>"</a:t>
            </a:r>
            <a:endParaRPr sz="900">
              <a:latin typeface="Consolas"/>
              <a:cs typeface="Consolas"/>
            </a:endParaRPr>
          </a:p>
          <a:p>
            <a:pPr marL="14224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197198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96825" y="2536370"/>
            <a:ext cx="5766435" cy="1103630"/>
            <a:chOff x="896825" y="2536370"/>
            <a:chExt cx="5766435" cy="1103630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2539545"/>
              <a:ext cx="5760085" cy="1097280"/>
            </a:xfrm>
            <a:custGeom>
              <a:avLst/>
              <a:gdLst/>
              <a:ahLst/>
              <a:cxnLst/>
              <a:rect l="l" t="t" r="r" b="b"/>
              <a:pathLst>
                <a:path w="5760084" h="1097279">
                  <a:moveTo>
                    <a:pt x="5712374" y="1096796"/>
                  </a:moveTo>
                  <a:lnTo>
                    <a:pt x="47625" y="1096796"/>
                  </a:lnTo>
                  <a:lnTo>
                    <a:pt x="29087" y="1093053"/>
                  </a:lnTo>
                  <a:lnTo>
                    <a:pt x="13949" y="1082847"/>
                  </a:lnTo>
                  <a:lnTo>
                    <a:pt x="3742" y="1067709"/>
                  </a:lnTo>
                  <a:lnTo>
                    <a:pt x="0" y="104917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49171"/>
                  </a:lnTo>
                  <a:lnTo>
                    <a:pt x="5756257" y="1067709"/>
                  </a:lnTo>
                  <a:lnTo>
                    <a:pt x="5746050" y="1082847"/>
                  </a:lnTo>
                  <a:lnTo>
                    <a:pt x="5730912" y="1093053"/>
                  </a:lnTo>
                  <a:lnTo>
                    <a:pt x="5712374" y="109679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0000" y="2539545"/>
              <a:ext cx="5760085" cy="1097280"/>
            </a:xfrm>
            <a:custGeom>
              <a:avLst/>
              <a:gdLst/>
              <a:ahLst/>
              <a:cxnLst/>
              <a:rect l="l" t="t" r="r" b="b"/>
              <a:pathLst>
                <a:path w="5760084" h="109727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049171"/>
                  </a:lnTo>
                  <a:lnTo>
                    <a:pt x="5756257" y="1067709"/>
                  </a:lnTo>
                  <a:lnTo>
                    <a:pt x="5746050" y="1082847"/>
                  </a:lnTo>
                  <a:lnTo>
                    <a:pt x="5730912" y="1093053"/>
                  </a:lnTo>
                  <a:lnTo>
                    <a:pt x="5712374" y="1096796"/>
                  </a:lnTo>
                  <a:lnTo>
                    <a:pt x="47625" y="1096796"/>
                  </a:lnTo>
                  <a:lnTo>
                    <a:pt x="29087" y="1093053"/>
                  </a:lnTo>
                  <a:lnTo>
                    <a:pt x="13949" y="1082847"/>
                  </a:lnTo>
                  <a:lnTo>
                    <a:pt x="3742" y="1067709"/>
                  </a:lnTo>
                  <a:lnTo>
                    <a:pt x="0" y="104917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87300" y="1521896"/>
            <a:ext cx="5762625" cy="199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450850" indent="-438150">
              <a:lnSpc>
                <a:spcPct val="100000"/>
              </a:lnSpc>
              <a:spcBef>
                <a:spcPts val="100"/>
              </a:spcBef>
              <a:buClr>
                <a:srgbClr val="1E40AF"/>
              </a:buClr>
              <a:buFont typeface="Microsoft YaHei Light"/>
              <a:buAutoNum type="arabicPeriod" startAt="6"/>
              <a:tabLst>
                <a:tab pos="450850" algn="l"/>
              </a:tabLst>
            </a:pP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公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共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数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据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结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构</a:t>
            </a:r>
            <a:r>
              <a:rPr dirty="0" sz="1500" spc="4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（§6.6）</a:t>
            </a:r>
            <a:endParaRPr sz="1500">
              <a:latin typeface="Microsoft YaHei Light"/>
              <a:cs typeface="Microsoft YaHei Ligh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1E40AF"/>
              </a:buClr>
              <a:buFont typeface="Microsoft YaHei Light"/>
              <a:buAutoNum type="arabicPeriod" startAt="6"/>
            </a:pPr>
            <a:endParaRPr sz="1400">
              <a:latin typeface="Microsoft YaHei Light"/>
              <a:cs typeface="Microsoft YaHei Light"/>
            </a:endParaRPr>
          </a:p>
          <a:p>
            <a:pPr lvl="2" marL="557530" indent="-544830">
              <a:lnSpc>
                <a:spcPct val="100000"/>
              </a:lnSpc>
              <a:buClr>
                <a:srgbClr val="334155"/>
              </a:buClr>
              <a:buFont typeface="Microsoft YaHei Light"/>
              <a:buAutoNum type="arabicPeriod"/>
              <a:tabLst>
                <a:tab pos="557530" algn="l"/>
              </a:tabLst>
            </a:pPr>
            <a:r>
              <a:rPr dirty="0" sz="1300" spc="90" b="0">
                <a:solidFill>
                  <a:srgbClr val="334155"/>
                </a:solidFill>
                <a:latin typeface="Microsoft YaHei Light"/>
                <a:cs typeface="Microsoft YaHei Light"/>
              </a:rPr>
              <a:t>initialBoard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110" b="0">
                <a:latin typeface="Microsoft YaHei Light"/>
                <a:cs typeface="Microsoft YaHei Light"/>
              </a:rPr>
              <a:t>棋盘为 </a:t>
            </a:r>
            <a:r>
              <a:rPr dirty="0" sz="1200" b="0">
                <a:latin typeface="Microsoft YaHei Light"/>
                <a:cs typeface="Microsoft YaHei Light"/>
              </a:rPr>
              <a:t>9×10，</a:t>
            </a:r>
            <a:r>
              <a:rPr dirty="0" sz="1200" b="0">
                <a:latin typeface="Microsoft YaHei Light"/>
                <a:cs typeface="Microsoft YaHei Light"/>
              </a:rPr>
              <a:t>每</a:t>
            </a:r>
            <a:r>
              <a:rPr dirty="0" sz="1200" b="0">
                <a:latin typeface="Microsoft YaHei Light"/>
                <a:cs typeface="Microsoft YaHei Light"/>
              </a:rPr>
              <a:t>格</a:t>
            </a:r>
            <a:r>
              <a:rPr dirty="0" sz="1200" b="0">
                <a:latin typeface="Microsoft YaHei Light"/>
                <a:cs typeface="Microsoft YaHei Light"/>
              </a:rPr>
              <a:t>一</a:t>
            </a:r>
            <a:r>
              <a:rPr dirty="0" sz="1200" b="0">
                <a:latin typeface="Microsoft YaHei Light"/>
                <a:cs typeface="Microsoft YaHei Light"/>
              </a:rPr>
              <a:t>个</a:t>
            </a:r>
            <a:r>
              <a:rPr dirty="0" sz="1200" b="0">
                <a:latin typeface="Microsoft YaHei Light"/>
                <a:cs typeface="Microsoft YaHei Light"/>
              </a:rPr>
              <a:t>对</a:t>
            </a:r>
            <a:r>
              <a:rPr dirty="0" sz="1200" b="0">
                <a:latin typeface="Microsoft YaHei Light"/>
                <a:cs typeface="Microsoft YaHei Light"/>
              </a:rPr>
              <a:t>象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b="0">
                <a:latin typeface="Microsoft YaHei Light"/>
                <a:cs typeface="Microsoft YaHei Light"/>
              </a:rPr>
              <a:t>仅</a:t>
            </a:r>
            <a:r>
              <a:rPr dirty="0" sz="1200" b="0">
                <a:latin typeface="Microsoft YaHei Light"/>
                <a:cs typeface="Microsoft YaHei Light"/>
              </a:rPr>
              <a:t>包</a:t>
            </a:r>
            <a:r>
              <a:rPr dirty="0" sz="1200" b="0">
                <a:latin typeface="Microsoft YaHei Light"/>
                <a:cs typeface="Microsoft YaHei Light"/>
              </a:rPr>
              <a:t>含</a:t>
            </a:r>
            <a:r>
              <a:rPr dirty="0" sz="1200" b="0">
                <a:latin typeface="Microsoft YaHei Light"/>
                <a:cs typeface="Microsoft YaHei Light"/>
              </a:rPr>
              <a:t>有</a:t>
            </a:r>
            <a:r>
              <a:rPr dirty="0" sz="1200" b="0">
                <a:latin typeface="Microsoft YaHei Light"/>
                <a:cs typeface="Microsoft YaHei Light"/>
              </a:rPr>
              <a:t>子</a:t>
            </a:r>
            <a:r>
              <a:rPr dirty="0" sz="1200" b="0">
                <a:latin typeface="Microsoft YaHei Light"/>
                <a:cs typeface="Microsoft YaHei Light"/>
              </a:rPr>
              <a:t>格</a:t>
            </a:r>
            <a:r>
              <a:rPr dirty="0" sz="1200" b="0">
                <a:latin typeface="Microsoft YaHei Light"/>
                <a:cs typeface="Microsoft YaHei Light"/>
              </a:rPr>
              <a:t>子</a:t>
            </a:r>
            <a:r>
              <a:rPr dirty="0" sz="1200" spc="-625" b="0">
                <a:latin typeface="Microsoft YaHei Light"/>
                <a:cs typeface="Microsoft YaHei Light"/>
              </a:rPr>
              <a:t>）</a:t>
            </a:r>
            <a:r>
              <a:rPr dirty="0" sz="1200" spc="-25" b="0">
                <a:latin typeface="Microsoft YaHei Light"/>
                <a:cs typeface="Microsoft YaHei Light"/>
              </a:rPr>
              <a:t>：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5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502412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"y": </a:t>
            </a:r>
            <a:r>
              <a:rPr dirty="0" sz="900" spc="-25">
                <a:latin typeface="Consolas"/>
                <a:cs typeface="Consolas"/>
              </a:rPr>
              <a:t>0,</a:t>
            </a:r>
            <a:endParaRPr sz="900">
              <a:latin typeface="Consolas"/>
              <a:cs typeface="Consolas"/>
            </a:endParaRPr>
          </a:p>
          <a:p>
            <a:pPr marL="165100" marR="458406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"piece": </a:t>
            </a:r>
            <a:r>
              <a:rPr dirty="0" sz="900" spc="-10">
                <a:latin typeface="Consolas"/>
                <a:cs typeface="Consolas"/>
              </a:rPr>
              <a:t>"rook", </a:t>
            </a:r>
            <a:r>
              <a:rPr dirty="0" sz="900">
                <a:latin typeface="Consolas"/>
                <a:cs typeface="Consolas"/>
              </a:rPr>
              <a:t>"visible": </a:t>
            </a:r>
            <a:r>
              <a:rPr dirty="0" sz="900" spc="-10">
                <a:latin typeface="Consolas"/>
                <a:cs typeface="Consolas"/>
              </a:rPr>
              <a:t>false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12</a:t>
            </a: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96825" y="3810212"/>
          <a:ext cx="4126865" cy="138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255"/>
                <a:gridCol w="787400"/>
                <a:gridCol w="1854199"/>
                <a:gridCol w="714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取值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x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155"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i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int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7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70">
                          <a:latin typeface="Consolas"/>
                          <a:cs typeface="Consolas"/>
                        </a:rPr>
                        <a:t>9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（0=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红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底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线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piece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50">
                          <a:latin typeface="Consolas"/>
                          <a:cs typeface="Consolas"/>
                        </a:rPr>
                        <a:t>king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050" spc="50">
                          <a:latin typeface="Consolas"/>
                          <a:cs typeface="Consolas"/>
                        </a:rPr>
                        <a:t>rook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/… 见 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§3.2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2288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visible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false=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暗子，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true=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明子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887300" y="5259600"/>
            <a:ext cx="5730240" cy="10096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00"/>
              </a:spcBef>
              <a:buChar char="•"/>
              <a:tabLst>
                <a:tab pos="165100" algn="l"/>
              </a:tabLst>
            </a:pPr>
            <a:r>
              <a:rPr dirty="0" sz="1200" spc="30" b="0">
                <a:latin typeface="Microsoft YaHei Light"/>
                <a:cs typeface="Microsoft YaHei Light"/>
              </a:rPr>
              <a:t>开局除将帅外 </a:t>
            </a:r>
            <a:r>
              <a:rPr dirty="0" sz="1050">
                <a:latin typeface="Consolas"/>
                <a:cs typeface="Consolas"/>
              </a:rPr>
              <a:t>visible=false</a:t>
            </a:r>
            <a:r>
              <a:rPr dirty="0" sz="1200" spc="20" b="0">
                <a:latin typeface="Microsoft YaHei Light"/>
                <a:cs typeface="Microsoft YaHei Light"/>
              </a:rPr>
              <a:t>；翻子后服务器写入真实 </a:t>
            </a:r>
            <a:r>
              <a:rPr dirty="0" sz="1050">
                <a:latin typeface="Consolas"/>
                <a:cs typeface="Consolas"/>
              </a:rPr>
              <a:t>piece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80" b="0">
                <a:latin typeface="Microsoft YaHei Light"/>
                <a:cs typeface="Microsoft YaHei Light"/>
              </a:rPr>
              <a:t>并设 </a:t>
            </a:r>
            <a:r>
              <a:rPr dirty="0" sz="1050">
                <a:latin typeface="Consolas"/>
                <a:cs typeface="Consolas"/>
              </a:rPr>
              <a:t>visible=true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flipResult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使用相同英文枚举（</a:t>
            </a:r>
            <a:r>
              <a:rPr dirty="0" sz="1200" spc="120" b="0">
                <a:latin typeface="Microsoft YaHei Light"/>
                <a:cs typeface="Microsoft YaHei Light"/>
              </a:rPr>
              <a:t>如 </a:t>
            </a:r>
            <a:r>
              <a:rPr dirty="0" sz="1050">
                <a:latin typeface="Consolas"/>
                <a:cs typeface="Consolas"/>
              </a:rPr>
              <a:t>"cannon"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服务器权威：客户端不可伪造翻子结果；</a:t>
            </a:r>
            <a:r>
              <a:rPr dirty="0" sz="1050">
                <a:latin typeface="Consolas"/>
                <a:cs typeface="Consolas"/>
              </a:rPr>
              <a:t>RandomRevealService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10" b="0">
                <a:latin typeface="Microsoft YaHei Light"/>
                <a:cs typeface="Microsoft YaHei Light"/>
              </a:rPr>
              <a:t>在走子后写回。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6.6.2.</a:t>
            </a:r>
            <a:r>
              <a:rPr dirty="0" sz="1300" spc="-6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25" b="0">
                <a:solidFill>
                  <a:srgbClr val="334155"/>
                </a:solidFill>
                <a:latin typeface="Microsoft YaHei Light"/>
                <a:cs typeface="Microsoft YaHei Light"/>
              </a:rPr>
              <a:t>move</a:t>
            </a:r>
            <a:r>
              <a:rPr dirty="0" sz="1300" spc="50" b="0">
                <a:solidFill>
                  <a:srgbClr val="334155"/>
                </a:solidFill>
                <a:latin typeface="Microsoft YaHei Light"/>
                <a:cs typeface="Microsoft YaHei Light"/>
              </a:rPr>
              <a:t> 对象</a:t>
            </a:r>
            <a:r>
              <a:rPr dirty="0" sz="13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（JSON）</a:t>
            </a:r>
            <a:endParaRPr sz="1300">
              <a:latin typeface="Microsoft YaHei Light"/>
              <a:cs typeface="Microsoft YaHei Light"/>
            </a:endParaRPr>
          </a:p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896825" y="6382111"/>
          <a:ext cx="4631690" cy="107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2515"/>
                <a:gridCol w="787399"/>
                <a:gridCol w="27717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fromX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toX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String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列 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a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i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fromY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toY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int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行 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–</a:t>
                      </a:r>
                      <a:r>
                        <a:rPr dirty="0" sz="1050" spc="155">
                          <a:latin typeface="Consolas"/>
                          <a:cs typeface="Consolas"/>
                        </a:rPr>
                        <a:t>9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22288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isFlip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true=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翻子步；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from=to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时为原地翻子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887300" y="7524119"/>
            <a:ext cx="5727700" cy="775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20" b="0">
                <a:latin typeface="Microsoft YaHei Light"/>
                <a:cs typeface="Microsoft YaHei Light"/>
              </a:rPr>
              <a:t>内部领域对象使用 </a:t>
            </a:r>
            <a:r>
              <a:rPr dirty="0" sz="1050">
                <a:latin typeface="Consolas"/>
                <a:cs typeface="Consolas"/>
              </a:rPr>
              <a:t>Move.source</a:t>
            </a:r>
            <a:r>
              <a:rPr dirty="0" sz="1050" spc="-5">
                <a:latin typeface="Consolas"/>
                <a:cs typeface="Consolas"/>
              </a:rPr>
              <a:t> </a:t>
            </a:r>
            <a:r>
              <a:rPr dirty="0" sz="1200" spc="120" b="0">
                <a:latin typeface="Microsoft YaHei Light"/>
                <a:cs typeface="Microsoft YaHei Light"/>
              </a:rPr>
              <a:t>/ </a:t>
            </a:r>
            <a:r>
              <a:rPr dirty="0" sz="1050">
                <a:latin typeface="Consolas"/>
                <a:cs typeface="Consolas"/>
              </a:rPr>
              <a:t>Move.destination</a:t>
            </a:r>
            <a:r>
              <a:rPr dirty="0" sz="1050" spc="-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合并字符串（</a:t>
            </a:r>
            <a:r>
              <a:rPr dirty="0" sz="1200" spc="105" b="0">
                <a:latin typeface="Microsoft YaHei Light"/>
                <a:cs typeface="Microsoft YaHei Light"/>
              </a:rPr>
              <a:t>如 </a:t>
            </a:r>
            <a:r>
              <a:rPr dirty="0" sz="1050">
                <a:latin typeface="Consolas"/>
                <a:cs typeface="Consolas"/>
              </a:rPr>
              <a:t>"b1"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15" b="0">
                <a:latin typeface="Microsoft YaHei Light"/>
                <a:cs typeface="Microsoft YaHei Light"/>
              </a:rPr>
              <a:t>，边界处</a:t>
            </a:r>
            <a:r>
              <a:rPr dirty="0" sz="1200" spc="120" b="0">
                <a:latin typeface="Microsoft YaHei Light"/>
                <a:cs typeface="Microsoft YaHei Light"/>
              </a:rPr>
              <a:t>由 </a:t>
            </a:r>
            <a:r>
              <a:rPr dirty="0" sz="1050">
                <a:latin typeface="Consolas"/>
                <a:cs typeface="Consolas"/>
              </a:rPr>
              <a:t>JsonMessages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20" b="0">
                <a:latin typeface="Microsoft YaHei Light"/>
                <a:cs typeface="Microsoft YaHei Light"/>
              </a:rPr>
              <a:t>转换。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6.6.3.</a:t>
            </a:r>
            <a:r>
              <a:rPr dirty="0" sz="1300" spc="-4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moveResult</a:t>
            </a:r>
            <a:r>
              <a:rPr dirty="0" sz="1300" spc="45" b="0">
                <a:solidFill>
                  <a:srgbClr val="334155"/>
                </a:solidFill>
                <a:latin typeface="Microsoft YaHei Light"/>
                <a:cs typeface="Microsoft YaHei Light"/>
              </a:rPr>
              <a:t> 对象</a:t>
            </a:r>
            <a:endParaRPr sz="1300">
              <a:latin typeface="Microsoft YaHei Light"/>
              <a:cs typeface="Microsoft YaHei Light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896825" y="8412911"/>
          <a:ext cx="5322570" cy="139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787400"/>
                <a:gridCol w="2830195"/>
                <a:gridCol w="714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success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消息处理是否成功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valid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boolean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走子是否符合规则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move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object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同客户端 </a:t>
                      </a:r>
                      <a:r>
                        <a:rPr dirty="0" sz="1200" spc="-114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结构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425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flipResult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String?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isFlip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为真时，翻出棋子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piece</a:t>
                      </a:r>
                      <a:r>
                        <a:rPr dirty="0" sz="1050" spc="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枚举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19027"/>
            <a:ext cx="1892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6.7.</a:t>
            </a:r>
            <a:r>
              <a:rPr dirty="0" sz="1500" spc="75" b="0">
                <a:solidFill>
                  <a:srgbClr val="1E40AF"/>
                </a:solidFill>
                <a:latin typeface="Microsoft YaHei Light"/>
                <a:cs typeface="Microsoft YaHei Light"/>
              </a:rPr>
              <a:t> 错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误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码</a:t>
            </a:r>
            <a:r>
              <a:rPr dirty="0" sz="1500" spc="75" b="0">
                <a:solidFill>
                  <a:srgbClr val="1E40AF"/>
                </a:solidFill>
                <a:latin typeface="Microsoft YaHei Light"/>
                <a:cs typeface="Microsoft YaHei Light"/>
              </a:rPr>
              <a:t>（§6.7）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1371942"/>
          <a:ext cx="3435350" cy="261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2197100"/>
                <a:gridCol w="6762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code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含义（老师原文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1001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登录失败（账号或密码错误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1002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重复登录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2001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非法走子（规则不符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2002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未轮到本方走子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2003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超时未走子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3001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房间不存在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3002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匹配失败（无对手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4001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格式错误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4166250"/>
            <a:ext cx="3294379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70" b="0">
                <a:solidFill>
                  <a:srgbClr val="334155"/>
                </a:solidFill>
                <a:latin typeface="Microsoft YaHei Light"/>
                <a:cs typeface="Microsoft YaHei Light"/>
              </a:rPr>
              <a:t>6.7.1.</a:t>
            </a:r>
            <a:r>
              <a:rPr dirty="0" sz="1300" spc="-2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10" b="0">
                <a:solidFill>
                  <a:srgbClr val="334155"/>
                </a:solidFill>
                <a:latin typeface="Microsoft YaHei Light"/>
                <a:cs typeface="Microsoft YaHei Light"/>
              </a:rPr>
              <a:t>gameOver</a:t>
            </a:r>
            <a:r>
              <a:rPr dirty="0" sz="1300" spc="185" b="0">
                <a:solidFill>
                  <a:srgbClr val="334155"/>
                </a:solidFill>
                <a:latin typeface="Microsoft YaHei Light"/>
                <a:cs typeface="Microsoft YaHei Light"/>
              </a:rPr>
              <a:t> / 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timeout</a:t>
            </a:r>
            <a:r>
              <a:rPr dirty="0" sz="1300" spc="70" b="0">
                <a:solidFill>
                  <a:srgbClr val="334155"/>
                </a:solidFill>
                <a:latin typeface="Microsoft YaHei Light"/>
                <a:cs typeface="Microsoft YaHei Light"/>
              </a:rPr>
              <a:t> 原因</a:t>
            </a:r>
            <a:r>
              <a:rPr dirty="0" sz="13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（reason）</a:t>
            </a:r>
            <a:endParaRPr sz="13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6825" y="4502680"/>
          <a:ext cx="3925570" cy="3225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6995"/>
                <a:gridCol w="1892300"/>
                <a:gridCol w="6762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reason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checkmate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将死（老师原文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resign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认输（老师原文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timeout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超时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stalemate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困毙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disconnect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断线判负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king_captured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吃将获胜（允许不应将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draw_no_capture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回合无吃子和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repetition_loss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判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repetition_draw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兵卒长捉和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draw_agreed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协议和棋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900000" y="8645431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896825" y="9230091"/>
            <a:ext cx="5766435" cy="588010"/>
            <a:chOff x="896825" y="9230091"/>
            <a:chExt cx="5766435" cy="588010"/>
          </a:xfrm>
        </p:grpSpPr>
        <p:sp>
          <p:nvSpPr>
            <p:cNvPr id="9" name="object 9" descr=""/>
            <p:cNvSpPr/>
            <p:nvPr/>
          </p:nvSpPr>
          <p:spPr>
            <a:xfrm>
              <a:off x="900000" y="9233266"/>
              <a:ext cx="5760085" cy="581660"/>
            </a:xfrm>
            <a:custGeom>
              <a:avLst/>
              <a:gdLst/>
              <a:ahLst/>
              <a:cxnLst/>
              <a:rect l="l" t="t" r="r" b="b"/>
              <a:pathLst>
                <a:path w="5760084" h="581659">
                  <a:moveTo>
                    <a:pt x="5712374" y="581126"/>
                  </a:moveTo>
                  <a:lnTo>
                    <a:pt x="47625" y="581126"/>
                  </a:lnTo>
                  <a:lnTo>
                    <a:pt x="29087" y="577384"/>
                  </a:lnTo>
                  <a:lnTo>
                    <a:pt x="13949" y="567177"/>
                  </a:lnTo>
                  <a:lnTo>
                    <a:pt x="3742" y="552039"/>
                  </a:lnTo>
                  <a:lnTo>
                    <a:pt x="0" y="53350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533501"/>
                  </a:lnTo>
                  <a:lnTo>
                    <a:pt x="5756257" y="552039"/>
                  </a:lnTo>
                  <a:lnTo>
                    <a:pt x="5746050" y="567177"/>
                  </a:lnTo>
                  <a:lnTo>
                    <a:pt x="5730912" y="577384"/>
                  </a:lnTo>
                  <a:lnTo>
                    <a:pt x="5712374" y="58112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0000" y="9233266"/>
              <a:ext cx="5760085" cy="581660"/>
            </a:xfrm>
            <a:custGeom>
              <a:avLst/>
              <a:gdLst/>
              <a:ahLst/>
              <a:cxnLst/>
              <a:rect l="l" t="t" r="r" b="b"/>
              <a:pathLst>
                <a:path w="5760084" h="58165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533501"/>
                  </a:lnTo>
                  <a:lnTo>
                    <a:pt x="5756257" y="552039"/>
                  </a:lnTo>
                  <a:lnTo>
                    <a:pt x="5746050" y="567177"/>
                  </a:lnTo>
                  <a:lnTo>
                    <a:pt x="5730912" y="577384"/>
                  </a:lnTo>
                  <a:lnTo>
                    <a:pt x="5712374" y="581126"/>
                  </a:lnTo>
                  <a:lnTo>
                    <a:pt x="47625" y="581126"/>
                  </a:lnTo>
                  <a:lnTo>
                    <a:pt x="29087" y="577384"/>
                  </a:lnTo>
                  <a:lnTo>
                    <a:pt x="13949" y="567177"/>
                  </a:lnTo>
                  <a:lnTo>
                    <a:pt x="3742" y="552039"/>
                  </a:lnTo>
                  <a:lnTo>
                    <a:pt x="0" y="533501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87300" y="7847186"/>
            <a:ext cx="5762625" cy="181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winner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取值：</a:t>
            </a:r>
            <a:r>
              <a:rPr dirty="0" sz="1050">
                <a:latin typeface="Consolas"/>
                <a:cs typeface="Consolas"/>
              </a:rPr>
              <a:t>"red"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75" b="0">
                <a:latin typeface="Microsoft YaHei Light"/>
                <a:cs typeface="Microsoft YaHei Light"/>
              </a:rPr>
              <a:t>/ </a:t>
            </a:r>
            <a:r>
              <a:rPr dirty="0" sz="1050">
                <a:latin typeface="Consolas"/>
                <a:cs typeface="Consolas"/>
              </a:rPr>
              <a:t>"black"</a:t>
            </a:r>
            <a:r>
              <a:rPr dirty="0" sz="1200" spc="20" b="0">
                <a:latin typeface="Microsoft YaHei Light"/>
                <a:cs typeface="Microsoft YaHei Light"/>
              </a:rPr>
              <a:t>；和棋时本组扩展使用 </a:t>
            </a:r>
            <a:r>
              <a:rPr dirty="0" sz="1050">
                <a:latin typeface="Consolas"/>
                <a:cs typeface="Consolas"/>
              </a:rPr>
              <a:t>"draw"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lvl="1" marL="450850" indent="-438150">
              <a:lnSpc>
                <a:spcPct val="100000"/>
              </a:lnSpc>
              <a:buClr>
                <a:srgbClr val="1E40AF"/>
              </a:buClr>
              <a:buFont typeface="Microsoft YaHei Light"/>
              <a:buAutoNum type="arabicPeriod" startAt="8"/>
              <a:tabLst>
                <a:tab pos="450850" algn="l"/>
              </a:tabLst>
            </a:pPr>
            <a:r>
              <a:rPr dirty="0" sz="1500" spc="60" b="0">
                <a:solidFill>
                  <a:srgbClr val="1E40AF"/>
                </a:solidFill>
                <a:latin typeface="Microsoft YaHei Light"/>
                <a:cs typeface="Microsoft YaHei Light"/>
              </a:rPr>
              <a:t>典型 </a:t>
            </a:r>
            <a:r>
              <a:rPr dirty="0" sz="1500" spc="-130" b="0">
                <a:solidFill>
                  <a:srgbClr val="1E40AF"/>
                </a:solidFill>
                <a:latin typeface="Microsoft YaHei Light"/>
                <a:cs typeface="Microsoft YaHei Light"/>
              </a:rPr>
              <a:t>JSON</a:t>
            </a:r>
            <a:r>
              <a:rPr dirty="0" sz="1500" spc="45" b="0">
                <a:solidFill>
                  <a:srgbClr val="1E40AF"/>
                </a:solidFill>
                <a:latin typeface="Microsoft YaHei Light"/>
                <a:cs typeface="Microsoft YaHei Light"/>
              </a:rPr>
              <a:t> 示例</a:t>
            </a:r>
            <a:endParaRPr sz="1500">
              <a:latin typeface="Microsoft YaHei Light"/>
              <a:cs typeface="Microsoft YaHei Ligh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1E40AF"/>
              </a:buClr>
              <a:buFont typeface="Microsoft YaHei Light"/>
              <a:buAutoNum type="arabicPeriod" startAt="8"/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100" spc="15" b="0">
                <a:solidFill>
                  <a:srgbClr val="AAAAAA"/>
                </a:solidFill>
                <a:latin typeface="Microsoft YaHei Light"/>
                <a:cs typeface="Microsoft YaHei Light"/>
              </a:rPr>
              <a:t>以下示例对应老师公共接口原文 </a:t>
            </a:r>
            <a:r>
              <a:rPr dirty="0" sz="1100" spc="180" b="0">
                <a:solidFill>
                  <a:srgbClr val="AAAAAA"/>
                </a:solidFill>
                <a:latin typeface="Microsoft YaHei Light"/>
                <a:cs typeface="Microsoft YaHei Light"/>
              </a:rPr>
              <a:t>§4.1–§4.5</a:t>
            </a:r>
            <a:r>
              <a:rPr dirty="0" sz="1100" spc="355" b="0">
                <a:solidFill>
                  <a:srgbClr val="AAAAAA"/>
                </a:solidFill>
                <a:latin typeface="Microsoft YaHei Light"/>
                <a:cs typeface="Microsoft YaHei Light"/>
              </a:rPr>
              <a:t>。</a:t>
            </a:r>
            <a:endParaRPr sz="1100">
              <a:latin typeface="Microsoft YaHei Light"/>
              <a:cs typeface="Microsoft YaHei Light"/>
            </a:endParaRPr>
          </a:p>
          <a:p>
            <a:pPr lvl="2" marL="557530" indent="-544830">
              <a:lnSpc>
                <a:spcPct val="100000"/>
              </a:lnSpc>
              <a:spcBef>
                <a:spcPts val="690"/>
              </a:spcBef>
              <a:buClr>
                <a:srgbClr val="334155"/>
              </a:buClr>
              <a:buFont typeface="Microsoft YaHei Light"/>
              <a:buAutoNum type="arabicPeriod"/>
              <a:tabLst>
                <a:tab pos="557530" algn="l"/>
              </a:tabLst>
            </a:pPr>
            <a:r>
              <a:rPr dirty="0" sz="13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匹配与先手协商</a:t>
            </a:r>
            <a:endParaRPr sz="13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// C→S </a:t>
            </a:r>
            <a:r>
              <a:rPr dirty="0" sz="900" spc="-15">
                <a:latin typeface="Microsoft JhengHei"/>
                <a:cs typeface="Microsoft JhengHei"/>
              </a:rPr>
              <a:t>开始匹配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 spc="-10">
                <a:latin typeface="Consolas"/>
                <a:cs typeface="Consolas"/>
              </a:rPr>
              <a:t>{"messageType":"startMatch"}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788827"/>
            <a:ext cx="5766435" cy="4295140"/>
            <a:chOff x="896825" y="788827"/>
            <a:chExt cx="5766435" cy="429514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4288790"/>
            </a:xfrm>
            <a:custGeom>
              <a:avLst/>
              <a:gdLst/>
              <a:ahLst/>
              <a:cxnLst/>
              <a:rect l="l" t="t" r="r" b="b"/>
              <a:pathLst>
                <a:path w="5760084" h="4288790">
                  <a:moveTo>
                    <a:pt x="5712374" y="4288601"/>
                  </a:moveTo>
                  <a:lnTo>
                    <a:pt x="47625" y="4288601"/>
                  </a:lnTo>
                  <a:lnTo>
                    <a:pt x="29087" y="4284858"/>
                  </a:lnTo>
                  <a:lnTo>
                    <a:pt x="13949" y="4274652"/>
                  </a:lnTo>
                  <a:lnTo>
                    <a:pt x="3742" y="4259514"/>
                  </a:lnTo>
                  <a:lnTo>
                    <a:pt x="0" y="42409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240976"/>
                  </a:lnTo>
                  <a:lnTo>
                    <a:pt x="5756257" y="4259514"/>
                  </a:lnTo>
                  <a:lnTo>
                    <a:pt x="5746050" y="4274652"/>
                  </a:lnTo>
                  <a:lnTo>
                    <a:pt x="5730912" y="4284858"/>
                  </a:lnTo>
                  <a:lnTo>
                    <a:pt x="5712374" y="42886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792002"/>
              <a:ext cx="5760085" cy="4288790"/>
            </a:xfrm>
            <a:custGeom>
              <a:avLst/>
              <a:gdLst/>
              <a:ahLst/>
              <a:cxnLst/>
              <a:rect l="l" t="t" r="r" b="b"/>
              <a:pathLst>
                <a:path w="5760084" h="428879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4240976"/>
                  </a:lnTo>
                  <a:lnTo>
                    <a:pt x="5756257" y="4259514"/>
                  </a:lnTo>
                  <a:lnTo>
                    <a:pt x="5746050" y="4274652"/>
                  </a:lnTo>
                  <a:lnTo>
                    <a:pt x="5730912" y="4284858"/>
                  </a:lnTo>
                  <a:lnTo>
                    <a:pt x="5712374" y="4288601"/>
                  </a:lnTo>
                  <a:lnTo>
                    <a:pt x="47625" y="4288601"/>
                  </a:lnTo>
                  <a:lnTo>
                    <a:pt x="29087" y="4284858"/>
                  </a:lnTo>
                  <a:lnTo>
                    <a:pt x="13949" y="4274652"/>
                  </a:lnTo>
                  <a:lnTo>
                    <a:pt x="3742" y="4259514"/>
                  </a:lnTo>
                  <a:lnTo>
                    <a:pt x="0" y="42409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896825" y="5441750"/>
            <a:ext cx="5766435" cy="3562350"/>
            <a:chOff x="896825" y="5441750"/>
            <a:chExt cx="5766435" cy="3562350"/>
          </a:xfrm>
        </p:grpSpPr>
        <p:sp>
          <p:nvSpPr>
            <p:cNvPr id="6" name="object 6" descr=""/>
            <p:cNvSpPr/>
            <p:nvPr/>
          </p:nvSpPr>
          <p:spPr>
            <a:xfrm>
              <a:off x="900000" y="5444925"/>
              <a:ext cx="5760085" cy="3556000"/>
            </a:xfrm>
            <a:custGeom>
              <a:avLst/>
              <a:gdLst/>
              <a:ahLst/>
              <a:cxnLst/>
              <a:rect l="l" t="t" r="r" b="b"/>
              <a:pathLst>
                <a:path w="5760084" h="3556000">
                  <a:moveTo>
                    <a:pt x="5712374" y="3555561"/>
                  </a:moveTo>
                  <a:lnTo>
                    <a:pt x="47625" y="3555561"/>
                  </a:lnTo>
                  <a:lnTo>
                    <a:pt x="29087" y="3551818"/>
                  </a:lnTo>
                  <a:lnTo>
                    <a:pt x="13949" y="3541612"/>
                  </a:lnTo>
                  <a:lnTo>
                    <a:pt x="3742" y="3526474"/>
                  </a:lnTo>
                  <a:lnTo>
                    <a:pt x="0" y="350793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3507936"/>
                  </a:lnTo>
                  <a:lnTo>
                    <a:pt x="5756257" y="3526474"/>
                  </a:lnTo>
                  <a:lnTo>
                    <a:pt x="5746050" y="3541612"/>
                  </a:lnTo>
                  <a:lnTo>
                    <a:pt x="5730912" y="3551818"/>
                  </a:lnTo>
                  <a:lnTo>
                    <a:pt x="5712374" y="355556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00000" y="5444925"/>
              <a:ext cx="5760085" cy="3556000"/>
            </a:xfrm>
            <a:custGeom>
              <a:avLst/>
              <a:gdLst/>
              <a:ahLst/>
              <a:cxnLst/>
              <a:rect l="l" t="t" r="r" b="b"/>
              <a:pathLst>
                <a:path w="5760084" h="355600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3507936"/>
                  </a:lnTo>
                  <a:lnTo>
                    <a:pt x="5756257" y="3526474"/>
                  </a:lnTo>
                  <a:lnTo>
                    <a:pt x="5746050" y="3541612"/>
                  </a:lnTo>
                  <a:lnTo>
                    <a:pt x="5730912" y="3551818"/>
                  </a:lnTo>
                  <a:lnTo>
                    <a:pt x="5712374" y="3555561"/>
                  </a:lnTo>
                  <a:lnTo>
                    <a:pt x="47625" y="3555561"/>
                  </a:lnTo>
                  <a:lnTo>
                    <a:pt x="29087" y="3551818"/>
                  </a:lnTo>
                  <a:lnTo>
                    <a:pt x="13949" y="3541612"/>
                  </a:lnTo>
                  <a:lnTo>
                    <a:pt x="3742" y="3526474"/>
                  </a:lnTo>
                  <a:lnTo>
                    <a:pt x="0" y="350793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49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87300" y="915629"/>
            <a:ext cx="5762625" cy="7968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onsolas"/>
                <a:cs typeface="Consolas"/>
              </a:rPr>
              <a:t>// S→C </a:t>
            </a:r>
            <a:r>
              <a:rPr dirty="0" sz="900" spc="-15">
                <a:latin typeface="Microsoft JhengHei"/>
                <a:cs typeface="Microsoft JhengHei"/>
              </a:rPr>
              <a:t>匹配成功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3703954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"matchSuccess", </a:t>
            </a:r>
            <a:r>
              <a:rPr dirty="0" sz="900">
                <a:latin typeface="Consolas"/>
                <a:cs typeface="Consolas"/>
              </a:rPr>
              <a:t>"roomId": </a:t>
            </a:r>
            <a:r>
              <a:rPr dirty="0" sz="900" spc="-10">
                <a:latin typeface="Consolas"/>
                <a:cs typeface="Consolas"/>
              </a:rPr>
              <a:t>"room_123", </a:t>
            </a:r>
            <a:r>
              <a:rPr dirty="0" sz="900">
                <a:latin typeface="Consolas"/>
                <a:cs typeface="Consolas"/>
              </a:rPr>
              <a:t>"opponentId": </a:t>
            </a:r>
            <a:r>
              <a:rPr dirty="0" sz="900" spc="-10">
                <a:latin typeface="Consolas"/>
                <a:cs typeface="Consolas"/>
              </a:rPr>
              <a:t>"user456",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254"/>
              </a:spcBef>
            </a:pPr>
            <a:r>
              <a:rPr dirty="0" sz="900">
                <a:latin typeface="Consolas"/>
                <a:cs typeface="Consolas"/>
              </a:rPr>
              <a:t>"opponentNickname": "</a:t>
            </a:r>
            <a:r>
              <a:rPr dirty="0" sz="900">
                <a:latin typeface="Microsoft JhengHei"/>
                <a:cs typeface="Microsoft JhengHei"/>
              </a:rPr>
              <a:t>象棋高手</a:t>
            </a:r>
            <a:r>
              <a:rPr dirty="0" sz="900" spc="-50">
                <a:latin typeface="Consolas"/>
                <a:cs typeface="Consolas"/>
              </a:rPr>
              <a:t>"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</a:pPr>
            <a:r>
              <a:rPr dirty="0" sz="900">
                <a:latin typeface="Consolas"/>
                <a:cs typeface="Consolas"/>
              </a:rPr>
              <a:t>// C→S </a:t>
            </a:r>
            <a:r>
              <a:rPr dirty="0" sz="900" spc="-15">
                <a:latin typeface="Microsoft JhengHei"/>
                <a:cs typeface="Microsoft JhengHei"/>
              </a:rPr>
              <a:t>请求先手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3453129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"requestFirstHand", </a:t>
            </a:r>
            <a:r>
              <a:rPr dirty="0" sz="900">
                <a:latin typeface="Consolas"/>
                <a:cs typeface="Consolas"/>
              </a:rPr>
              <a:t>"wannaFirst":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</a:pPr>
            <a:r>
              <a:rPr dirty="0" sz="900">
                <a:latin typeface="Consolas"/>
                <a:cs typeface="Consolas"/>
              </a:rPr>
              <a:t>// S→C </a:t>
            </a:r>
            <a:r>
              <a:rPr dirty="0" sz="900" spc="-15">
                <a:latin typeface="Microsoft JhengHei"/>
                <a:cs typeface="Microsoft JhengHei"/>
              </a:rPr>
              <a:t>游戏开始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389255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"gameStart", </a:t>
            </a:r>
            <a:r>
              <a:rPr dirty="0" sz="900">
                <a:latin typeface="Consolas"/>
                <a:cs typeface="Consolas"/>
              </a:rPr>
              <a:t>"redPlayerId": </a:t>
            </a:r>
            <a:r>
              <a:rPr dirty="0" sz="900" spc="-10">
                <a:latin typeface="Consolas"/>
                <a:cs typeface="Consolas"/>
              </a:rPr>
              <a:t>"user123", </a:t>
            </a:r>
            <a:r>
              <a:rPr dirty="0" sz="900">
                <a:latin typeface="Consolas"/>
                <a:cs typeface="Consolas"/>
              </a:rPr>
              <a:t>"blackPlayerId": </a:t>
            </a:r>
            <a:r>
              <a:rPr dirty="0" sz="900" spc="-10">
                <a:latin typeface="Consolas"/>
                <a:cs typeface="Consolas"/>
              </a:rPr>
              <a:t>"user456", </a:t>
            </a:r>
            <a:r>
              <a:rPr dirty="0" sz="900">
                <a:latin typeface="Consolas"/>
                <a:cs typeface="Consolas"/>
              </a:rPr>
              <a:t>"yourColor": </a:t>
            </a:r>
            <a:r>
              <a:rPr dirty="0" sz="900" spc="-10">
                <a:latin typeface="Consolas"/>
                <a:cs typeface="Consolas"/>
              </a:rPr>
              <a:t>"red", </a:t>
            </a:r>
            <a:r>
              <a:rPr dirty="0" sz="900">
                <a:latin typeface="Consolas"/>
                <a:cs typeface="Consolas"/>
              </a:rPr>
              <a:t>"firstHand": </a:t>
            </a:r>
            <a:r>
              <a:rPr dirty="0" sz="900" spc="-10">
                <a:latin typeface="Consolas"/>
                <a:cs typeface="Consolas"/>
              </a:rPr>
              <a:t>true, </a:t>
            </a:r>
            <a:r>
              <a:rPr dirty="0" sz="900">
                <a:latin typeface="Consolas"/>
                <a:cs typeface="Consolas"/>
              </a:rPr>
              <a:t>"initialBoard": </a:t>
            </a:r>
            <a:r>
              <a:rPr dirty="0" sz="900" spc="-50">
                <a:latin typeface="Consolas"/>
                <a:cs typeface="Consolas"/>
              </a:rPr>
              <a:t>[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502412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"y": </a:t>
            </a:r>
            <a:r>
              <a:rPr dirty="0" sz="900" spc="-25">
                <a:latin typeface="Consolas"/>
                <a:cs typeface="Consolas"/>
              </a:rPr>
              <a:t>0,</a:t>
            </a:r>
            <a:endParaRPr sz="900">
              <a:latin typeface="Consolas"/>
              <a:cs typeface="Consolas"/>
            </a:endParaRPr>
          </a:p>
          <a:p>
            <a:pPr marL="165100" marR="458406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"piece": </a:t>
            </a:r>
            <a:r>
              <a:rPr dirty="0" sz="900" spc="-10">
                <a:latin typeface="Consolas"/>
                <a:cs typeface="Consolas"/>
              </a:rPr>
              <a:t>"rook", </a:t>
            </a:r>
            <a:r>
              <a:rPr dirty="0" sz="900">
                <a:latin typeface="Consolas"/>
                <a:cs typeface="Consolas"/>
              </a:rPr>
              <a:t>"visible": </a:t>
            </a:r>
            <a:r>
              <a:rPr dirty="0" sz="900" spc="-10">
                <a:latin typeface="Consolas"/>
                <a:cs typeface="Consolas"/>
              </a:rPr>
              <a:t>false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]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6.8.2.</a:t>
            </a:r>
            <a:r>
              <a:rPr dirty="0" sz="13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 走子与翻子</a:t>
            </a:r>
            <a:endParaRPr sz="13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// C→S </a:t>
            </a:r>
            <a:r>
              <a:rPr dirty="0" sz="900">
                <a:latin typeface="Microsoft JhengHei"/>
                <a:cs typeface="Microsoft JhengHei"/>
              </a:rPr>
              <a:t>移动（翻子</a:t>
            </a:r>
            <a:r>
              <a:rPr dirty="0" sz="900" spc="-50">
                <a:latin typeface="Microsoft JhengHei"/>
                <a:cs typeface="Microsoft JhengHei"/>
              </a:rPr>
              <a:t>）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206875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"move", </a:t>
            </a:r>
            <a:r>
              <a:rPr dirty="0" sz="900">
                <a:latin typeface="Consolas"/>
                <a:cs typeface="Consolas"/>
              </a:rPr>
              <a:t>"fromX": </a:t>
            </a:r>
            <a:r>
              <a:rPr dirty="0" sz="900" spc="-20">
                <a:latin typeface="Consolas"/>
                <a:cs typeface="Consolas"/>
              </a:rPr>
              <a:t>"a",</a:t>
            </a:r>
            <a:endParaRPr sz="900">
              <a:latin typeface="Consolas"/>
              <a:cs typeface="Consolas"/>
            </a:endParaRPr>
          </a:p>
          <a:p>
            <a:pPr algn="just" marL="165100" marR="489839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"fromY": </a:t>
            </a:r>
            <a:r>
              <a:rPr dirty="0" sz="900" spc="-25">
                <a:latin typeface="Consolas"/>
                <a:cs typeface="Consolas"/>
              </a:rPr>
              <a:t>0, </a:t>
            </a:r>
            <a:r>
              <a:rPr dirty="0" sz="900">
                <a:latin typeface="Consolas"/>
                <a:cs typeface="Consolas"/>
              </a:rPr>
              <a:t>"toX":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"toY": </a:t>
            </a:r>
            <a:r>
              <a:rPr dirty="0" sz="900" spc="-25">
                <a:latin typeface="Consolas"/>
                <a:cs typeface="Consolas"/>
              </a:rPr>
              <a:t>1,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"isFlip":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1060"/>
              </a:lnSpc>
            </a:pPr>
            <a:r>
              <a:rPr dirty="0" sz="900">
                <a:latin typeface="Consolas"/>
                <a:cs typeface="Consolas"/>
              </a:rPr>
              <a:t>// S→C </a:t>
            </a:r>
            <a:r>
              <a:rPr dirty="0" sz="900">
                <a:latin typeface="Microsoft JhengHei"/>
                <a:cs typeface="Microsoft JhengHei"/>
              </a:rPr>
              <a:t>移动结果（广播</a:t>
            </a:r>
            <a:r>
              <a:rPr dirty="0" sz="900" spc="-50">
                <a:latin typeface="Microsoft JhengHei"/>
                <a:cs typeface="Microsoft JhengHei"/>
              </a:rPr>
              <a:t>）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3829685">
              <a:lnSpc>
                <a:spcPct val="104800"/>
              </a:lnSpc>
              <a:spcBef>
                <a:spcPts val="5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"moveResult", </a:t>
            </a:r>
            <a:r>
              <a:rPr dirty="0" sz="900">
                <a:latin typeface="Consolas"/>
                <a:cs typeface="Consolas"/>
              </a:rPr>
              <a:t>"success": </a:t>
            </a:r>
            <a:r>
              <a:rPr dirty="0" sz="900" spc="-10">
                <a:latin typeface="Consolas"/>
                <a:cs typeface="Consolas"/>
              </a:rPr>
              <a:t>true,</a:t>
            </a:r>
            <a:endParaRPr sz="900">
              <a:latin typeface="Consolas"/>
              <a:cs typeface="Consolas"/>
            </a:endParaRPr>
          </a:p>
          <a:p>
            <a:pPr marL="165100" marR="477266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"move": </a:t>
            </a:r>
            <a:r>
              <a:rPr dirty="0" sz="900" spc="-50">
                <a:latin typeface="Consolas"/>
                <a:cs typeface="Consolas"/>
              </a:rPr>
              <a:t>{ </a:t>
            </a:r>
            <a:r>
              <a:rPr dirty="0" sz="900">
                <a:latin typeface="Consolas"/>
                <a:cs typeface="Consolas"/>
              </a:rPr>
              <a:t>"fromX":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"fromY": </a:t>
            </a:r>
            <a:r>
              <a:rPr dirty="0" sz="900" spc="-25">
                <a:latin typeface="Consolas"/>
                <a:cs typeface="Consolas"/>
              </a:rPr>
              <a:t>0, </a:t>
            </a:r>
            <a:r>
              <a:rPr dirty="0" sz="900">
                <a:latin typeface="Consolas"/>
                <a:cs typeface="Consolas"/>
              </a:rPr>
              <a:t>"toX": </a:t>
            </a:r>
            <a:r>
              <a:rPr dirty="0" sz="900" spc="-20">
                <a:latin typeface="Consolas"/>
                <a:cs typeface="Consolas"/>
              </a:rPr>
              <a:t>"a", </a:t>
            </a:r>
            <a:r>
              <a:rPr dirty="0" sz="900">
                <a:latin typeface="Consolas"/>
                <a:cs typeface="Consolas"/>
              </a:rPr>
              <a:t>"toY": </a:t>
            </a:r>
            <a:r>
              <a:rPr dirty="0" sz="900" spc="-25">
                <a:latin typeface="Consolas"/>
                <a:cs typeface="Consolas"/>
              </a:rPr>
              <a:t>1,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"isFlip":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 spc="-25">
                <a:latin typeface="Consolas"/>
                <a:cs typeface="Consolas"/>
              </a:rPr>
              <a:t>},</a:t>
            </a:r>
            <a:endParaRPr sz="900">
              <a:latin typeface="Consolas"/>
              <a:cs typeface="Consolas"/>
            </a:endParaRPr>
          </a:p>
          <a:p>
            <a:pPr marL="165100" marR="414401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"flipResult": </a:t>
            </a:r>
            <a:r>
              <a:rPr dirty="0" sz="900" spc="-10">
                <a:latin typeface="Consolas"/>
                <a:cs typeface="Consolas"/>
              </a:rPr>
              <a:t>"cannon", </a:t>
            </a:r>
            <a:r>
              <a:rPr dirty="0" sz="900">
                <a:latin typeface="Consolas"/>
                <a:cs typeface="Consolas"/>
              </a:rPr>
              <a:t>"valid": </a:t>
            </a:r>
            <a:r>
              <a:rPr dirty="0" sz="900" spc="-20">
                <a:latin typeface="Consolas"/>
                <a:cs typeface="Consolas"/>
              </a:rPr>
              <a:t>true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985509"/>
            <a:ext cx="5766435" cy="1272540"/>
            <a:chOff x="896825" y="985509"/>
            <a:chExt cx="5766435" cy="127254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988684"/>
              <a:ext cx="5760085" cy="1266190"/>
            </a:xfrm>
            <a:custGeom>
              <a:avLst/>
              <a:gdLst/>
              <a:ahLst/>
              <a:cxnLst/>
              <a:rect l="l" t="t" r="r" b="b"/>
              <a:pathLst>
                <a:path w="5760084" h="1266189">
                  <a:moveTo>
                    <a:pt x="5712374" y="1265888"/>
                  </a:moveTo>
                  <a:lnTo>
                    <a:pt x="47625" y="1265888"/>
                  </a:lnTo>
                  <a:lnTo>
                    <a:pt x="29087" y="1262146"/>
                  </a:lnTo>
                  <a:lnTo>
                    <a:pt x="13949" y="1251939"/>
                  </a:lnTo>
                  <a:lnTo>
                    <a:pt x="3742" y="1236801"/>
                  </a:lnTo>
                  <a:lnTo>
                    <a:pt x="0" y="12182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218263"/>
                  </a:lnTo>
                  <a:lnTo>
                    <a:pt x="5756257" y="1236801"/>
                  </a:lnTo>
                  <a:lnTo>
                    <a:pt x="5746050" y="1251939"/>
                  </a:lnTo>
                  <a:lnTo>
                    <a:pt x="5730912" y="1262146"/>
                  </a:lnTo>
                  <a:lnTo>
                    <a:pt x="5712374" y="126588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988684"/>
              <a:ext cx="5760085" cy="1266190"/>
            </a:xfrm>
            <a:custGeom>
              <a:avLst/>
              <a:gdLst/>
              <a:ahLst/>
              <a:cxnLst/>
              <a:rect l="l" t="t" r="r" b="b"/>
              <a:pathLst>
                <a:path w="5760084" h="126618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218263"/>
                  </a:lnTo>
                  <a:lnTo>
                    <a:pt x="5756257" y="1236801"/>
                  </a:lnTo>
                  <a:lnTo>
                    <a:pt x="5746050" y="1251939"/>
                  </a:lnTo>
                  <a:lnTo>
                    <a:pt x="5730912" y="1262146"/>
                  </a:lnTo>
                  <a:lnTo>
                    <a:pt x="5712374" y="1265888"/>
                  </a:lnTo>
                  <a:lnTo>
                    <a:pt x="47625" y="1265888"/>
                  </a:lnTo>
                  <a:lnTo>
                    <a:pt x="29087" y="1262146"/>
                  </a:lnTo>
                  <a:lnTo>
                    <a:pt x="13949" y="1251939"/>
                  </a:lnTo>
                  <a:lnTo>
                    <a:pt x="3742" y="1236801"/>
                  </a:lnTo>
                  <a:lnTo>
                    <a:pt x="0" y="12182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896825" y="2615719"/>
            <a:ext cx="5766435" cy="1272540"/>
            <a:chOff x="896825" y="2615719"/>
            <a:chExt cx="5766435" cy="1272540"/>
          </a:xfrm>
        </p:grpSpPr>
        <p:sp>
          <p:nvSpPr>
            <p:cNvPr id="6" name="object 6" descr=""/>
            <p:cNvSpPr/>
            <p:nvPr/>
          </p:nvSpPr>
          <p:spPr>
            <a:xfrm>
              <a:off x="900000" y="2618894"/>
              <a:ext cx="5760085" cy="1266190"/>
            </a:xfrm>
            <a:custGeom>
              <a:avLst/>
              <a:gdLst/>
              <a:ahLst/>
              <a:cxnLst/>
              <a:rect l="l" t="t" r="r" b="b"/>
              <a:pathLst>
                <a:path w="5760084" h="1266189">
                  <a:moveTo>
                    <a:pt x="5712374" y="1265888"/>
                  </a:moveTo>
                  <a:lnTo>
                    <a:pt x="47625" y="1265888"/>
                  </a:lnTo>
                  <a:lnTo>
                    <a:pt x="29087" y="1262146"/>
                  </a:lnTo>
                  <a:lnTo>
                    <a:pt x="13949" y="1251939"/>
                  </a:lnTo>
                  <a:lnTo>
                    <a:pt x="3742" y="1236801"/>
                  </a:lnTo>
                  <a:lnTo>
                    <a:pt x="0" y="12182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218263"/>
                  </a:lnTo>
                  <a:lnTo>
                    <a:pt x="5756257" y="1236801"/>
                  </a:lnTo>
                  <a:lnTo>
                    <a:pt x="5746050" y="1251939"/>
                  </a:lnTo>
                  <a:lnTo>
                    <a:pt x="5730912" y="1262146"/>
                  </a:lnTo>
                  <a:lnTo>
                    <a:pt x="5712374" y="126588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00000" y="2618894"/>
              <a:ext cx="5760085" cy="1266190"/>
            </a:xfrm>
            <a:custGeom>
              <a:avLst/>
              <a:gdLst/>
              <a:ahLst/>
              <a:cxnLst/>
              <a:rect l="l" t="t" r="r" b="b"/>
              <a:pathLst>
                <a:path w="5760084" h="1266189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218263"/>
                  </a:lnTo>
                  <a:lnTo>
                    <a:pt x="5756257" y="1236801"/>
                  </a:lnTo>
                  <a:lnTo>
                    <a:pt x="5746050" y="1251939"/>
                  </a:lnTo>
                  <a:lnTo>
                    <a:pt x="5730912" y="1262146"/>
                  </a:lnTo>
                  <a:lnTo>
                    <a:pt x="5712374" y="1265888"/>
                  </a:lnTo>
                  <a:lnTo>
                    <a:pt x="47625" y="1265888"/>
                  </a:lnTo>
                  <a:lnTo>
                    <a:pt x="29087" y="1262146"/>
                  </a:lnTo>
                  <a:lnTo>
                    <a:pt x="13949" y="1251939"/>
                  </a:lnTo>
                  <a:lnTo>
                    <a:pt x="3742" y="1236801"/>
                  </a:lnTo>
                  <a:lnTo>
                    <a:pt x="0" y="1218263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896825" y="4245929"/>
            <a:ext cx="5766435" cy="1642110"/>
            <a:chOff x="896825" y="4245929"/>
            <a:chExt cx="5766435" cy="1642110"/>
          </a:xfrm>
        </p:grpSpPr>
        <p:sp>
          <p:nvSpPr>
            <p:cNvPr id="9" name="object 9" descr=""/>
            <p:cNvSpPr/>
            <p:nvPr/>
          </p:nvSpPr>
          <p:spPr>
            <a:xfrm>
              <a:off x="900000" y="4249104"/>
              <a:ext cx="5760085" cy="1635760"/>
            </a:xfrm>
            <a:custGeom>
              <a:avLst/>
              <a:gdLst/>
              <a:ahLst/>
              <a:cxnLst/>
              <a:rect l="l" t="t" r="r" b="b"/>
              <a:pathLst>
                <a:path w="5760084" h="1635760">
                  <a:moveTo>
                    <a:pt x="5712374" y="1635461"/>
                  </a:moveTo>
                  <a:lnTo>
                    <a:pt x="47625" y="1635461"/>
                  </a:lnTo>
                  <a:lnTo>
                    <a:pt x="29087" y="1631719"/>
                  </a:lnTo>
                  <a:lnTo>
                    <a:pt x="13949" y="1621512"/>
                  </a:lnTo>
                  <a:lnTo>
                    <a:pt x="3742" y="1606374"/>
                  </a:lnTo>
                  <a:lnTo>
                    <a:pt x="0" y="158783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87836"/>
                  </a:lnTo>
                  <a:lnTo>
                    <a:pt x="5756257" y="1606374"/>
                  </a:lnTo>
                  <a:lnTo>
                    <a:pt x="5746050" y="1621512"/>
                  </a:lnTo>
                  <a:lnTo>
                    <a:pt x="5730912" y="1631719"/>
                  </a:lnTo>
                  <a:lnTo>
                    <a:pt x="5712374" y="163546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0000" y="4249104"/>
              <a:ext cx="5760085" cy="1635760"/>
            </a:xfrm>
            <a:custGeom>
              <a:avLst/>
              <a:gdLst/>
              <a:ahLst/>
              <a:cxnLst/>
              <a:rect l="l" t="t" r="r" b="b"/>
              <a:pathLst>
                <a:path w="5760084" h="163576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587836"/>
                  </a:lnTo>
                  <a:lnTo>
                    <a:pt x="5756257" y="1606374"/>
                  </a:lnTo>
                  <a:lnTo>
                    <a:pt x="5746050" y="1621512"/>
                  </a:lnTo>
                  <a:lnTo>
                    <a:pt x="5730912" y="1631719"/>
                  </a:lnTo>
                  <a:lnTo>
                    <a:pt x="5712374" y="1635461"/>
                  </a:lnTo>
                  <a:lnTo>
                    <a:pt x="47625" y="1635461"/>
                  </a:lnTo>
                  <a:lnTo>
                    <a:pt x="29087" y="1631719"/>
                  </a:lnTo>
                  <a:lnTo>
                    <a:pt x="13949" y="1621512"/>
                  </a:lnTo>
                  <a:lnTo>
                    <a:pt x="3742" y="1606374"/>
                  </a:lnTo>
                  <a:lnTo>
                    <a:pt x="0" y="158783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900000" y="6517711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87300" y="727064"/>
            <a:ext cx="5816600" cy="6736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2" marL="557530" indent="-544830">
              <a:lnSpc>
                <a:spcPct val="100000"/>
              </a:lnSpc>
              <a:spcBef>
                <a:spcPts val="100"/>
              </a:spcBef>
              <a:buClr>
                <a:srgbClr val="334155"/>
              </a:buClr>
              <a:buFont typeface="Microsoft YaHei Light"/>
              <a:buAutoNum type="arabicPeriod" startAt="3"/>
              <a:tabLst>
                <a:tab pos="557530" algn="l"/>
              </a:tabLst>
            </a:pP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超时处理</a:t>
            </a:r>
            <a:endParaRPr sz="1300">
              <a:latin typeface="Microsoft YaHei Light"/>
              <a:cs typeface="Microsoft YaHei Light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Clr>
                <a:srgbClr val="334155"/>
              </a:buClr>
              <a:buFont typeface="Microsoft YaHei Light"/>
              <a:buAutoNum type="arabicPeriod" startAt="3"/>
            </a:pPr>
            <a:endParaRPr sz="8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// S→C </a:t>
            </a:r>
            <a:r>
              <a:rPr dirty="0" sz="900">
                <a:latin typeface="Microsoft JhengHei"/>
                <a:cs typeface="Microsoft JhengHei"/>
              </a:rPr>
              <a:t>超时（广播</a:t>
            </a:r>
            <a:r>
              <a:rPr dirty="0" sz="900" spc="-50">
                <a:latin typeface="Microsoft JhengHei"/>
                <a:cs typeface="Microsoft JhengHei"/>
              </a:rPr>
              <a:t>）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072254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"timeout", </a:t>
            </a:r>
            <a:r>
              <a:rPr dirty="0" sz="900">
                <a:latin typeface="Consolas"/>
                <a:cs typeface="Consolas"/>
              </a:rPr>
              <a:t>"loserId": </a:t>
            </a:r>
            <a:r>
              <a:rPr dirty="0" sz="900" spc="-10">
                <a:latin typeface="Consolas"/>
                <a:cs typeface="Consolas"/>
              </a:rPr>
              <a:t>"user123", </a:t>
            </a:r>
            <a:r>
              <a:rPr dirty="0" sz="900">
                <a:latin typeface="Consolas"/>
                <a:cs typeface="Consolas"/>
              </a:rPr>
              <a:t>"winnerId": </a:t>
            </a:r>
            <a:r>
              <a:rPr dirty="0" sz="900" spc="-10">
                <a:latin typeface="Consolas"/>
                <a:cs typeface="Consolas"/>
              </a:rPr>
              <a:t>"user456", </a:t>
            </a:r>
            <a:r>
              <a:rPr dirty="0" sz="900">
                <a:latin typeface="Consolas"/>
                <a:cs typeface="Consolas"/>
              </a:rPr>
              <a:t>"reason": </a:t>
            </a:r>
            <a:r>
              <a:rPr dirty="0" sz="900" spc="-10">
                <a:latin typeface="Consolas"/>
                <a:cs typeface="Consolas"/>
              </a:rPr>
              <a:t>"timeout"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Consolas"/>
              <a:cs typeface="Consolas"/>
            </a:endParaRPr>
          </a:p>
          <a:p>
            <a:pPr lvl="2" marL="557530" indent="-544830">
              <a:lnSpc>
                <a:spcPct val="100000"/>
              </a:lnSpc>
              <a:buClr>
                <a:srgbClr val="334155"/>
              </a:buClr>
              <a:buFont typeface="Microsoft YaHei Light"/>
              <a:buAutoNum type="arabicPeriod" startAt="4"/>
              <a:tabLst>
                <a:tab pos="557530" algn="l"/>
              </a:tabLst>
            </a:pP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正常结束</a:t>
            </a:r>
            <a:endParaRPr sz="1300">
              <a:latin typeface="Microsoft YaHei Light"/>
              <a:cs typeface="Microsoft YaHei Light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Clr>
                <a:srgbClr val="334155"/>
              </a:buClr>
              <a:buFont typeface="Microsoft YaHei Light"/>
              <a:buAutoNum type="arabicPeriod" startAt="4"/>
            </a:pPr>
            <a:endParaRPr sz="8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// S→C </a:t>
            </a:r>
            <a:r>
              <a:rPr dirty="0" sz="900" spc="-15">
                <a:latin typeface="Microsoft JhengHei"/>
                <a:cs typeface="Microsoft JhengHei"/>
              </a:rPr>
              <a:t>将死对方</a:t>
            </a:r>
            <a:endParaRPr sz="900">
              <a:latin typeface="Microsoft JhengHei"/>
              <a:cs typeface="Microsoft JhengHei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009390">
              <a:lnSpc>
                <a:spcPct val="104800"/>
              </a:lnSpc>
              <a:spcBef>
                <a:spcPts val="5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"gameOver", </a:t>
            </a:r>
            <a:r>
              <a:rPr dirty="0" sz="900">
                <a:latin typeface="Consolas"/>
                <a:cs typeface="Consolas"/>
              </a:rPr>
              <a:t>"winner": </a:t>
            </a:r>
            <a:r>
              <a:rPr dirty="0" sz="900" spc="-10">
                <a:latin typeface="Consolas"/>
                <a:cs typeface="Consolas"/>
              </a:rPr>
              <a:t>"red",</a:t>
            </a:r>
            <a:endParaRPr sz="900">
              <a:latin typeface="Consolas"/>
              <a:cs typeface="Consolas"/>
            </a:endParaRPr>
          </a:p>
          <a:p>
            <a:pPr marL="165100" marR="426085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"reason": </a:t>
            </a:r>
            <a:r>
              <a:rPr dirty="0" sz="900" spc="-10">
                <a:latin typeface="Consolas"/>
                <a:cs typeface="Consolas"/>
              </a:rPr>
              <a:t>"checkmate", </a:t>
            </a:r>
            <a:r>
              <a:rPr dirty="0" sz="900">
                <a:latin typeface="Consolas"/>
                <a:cs typeface="Consolas"/>
              </a:rPr>
              <a:t>"winnerId": </a:t>
            </a:r>
            <a:r>
              <a:rPr dirty="0" sz="900" spc="-10">
                <a:latin typeface="Consolas"/>
                <a:cs typeface="Consolas"/>
              </a:rPr>
              <a:t>"user123"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Consolas"/>
              <a:cs typeface="Consolas"/>
            </a:endParaRPr>
          </a:p>
          <a:p>
            <a:pPr lvl="2" marL="557530" indent="-544830">
              <a:lnSpc>
                <a:spcPct val="100000"/>
              </a:lnSpc>
              <a:buClr>
                <a:srgbClr val="334155"/>
              </a:buClr>
              <a:buFont typeface="Microsoft YaHei Light"/>
              <a:buAutoNum type="arabicPeriod" startAt="5"/>
              <a:tabLst>
                <a:tab pos="557530" algn="l"/>
              </a:tabLst>
            </a:pPr>
            <a:r>
              <a:rPr dirty="0" sz="1300" spc="-25" b="0">
                <a:solidFill>
                  <a:srgbClr val="334155"/>
                </a:solidFill>
                <a:latin typeface="Microsoft YaHei Light"/>
                <a:cs typeface="Microsoft YaHei Light"/>
              </a:rPr>
              <a:t>心跳</a:t>
            </a:r>
            <a:endParaRPr sz="13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</a:pPr>
            <a:r>
              <a:rPr dirty="0" sz="900">
                <a:latin typeface="Consolas"/>
                <a:cs typeface="Consolas"/>
              </a:rPr>
              <a:t>// </a:t>
            </a:r>
            <a:r>
              <a:rPr dirty="0" sz="900" spc="-25">
                <a:latin typeface="Consolas"/>
                <a:cs typeface="Consolas"/>
              </a:rPr>
              <a:t>C→S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009390">
              <a:lnSpc>
                <a:spcPct val="104800"/>
              </a:lnSpc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"ping", </a:t>
            </a:r>
            <a:r>
              <a:rPr dirty="0" sz="900">
                <a:latin typeface="Consolas"/>
                <a:cs typeface="Consolas"/>
              </a:rPr>
              <a:t>"timestamp": </a:t>
            </a:r>
            <a:r>
              <a:rPr dirty="0" sz="900" spc="-10">
                <a:latin typeface="Consolas"/>
                <a:cs typeface="Consolas"/>
              </a:rPr>
              <a:t>1712345678901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960"/>
              </a:lnSpc>
              <a:spcBef>
                <a:spcPts val="55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ts val="960"/>
              </a:lnSpc>
            </a:pPr>
            <a:r>
              <a:rPr dirty="0" sz="900">
                <a:latin typeface="Consolas"/>
                <a:cs typeface="Consolas"/>
              </a:rPr>
              <a:t>// </a:t>
            </a:r>
            <a:r>
              <a:rPr dirty="0" sz="900" spc="-25">
                <a:latin typeface="Consolas"/>
                <a:cs typeface="Consolas"/>
              </a:rPr>
              <a:t>S→C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{</a:t>
            </a:r>
            <a:endParaRPr sz="900">
              <a:latin typeface="Consolas"/>
              <a:cs typeface="Consolas"/>
            </a:endParaRPr>
          </a:p>
          <a:p>
            <a:pPr marL="165100" marR="4009390">
              <a:lnSpc>
                <a:spcPct val="104800"/>
              </a:lnSpc>
              <a:spcBef>
                <a:spcPts val="5"/>
              </a:spcBef>
            </a:pPr>
            <a:r>
              <a:rPr dirty="0" sz="900">
                <a:latin typeface="Consolas"/>
                <a:cs typeface="Consolas"/>
              </a:rPr>
              <a:t>"messageType": </a:t>
            </a:r>
            <a:r>
              <a:rPr dirty="0" sz="900" spc="-10">
                <a:latin typeface="Consolas"/>
                <a:cs typeface="Consolas"/>
              </a:rPr>
              <a:t>"pong", </a:t>
            </a:r>
            <a:r>
              <a:rPr dirty="0" sz="900">
                <a:latin typeface="Consolas"/>
                <a:cs typeface="Consolas"/>
              </a:rPr>
              <a:t>"timestamp": </a:t>
            </a:r>
            <a:r>
              <a:rPr dirty="0" sz="900" spc="-10">
                <a:latin typeface="Consolas"/>
                <a:cs typeface="Consolas"/>
              </a:rPr>
              <a:t>1712345678901</a:t>
            </a:r>
            <a:endParaRPr sz="900">
              <a:latin typeface="Consolas"/>
              <a:cs typeface="Consolas"/>
            </a:endParaRPr>
          </a:p>
          <a:p>
            <a:pPr marL="165100">
              <a:lnSpc>
                <a:spcPct val="100000"/>
              </a:lnSpc>
              <a:spcBef>
                <a:spcPts val="50"/>
              </a:spcBef>
            </a:pPr>
            <a:r>
              <a:rPr dirty="0" sz="900">
                <a:latin typeface="Consolas"/>
                <a:cs typeface="Consolas"/>
              </a:rPr>
              <a:t>}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6.9.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本组扩展消息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b="0">
                <a:latin typeface="Microsoft YaHei Light"/>
                <a:cs typeface="Microsoft YaHei Light"/>
              </a:rPr>
              <a:t>在不影响与老师客户端互操作的前提下，本组保留以下扩展能力（</a:t>
            </a:r>
            <a:r>
              <a:rPr dirty="0" sz="1200" spc="35" b="0">
                <a:latin typeface="Microsoft YaHei Light"/>
                <a:cs typeface="Microsoft YaHei Light"/>
              </a:rPr>
              <a:t>见附录 </a:t>
            </a:r>
            <a:r>
              <a:rPr dirty="0" sz="1200" b="0">
                <a:latin typeface="Microsoft YaHei Light"/>
                <a:cs typeface="Microsoft YaHei Light"/>
              </a:rPr>
              <a:t>B</a:t>
            </a:r>
            <a:r>
              <a:rPr dirty="0" sz="1200" spc="145" b="0">
                <a:latin typeface="Microsoft YaHei Light"/>
                <a:cs typeface="Microsoft YaHei Light"/>
              </a:rPr>
              <a:t>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70" b="0">
                <a:latin typeface="Microsoft YaHei Light"/>
                <a:cs typeface="Microsoft YaHei Light"/>
              </a:rPr>
              <a:t> 层</a:t>
            </a:r>
            <a:r>
              <a:rPr dirty="0" sz="1200" spc="-625" b="0">
                <a:latin typeface="Microsoft YaHei Light"/>
                <a:cs typeface="Microsoft YaHei Light"/>
              </a:rPr>
              <a:t>）</a:t>
            </a:r>
            <a:r>
              <a:rPr dirty="0" sz="1200" spc="-25" b="0">
                <a:latin typeface="Microsoft YaHei Light"/>
                <a:cs typeface="Microsoft YaHei Light"/>
              </a:rPr>
              <a:t>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160"/>
              </a:spcBef>
              <a:buChar char="•"/>
              <a:tabLst>
                <a:tab pos="165100" algn="l"/>
              </a:tabLst>
            </a:pPr>
            <a:r>
              <a:rPr dirty="0" sz="1200" spc="80" b="0">
                <a:latin typeface="Microsoft YaHei Light"/>
                <a:cs typeface="Microsoft YaHei Light"/>
              </a:rPr>
              <a:t>提和 / 聊天 / 多盘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-15">
                <a:latin typeface="Consolas"/>
                <a:cs typeface="Consolas"/>
              </a:rPr>
              <a:t> </a:t>
            </a:r>
            <a:r>
              <a:rPr dirty="0" sz="1200" spc="105" b="0">
                <a:latin typeface="Microsoft YaHei Light"/>
                <a:cs typeface="Microsoft YaHei Light"/>
              </a:rPr>
              <a:t>— 仅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50" b="0">
                <a:latin typeface="Microsoft YaHei Light"/>
                <a:cs typeface="Microsoft YaHei Light"/>
              </a:rPr>
              <a:t> 扩展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125" b="0">
                <a:latin typeface="Microsoft YaHei Light"/>
                <a:cs typeface="Microsoft YaHei Light"/>
              </a:rPr>
              <a:t>步时 </a:t>
            </a:r>
            <a:r>
              <a:rPr dirty="0" sz="1200" spc="-50" b="0">
                <a:latin typeface="Microsoft YaHei Light"/>
                <a:cs typeface="Microsoft YaHei Light"/>
              </a:rPr>
              <a:t>65s</a:t>
            </a:r>
            <a:r>
              <a:rPr dirty="0" sz="1200" spc="60" b="0">
                <a:latin typeface="Microsoft YaHei Light"/>
                <a:cs typeface="Microsoft YaHei Light"/>
              </a:rPr>
              <a:t>、</a:t>
            </a:r>
            <a:r>
              <a:rPr dirty="0" sz="1200" b="0">
                <a:latin typeface="Microsoft YaHei Light"/>
                <a:cs typeface="Microsoft YaHei Light"/>
              </a:rPr>
              <a:t>长</a:t>
            </a:r>
            <a:r>
              <a:rPr dirty="0" sz="1200" b="0">
                <a:latin typeface="Microsoft YaHei Light"/>
                <a:cs typeface="Microsoft YaHei Light"/>
              </a:rPr>
              <a:t>将</a:t>
            </a:r>
            <a:r>
              <a:rPr dirty="0" sz="1200" b="0">
                <a:latin typeface="Microsoft YaHei Light"/>
                <a:cs typeface="Microsoft YaHei Light"/>
              </a:rPr>
              <a:t>/</a:t>
            </a:r>
            <a:r>
              <a:rPr dirty="0" sz="1200" b="0">
                <a:latin typeface="Microsoft YaHei Light"/>
                <a:cs typeface="Microsoft YaHei Light"/>
              </a:rPr>
              <a:t>长</a:t>
            </a:r>
            <a:r>
              <a:rPr dirty="0" sz="1200" b="0">
                <a:latin typeface="Microsoft YaHei Light"/>
                <a:cs typeface="Microsoft YaHei Light"/>
              </a:rPr>
              <a:t>捉</a:t>
            </a:r>
            <a:r>
              <a:rPr dirty="0" sz="1200" b="0">
                <a:latin typeface="Microsoft YaHei Light"/>
                <a:cs typeface="Microsoft YaHei Light"/>
              </a:rPr>
              <a:t>、</a:t>
            </a:r>
            <a:r>
              <a:rPr dirty="0" sz="1200" b="0">
                <a:latin typeface="Microsoft YaHei Light"/>
                <a:cs typeface="Microsoft YaHei Light"/>
              </a:rPr>
              <a:t>吃</a:t>
            </a:r>
            <a:r>
              <a:rPr dirty="0" sz="1200" b="0">
                <a:latin typeface="Microsoft YaHei Light"/>
                <a:cs typeface="Microsoft YaHei Light"/>
              </a:rPr>
              <a:t>将</a:t>
            </a:r>
            <a:r>
              <a:rPr dirty="0" sz="1200" b="0">
                <a:latin typeface="Microsoft YaHei Light"/>
                <a:cs typeface="Microsoft YaHei Light"/>
              </a:rPr>
              <a:t>获</a:t>
            </a:r>
            <a:r>
              <a:rPr dirty="0" sz="1200" b="0">
                <a:latin typeface="Microsoft YaHei Light"/>
                <a:cs typeface="Microsoft YaHei Light"/>
              </a:rPr>
              <a:t>胜</a:t>
            </a:r>
            <a:r>
              <a:rPr dirty="0" sz="1200" b="0">
                <a:latin typeface="Microsoft YaHei Light"/>
                <a:cs typeface="Microsoft YaHei Light"/>
              </a:rPr>
              <a:t>等</a:t>
            </a:r>
            <a:r>
              <a:rPr dirty="0" sz="1200" spc="-5" b="0">
                <a:latin typeface="Microsoft YaHei Light"/>
                <a:cs typeface="Microsoft YaHei Light"/>
              </a:rPr>
              <a:t>规则扩展在服务器逻辑中实现，通过扩展</a:t>
            </a:r>
            <a:endParaRPr sz="1200">
              <a:latin typeface="Microsoft YaHei Light"/>
              <a:cs typeface="Microsoft YaHei Light"/>
            </a:endParaRPr>
          </a:p>
          <a:p>
            <a:pPr marL="165100">
              <a:lnSpc>
                <a:spcPct val="100000"/>
              </a:lnSpc>
              <a:spcBef>
                <a:spcPts val="400"/>
              </a:spcBef>
            </a:pPr>
            <a:r>
              <a:rPr dirty="0" sz="1050">
                <a:latin typeface="Consolas"/>
                <a:cs typeface="Consolas"/>
              </a:rPr>
              <a:t>gameOver.reason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25" b="0">
                <a:latin typeface="Microsoft YaHei Light"/>
                <a:cs typeface="Microsoft YaHei Light"/>
              </a:rPr>
              <a:t>表达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74600" y="7847306"/>
            <a:ext cx="5785485" cy="427990"/>
            <a:chOff x="874600" y="7847306"/>
            <a:chExt cx="5785485" cy="427990"/>
          </a:xfrm>
        </p:grpSpPr>
        <p:sp>
          <p:nvSpPr>
            <p:cNvPr id="14" name="object 14" descr=""/>
            <p:cNvSpPr/>
            <p:nvPr/>
          </p:nvSpPr>
          <p:spPr>
            <a:xfrm>
              <a:off x="900000" y="7847306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74600" y="7847306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14300" y="7881239"/>
            <a:ext cx="1879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5" b="0">
                <a:solidFill>
                  <a:srgbClr val="1E3A8A"/>
                </a:solidFill>
                <a:latin typeface="Microsoft YaHei Light"/>
                <a:cs typeface="Microsoft YaHei Light"/>
              </a:rPr>
              <a:t>7.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典型通信流程</a:t>
            </a:r>
            <a:endParaRPr sz="2000">
              <a:latin typeface="Microsoft YaHei Light"/>
              <a:cs typeface="Microsoft YaHei Ligh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15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887300" y="8503397"/>
            <a:ext cx="36576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20" b="0">
                <a:solidFill>
                  <a:srgbClr val="AAAAAA"/>
                </a:solidFill>
                <a:latin typeface="Microsoft YaHei Light"/>
                <a:cs typeface="Microsoft YaHei Light"/>
              </a:rPr>
              <a:t>时序图内为 </a:t>
            </a:r>
            <a:r>
              <a:rPr dirty="0" sz="1100" spc="-95" b="0">
                <a:solidFill>
                  <a:srgbClr val="AAAAAA"/>
                </a:solidFill>
                <a:latin typeface="Microsoft YaHei Light"/>
                <a:cs typeface="Microsoft YaHei Light"/>
              </a:rPr>
              <a:t>JSON</a:t>
            </a:r>
            <a:r>
              <a:rPr dirty="0" sz="1100" spc="130" b="0">
                <a:solidFill>
                  <a:srgbClr val="AAAAAA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60" b="0">
                <a:solidFill>
                  <a:srgbClr val="AAAAAA"/>
                </a:solidFill>
                <a:latin typeface="Microsoft YaHei Light"/>
                <a:cs typeface="Microsoft YaHei Light"/>
              </a:rPr>
              <a:t>messageType</a:t>
            </a:r>
            <a:r>
              <a:rPr dirty="0" sz="1100" spc="15" b="0">
                <a:solidFill>
                  <a:srgbClr val="AAAAAA"/>
                </a:solidFill>
                <a:latin typeface="Microsoft YaHei Light"/>
                <a:cs typeface="Microsoft YaHei Light"/>
              </a:rPr>
              <a:t> 标签；</a:t>
            </a:r>
            <a:r>
              <a:rPr dirty="0" sz="1100" spc="-55" b="0">
                <a:solidFill>
                  <a:srgbClr val="AAAAAA"/>
                </a:solidFill>
                <a:latin typeface="Microsoft YaHei Light"/>
                <a:cs typeface="Microsoft YaHei Light"/>
              </a:rPr>
              <a:t>WebSocket</a:t>
            </a:r>
            <a:r>
              <a:rPr dirty="0" sz="1100" spc="10" b="0">
                <a:solidFill>
                  <a:srgbClr val="AAAAAA"/>
                </a:solidFill>
                <a:latin typeface="Microsoft YaHei Light"/>
                <a:cs typeface="Microsoft YaHei Light"/>
              </a:rPr>
              <a:t> 全双工。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19027"/>
            <a:ext cx="1606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20" b="0">
                <a:solidFill>
                  <a:srgbClr val="1E40AF"/>
                </a:solidFill>
                <a:latin typeface="Microsoft YaHei Light"/>
                <a:cs typeface="Microsoft YaHei Light"/>
              </a:rPr>
              <a:t>7.1.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正常对弈时序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96825" y="1293956"/>
            <a:ext cx="5766435" cy="3909695"/>
            <a:chOff x="896825" y="1293956"/>
            <a:chExt cx="5766435" cy="3909695"/>
          </a:xfrm>
        </p:grpSpPr>
        <p:sp>
          <p:nvSpPr>
            <p:cNvPr id="5" name="object 5" descr=""/>
            <p:cNvSpPr/>
            <p:nvPr/>
          </p:nvSpPr>
          <p:spPr>
            <a:xfrm>
              <a:off x="900000" y="1297131"/>
              <a:ext cx="5760085" cy="3903345"/>
            </a:xfrm>
            <a:custGeom>
              <a:avLst/>
              <a:gdLst/>
              <a:ahLst/>
              <a:cxnLst/>
              <a:rect l="l" t="t" r="r" b="b"/>
              <a:pathLst>
                <a:path w="5760084" h="3903345">
                  <a:moveTo>
                    <a:pt x="5712374" y="3902852"/>
                  </a:moveTo>
                  <a:lnTo>
                    <a:pt x="47625" y="3902852"/>
                  </a:lnTo>
                  <a:lnTo>
                    <a:pt x="29087" y="3899109"/>
                  </a:lnTo>
                  <a:lnTo>
                    <a:pt x="13949" y="3888903"/>
                  </a:lnTo>
                  <a:lnTo>
                    <a:pt x="3742" y="3873765"/>
                  </a:lnTo>
                  <a:lnTo>
                    <a:pt x="0" y="385522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3855227"/>
                  </a:lnTo>
                  <a:lnTo>
                    <a:pt x="5756257" y="3873765"/>
                  </a:lnTo>
                  <a:lnTo>
                    <a:pt x="5746050" y="3888903"/>
                  </a:lnTo>
                  <a:lnTo>
                    <a:pt x="5730912" y="3899109"/>
                  </a:lnTo>
                  <a:lnTo>
                    <a:pt x="5712374" y="3902852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0000" y="1297131"/>
              <a:ext cx="5760085" cy="3903345"/>
            </a:xfrm>
            <a:custGeom>
              <a:avLst/>
              <a:gdLst/>
              <a:ahLst/>
              <a:cxnLst/>
              <a:rect l="l" t="t" r="r" b="b"/>
              <a:pathLst>
                <a:path w="5760084" h="3903345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3855227"/>
                  </a:lnTo>
                  <a:lnTo>
                    <a:pt x="5756257" y="3873765"/>
                  </a:lnTo>
                  <a:lnTo>
                    <a:pt x="5746050" y="3888903"/>
                  </a:lnTo>
                  <a:lnTo>
                    <a:pt x="5730912" y="3899109"/>
                  </a:lnTo>
                  <a:lnTo>
                    <a:pt x="5712374" y="3902852"/>
                  </a:lnTo>
                  <a:lnTo>
                    <a:pt x="47625" y="3902852"/>
                  </a:lnTo>
                  <a:lnTo>
                    <a:pt x="29087" y="3899109"/>
                  </a:lnTo>
                  <a:lnTo>
                    <a:pt x="13949" y="3888903"/>
                  </a:lnTo>
                  <a:lnTo>
                    <a:pt x="3742" y="3873765"/>
                  </a:lnTo>
                  <a:lnTo>
                    <a:pt x="0" y="385522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699133" y="1418029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70449" y="1418029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02066" y="1418029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74625" y="1759660"/>
            <a:ext cx="5410835" cy="3265804"/>
            <a:chOff x="1074625" y="1759660"/>
            <a:chExt cx="5410835" cy="3265804"/>
          </a:xfrm>
        </p:grpSpPr>
        <p:sp>
          <p:nvSpPr>
            <p:cNvPr id="11" name="object 11" descr=""/>
            <p:cNvSpPr/>
            <p:nvPr/>
          </p:nvSpPr>
          <p:spPr>
            <a:xfrm>
              <a:off x="1077800" y="1762835"/>
              <a:ext cx="5404485" cy="3259454"/>
            </a:xfrm>
            <a:custGeom>
              <a:avLst/>
              <a:gdLst/>
              <a:ahLst/>
              <a:cxnLst/>
              <a:rect l="l" t="t" r="r" b="b"/>
              <a:pathLst>
                <a:path w="5404485" h="3259454">
                  <a:moveTo>
                    <a:pt x="5369474" y="3259349"/>
                  </a:moveTo>
                  <a:lnTo>
                    <a:pt x="34925" y="3259349"/>
                  </a:lnTo>
                  <a:lnTo>
                    <a:pt x="21330" y="3256605"/>
                  </a:lnTo>
                  <a:lnTo>
                    <a:pt x="10229" y="3249120"/>
                  </a:lnTo>
                  <a:lnTo>
                    <a:pt x="2744" y="3238018"/>
                  </a:lnTo>
                  <a:lnTo>
                    <a:pt x="0" y="3224424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3224424"/>
                  </a:lnTo>
                  <a:lnTo>
                    <a:pt x="5401655" y="3238018"/>
                  </a:lnTo>
                  <a:lnTo>
                    <a:pt x="5394170" y="3249120"/>
                  </a:lnTo>
                  <a:lnTo>
                    <a:pt x="5383069" y="3256605"/>
                  </a:lnTo>
                  <a:lnTo>
                    <a:pt x="5369474" y="325934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77800" y="1762835"/>
              <a:ext cx="5404485" cy="3259454"/>
            </a:xfrm>
            <a:custGeom>
              <a:avLst/>
              <a:gdLst/>
              <a:ahLst/>
              <a:cxnLst/>
              <a:rect l="l" t="t" r="r" b="b"/>
              <a:pathLst>
                <a:path w="5404485" h="3259454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3224424"/>
                  </a:lnTo>
                  <a:lnTo>
                    <a:pt x="5401655" y="3238018"/>
                  </a:lnTo>
                  <a:lnTo>
                    <a:pt x="5394170" y="3249120"/>
                  </a:lnTo>
                  <a:lnTo>
                    <a:pt x="5383069" y="3256605"/>
                  </a:lnTo>
                  <a:lnTo>
                    <a:pt x="5369474" y="3259349"/>
                  </a:lnTo>
                  <a:lnTo>
                    <a:pt x="34925" y="3259349"/>
                  </a:lnTo>
                  <a:lnTo>
                    <a:pt x="21330" y="3256605"/>
                  </a:lnTo>
                  <a:lnTo>
                    <a:pt x="10229" y="3249120"/>
                  </a:lnTo>
                  <a:lnTo>
                    <a:pt x="2744" y="3238018"/>
                  </a:lnTo>
                  <a:lnTo>
                    <a:pt x="0" y="3224424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3898" y="1828886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76760" y="1828886"/>
            <a:ext cx="25057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905635" algn="l"/>
              </a:tabLst>
            </a:pPr>
            <a:r>
              <a:rPr dirty="0" sz="1050" spc="-10">
                <a:latin typeface="Consolas"/>
                <a:cs typeface="Consolas"/>
              </a:rPr>
              <a:t>Server</a:t>
            </a:r>
            <a:r>
              <a:rPr dirty="0" sz="1050">
                <a:latin typeface="Consolas"/>
                <a:cs typeface="Consolas"/>
              </a:rPr>
              <a:t>	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03696" y="1988906"/>
            <a:ext cx="4045585" cy="20872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  <a:tabLst>
                <a:tab pos="1905635" algn="l"/>
                <a:tab pos="38119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3811904" algn="l"/>
              </a:tabLst>
            </a:pPr>
            <a:r>
              <a:rPr dirty="0" sz="1050">
                <a:latin typeface="Consolas"/>
                <a:cs typeface="Consolas"/>
              </a:rPr>
              <a:t>|------ Login -----------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tabLst>
                <a:tab pos="3885565" algn="l"/>
              </a:tabLst>
            </a:pPr>
            <a:r>
              <a:rPr dirty="0" sz="1050">
                <a:latin typeface="Consolas"/>
                <a:cs typeface="Consolas"/>
              </a:rPr>
              <a:t>|&lt;----- loginResult -------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|&lt;------ Login -----------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|------ loginResult 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3811904" algn="l"/>
              </a:tabLst>
            </a:pPr>
            <a:r>
              <a:rPr dirty="0" sz="1050">
                <a:latin typeface="Consolas"/>
                <a:cs typeface="Consolas"/>
              </a:rPr>
              <a:t>|------ startMatch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|&lt;------ startMatch 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 matchSuccess -------|---- matchSuccess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|------ Ready ------------&gt;|------ Ready ------------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 roomInfo ----------|---- roomInfo 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 gameStart ---------|&lt;---- gameStart 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03696" y="4062017"/>
            <a:ext cx="19926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|------ move ------------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16154" y="3878478"/>
            <a:ext cx="8636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7300" y="4222037"/>
            <a:ext cx="5288280" cy="16097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316355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|&lt;---- moveResult --------|---- moveResult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316355">
              <a:lnSpc>
                <a:spcPct val="100000"/>
              </a:lnSpc>
              <a:spcBef>
                <a:spcPts val="95"/>
              </a:spcBef>
              <a:tabLst>
                <a:tab pos="3221990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|&lt;------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050">
                <a:latin typeface="Consolas"/>
                <a:cs typeface="Consolas"/>
              </a:rPr>
              <a:t>move -------------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31635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 moveResult --------|---- moveResult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316355">
              <a:lnSpc>
                <a:spcPct val="100000"/>
              </a:lnSpc>
              <a:spcBef>
                <a:spcPts val="95"/>
              </a:spcBef>
              <a:tabLst>
                <a:tab pos="1902460" algn="l"/>
                <a:tab pos="5128260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... until gameOver / timeout </a:t>
            </a:r>
            <a:r>
              <a:rPr dirty="0" sz="1050" spc="-25">
                <a:latin typeface="Consolas"/>
                <a:cs typeface="Consolas"/>
              </a:rPr>
              <a:t>...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657225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204" b="0">
                <a:latin typeface="Microsoft YaHei Light"/>
                <a:cs typeface="Microsoft YaHei Light"/>
              </a:rPr>
              <a:t>1: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-60" b="0">
                <a:latin typeface="Microsoft YaHei Light"/>
                <a:cs typeface="Microsoft YaHei Light"/>
              </a:rPr>
              <a:t>WebSocket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-114" b="0">
                <a:latin typeface="Microsoft YaHei Light"/>
                <a:cs typeface="Microsoft YaHei Light"/>
              </a:rPr>
              <a:t>JSON：</a:t>
            </a:r>
            <a:r>
              <a:rPr dirty="0" sz="1100" spc="80" b="0">
                <a:latin typeface="Microsoft YaHei Light"/>
                <a:cs typeface="Microsoft YaHei Light"/>
              </a:rPr>
              <a:t>登录 → 匹配 → </a:t>
            </a:r>
            <a:r>
              <a:rPr dirty="0" sz="1100" spc="-30" b="0">
                <a:latin typeface="Microsoft YaHei Light"/>
                <a:cs typeface="Microsoft YaHei Light"/>
              </a:rPr>
              <a:t>Ready</a:t>
            </a:r>
            <a:r>
              <a:rPr dirty="0" sz="1100" spc="80" b="0">
                <a:latin typeface="Microsoft YaHei Light"/>
                <a:cs typeface="Microsoft YaHei Light"/>
              </a:rPr>
              <a:t> → 开局 → 走子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7.2.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非法着法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900000" y="602768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896825" y="6152527"/>
            <a:ext cx="5766435" cy="1676400"/>
            <a:chOff x="896825" y="6152527"/>
            <a:chExt cx="5766435" cy="1676400"/>
          </a:xfrm>
        </p:grpSpPr>
        <p:sp>
          <p:nvSpPr>
            <p:cNvPr id="21" name="object 21" descr=""/>
            <p:cNvSpPr/>
            <p:nvPr/>
          </p:nvSpPr>
          <p:spPr>
            <a:xfrm>
              <a:off x="900000" y="6155702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5712374" y="1669721"/>
                  </a:move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00000" y="6155702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149499" y="6276600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921549" y="6276600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074625" y="6618230"/>
            <a:ext cx="5410835" cy="1033144"/>
            <a:chOff x="1074625" y="6618230"/>
            <a:chExt cx="5410835" cy="1033144"/>
          </a:xfrm>
        </p:grpSpPr>
        <p:sp>
          <p:nvSpPr>
            <p:cNvPr id="26" name="object 26" descr=""/>
            <p:cNvSpPr/>
            <p:nvPr/>
          </p:nvSpPr>
          <p:spPr>
            <a:xfrm>
              <a:off x="1077800" y="662140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5">
                  <a:moveTo>
                    <a:pt x="5369474" y="1026218"/>
                  </a:move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77800" y="662140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350329" y="6687457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16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3230127" y="6675697"/>
            <a:ext cx="199263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72845">
              <a:lnSpc>
                <a:spcPct val="100000"/>
              </a:lnSpc>
              <a:spcBef>
                <a:spcPts val="190"/>
              </a:spcBef>
            </a:pP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27324" y="7019256"/>
            <a:ext cx="4705350" cy="10414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802764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|------ move ------------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802764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 error(2001) 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802764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 moveResult </a:t>
            </a:r>
            <a:r>
              <a:rPr dirty="0" sz="1050" spc="-10">
                <a:latin typeface="Consolas"/>
                <a:cs typeface="Consolas"/>
              </a:rPr>
              <a:t>valid=false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2:</a:t>
            </a:r>
            <a:r>
              <a:rPr dirty="0" sz="1100" spc="15" b="0">
                <a:latin typeface="Microsoft YaHei Light"/>
                <a:cs typeface="Microsoft YaHei Light"/>
              </a:rPr>
              <a:t> 非法着法：仅发送方收到 </a:t>
            </a:r>
            <a:r>
              <a:rPr dirty="0" sz="1100" spc="55" b="0">
                <a:latin typeface="Microsoft YaHei Light"/>
                <a:cs typeface="Microsoft YaHei Light"/>
              </a:rPr>
              <a:t>error</a:t>
            </a:r>
            <a:r>
              <a:rPr dirty="0" sz="1100" spc="120" b="0">
                <a:latin typeface="Microsoft YaHei Light"/>
                <a:cs typeface="Microsoft YaHei Light"/>
              </a:rPr>
              <a:t> + </a:t>
            </a:r>
            <a:r>
              <a:rPr dirty="0" sz="1100" spc="65" b="0">
                <a:latin typeface="Microsoft YaHei Light"/>
                <a:cs typeface="Microsoft YaHei Light"/>
              </a:rPr>
              <a:t>valid=false</a:t>
            </a:r>
            <a:r>
              <a:rPr dirty="0" sz="1100" spc="135" b="0">
                <a:latin typeface="Microsoft YaHei Light"/>
                <a:cs typeface="Microsoft YaHei Light"/>
              </a:rPr>
              <a:t> 的 </a:t>
            </a:r>
            <a:r>
              <a:rPr dirty="0" sz="1100" spc="-10" b="0">
                <a:latin typeface="Microsoft YaHei Light"/>
                <a:cs typeface="Microsoft YaHei Light"/>
              </a:rPr>
              <a:t>moveResult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19027"/>
            <a:ext cx="1225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7.3.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超时判负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96825" y="1293956"/>
            <a:ext cx="5766435" cy="1676400"/>
            <a:chOff x="896825" y="1293956"/>
            <a:chExt cx="5766435" cy="1676400"/>
          </a:xfrm>
        </p:grpSpPr>
        <p:sp>
          <p:nvSpPr>
            <p:cNvPr id="5" name="object 5" descr=""/>
            <p:cNvSpPr/>
            <p:nvPr/>
          </p:nvSpPr>
          <p:spPr>
            <a:xfrm>
              <a:off x="900000" y="1297131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5712374" y="1669721"/>
                  </a:move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0000" y="1297131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77800" y="176283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4">
                  <a:moveTo>
                    <a:pt x="5369474" y="1026218"/>
                  </a:move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7800" y="176283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4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87300" y="1418029"/>
            <a:ext cx="4966335" cy="2180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1745">
              <a:lnSpc>
                <a:spcPct val="100000"/>
              </a:lnSpc>
              <a:spcBef>
                <a:spcPts val="100"/>
              </a:spcBef>
              <a:tabLst>
                <a:tab pos="4034154" algn="l"/>
              </a:tabLst>
            </a:pP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</a:t>
            </a:r>
            <a:r>
              <a:rPr dirty="0" sz="1100" spc="2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	服务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器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Microsoft YaHei Light"/>
              <a:cs typeface="Microsoft YaHei Light"/>
            </a:endParaRPr>
          </a:p>
          <a:p>
            <a:pPr marL="1462405">
              <a:lnSpc>
                <a:spcPct val="100000"/>
              </a:lnSpc>
              <a:spcBef>
                <a:spcPts val="5"/>
              </a:spcBef>
              <a:tabLst>
                <a:tab pos="3515360" algn="l"/>
              </a:tabLst>
            </a:pPr>
            <a:r>
              <a:rPr dirty="0" sz="1050">
                <a:latin typeface="Consolas"/>
                <a:cs typeface="Consolas"/>
              </a:rPr>
              <a:t>Client A </a:t>
            </a:r>
            <a:r>
              <a:rPr dirty="0" sz="1050" spc="-10">
                <a:latin typeface="Consolas"/>
                <a:cs typeface="Consolas"/>
              </a:rPr>
              <a:t>(Red)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  <a:p>
            <a:pPr marL="2342515">
              <a:lnSpc>
                <a:spcPct val="100000"/>
              </a:lnSpc>
              <a:spcBef>
                <a:spcPts val="90"/>
              </a:spcBef>
              <a:tabLst>
                <a:tab pos="424878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2342515">
              <a:lnSpc>
                <a:spcPct val="100000"/>
              </a:lnSpc>
              <a:spcBef>
                <a:spcPts val="95"/>
              </a:spcBef>
              <a:tabLst>
                <a:tab pos="2635885" algn="l"/>
                <a:tab pos="424878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(no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050">
                <a:latin typeface="Consolas"/>
                <a:cs typeface="Consolas"/>
              </a:rPr>
              <a:t>move within </a:t>
            </a:r>
            <a:r>
              <a:rPr dirty="0" sz="1050" spc="-20">
                <a:latin typeface="Consolas"/>
                <a:cs typeface="Consolas"/>
              </a:rPr>
              <a:t>65s)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234251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 timeout -------------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2342515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 gameOver ------------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901700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190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3:</a:t>
            </a:r>
            <a:r>
              <a:rPr dirty="0" sz="1100" spc="45" b="0">
                <a:latin typeface="Microsoft YaHei Light"/>
                <a:cs typeface="Microsoft YaHei Light"/>
              </a:rPr>
              <a:t> 超时：广播 </a:t>
            </a:r>
            <a:r>
              <a:rPr dirty="0" sz="1100" b="0">
                <a:latin typeface="Microsoft YaHei Light"/>
                <a:cs typeface="Microsoft YaHei Light"/>
              </a:rPr>
              <a:t>timeout</a:t>
            </a:r>
            <a:r>
              <a:rPr dirty="0" sz="1100" spc="110" b="0">
                <a:latin typeface="Microsoft YaHei Light"/>
                <a:cs typeface="Microsoft YaHei Light"/>
              </a:rPr>
              <a:t> + </a:t>
            </a:r>
            <a:r>
              <a:rPr dirty="0" sz="1100" spc="-50" b="0">
                <a:latin typeface="Microsoft YaHei Light"/>
                <a:cs typeface="Microsoft YaHei Light"/>
              </a:rPr>
              <a:t>gameOver（reason=timeout）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7.4.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认输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900000" y="379455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896825" y="3919397"/>
            <a:ext cx="5766435" cy="1504315"/>
            <a:chOff x="896825" y="3919397"/>
            <a:chExt cx="5766435" cy="1504315"/>
          </a:xfrm>
        </p:grpSpPr>
        <p:sp>
          <p:nvSpPr>
            <p:cNvPr id="12" name="object 12" descr=""/>
            <p:cNvSpPr/>
            <p:nvPr/>
          </p:nvSpPr>
          <p:spPr>
            <a:xfrm>
              <a:off x="900000" y="3922572"/>
              <a:ext cx="5760085" cy="1497965"/>
            </a:xfrm>
            <a:custGeom>
              <a:avLst/>
              <a:gdLst/>
              <a:ahLst/>
              <a:cxnLst/>
              <a:rect l="l" t="t" r="r" b="b"/>
              <a:pathLst>
                <a:path w="5760084" h="1497964">
                  <a:moveTo>
                    <a:pt x="5712374" y="1497942"/>
                  </a:moveTo>
                  <a:lnTo>
                    <a:pt x="47625" y="1497942"/>
                  </a:lnTo>
                  <a:lnTo>
                    <a:pt x="29087" y="1494200"/>
                  </a:lnTo>
                  <a:lnTo>
                    <a:pt x="13949" y="1483993"/>
                  </a:lnTo>
                  <a:lnTo>
                    <a:pt x="3742" y="1468855"/>
                  </a:lnTo>
                  <a:lnTo>
                    <a:pt x="0" y="145031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450317"/>
                  </a:lnTo>
                  <a:lnTo>
                    <a:pt x="5756257" y="1468855"/>
                  </a:lnTo>
                  <a:lnTo>
                    <a:pt x="5746050" y="1483993"/>
                  </a:lnTo>
                  <a:lnTo>
                    <a:pt x="5730912" y="1494200"/>
                  </a:lnTo>
                  <a:lnTo>
                    <a:pt x="5712374" y="1497942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00000" y="3922572"/>
              <a:ext cx="5760085" cy="1497965"/>
            </a:xfrm>
            <a:custGeom>
              <a:avLst/>
              <a:gdLst/>
              <a:ahLst/>
              <a:cxnLst/>
              <a:rect l="l" t="t" r="r" b="b"/>
              <a:pathLst>
                <a:path w="5760084" h="1497964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450317"/>
                  </a:lnTo>
                  <a:lnTo>
                    <a:pt x="5756257" y="1468855"/>
                  </a:lnTo>
                  <a:lnTo>
                    <a:pt x="5746050" y="1483993"/>
                  </a:lnTo>
                  <a:lnTo>
                    <a:pt x="5730912" y="1494200"/>
                  </a:lnTo>
                  <a:lnTo>
                    <a:pt x="5712374" y="1497942"/>
                  </a:lnTo>
                  <a:lnTo>
                    <a:pt x="47625" y="1497942"/>
                  </a:lnTo>
                  <a:lnTo>
                    <a:pt x="29087" y="1494200"/>
                  </a:lnTo>
                  <a:lnTo>
                    <a:pt x="13949" y="1483993"/>
                  </a:lnTo>
                  <a:lnTo>
                    <a:pt x="3742" y="1468855"/>
                  </a:lnTo>
                  <a:lnTo>
                    <a:pt x="0" y="1450317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49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699133" y="4043470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570449" y="4043470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02066" y="4043470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074625" y="4385100"/>
            <a:ext cx="5410835" cy="861060"/>
            <a:chOff x="1074625" y="4385100"/>
            <a:chExt cx="5410835" cy="861060"/>
          </a:xfrm>
        </p:grpSpPr>
        <p:sp>
          <p:nvSpPr>
            <p:cNvPr id="18" name="object 18" descr=""/>
            <p:cNvSpPr/>
            <p:nvPr/>
          </p:nvSpPr>
          <p:spPr>
            <a:xfrm>
              <a:off x="1077800" y="4388275"/>
              <a:ext cx="5404485" cy="854710"/>
            </a:xfrm>
            <a:custGeom>
              <a:avLst/>
              <a:gdLst/>
              <a:ahLst/>
              <a:cxnLst/>
              <a:rect l="l" t="t" r="r" b="b"/>
              <a:pathLst>
                <a:path w="5404485" h="854710">
                  <a:moveTo>
                    <a:pt x="5369474" y="854439"/>
                  </a:moveTo>
                  <a:lnTo>
                    <a:pt x="34925" y="854439"/>
                  </a:lnTo>
                  <a:lnTo>
                    <a:pt x="21330" y="851695"/>
                  </a:lnTo>
                  <a:lnTo>
                    <a:pt x="10229" y="844210"/>
                  </a:lnTo>
                  <a:lnTo>
                    <a:pt x="2744" y="833108"/>
                  </a:lnTo>
                  <a:lnTo>
                    <a:pt x="0" y="819514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819514"/>
                  </a:lnTo>
                  <a:lnTo>
                    <a:pt x="5401655" y="833108"/>
                  </a:lnTo>
                  <a:lnTo>
                    <a:pt x="5394170" y="844210"/>
                  </a:lnTo>
                  <a:lnTo>
                    <a:pt x="5383069" y="851695"/>
                  </a:lnTo>
                  <a:lnTo>
                    <a:pt x="5369474" y="85443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77800" y="4388275"/>
              <a:ext cx="5404485" cy="854710"/>
            </a:xfrm>
            <a:custGeom>
              <a:avLst/>
              <a:gdLst/>
              <a:ahLst/>
              <a:cxnLst/>
              <a:rect l="l" t="t" r="r" b="b"/>
              <a:pathLst>
                <a:path w="5404485" h="854710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819514"/>
                  </a:lnTo>
                  <a:lnTo>
                    <a:pt x="5401655" y="833108"/>
                  </a:lnTo>
                  <a:lnTo>
                    <a:pt x="5394170" y="844210"/>
                  </a:lnTo>
                  <a:lnTo>
                    <a:pt x="5383069" y="851695"/>
                  </a:lnTo>
                  <a:lnTo>
                    <a:pt x="5369474" y="854439"/>
                  </a:lnTo>
                  <a:lnTo>
                    <a:pt x="34925" y="854439"/>
                  </a:lnTo>
                  <a:lnTo>
                    <a:pt x="21330" y="851695"/>
                  </a:lnTo>
                  <a:lnTo>
                    <a:pt x="10229" y="844210"/>
                  </a:lnTo>
                  <a:lnTo>
                    <a:pt x="2744" y="833108"/>
                  </a:lnTo>
                  <a:lnTo>
                    <a:pt x="0" y="819514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397215" y="4454327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277013" y="4442568"/>
            <a:ext cx="3898900" cy="7131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72845">
              <a:lnSpc>
                <a:spcPct val="100000"/>
              </a:lnSpc>
              <a:spcBef>
                <a:spcPts val="190"/>
              </a:spcBef>
              <a:tabLst>
                <a:tab pos="3079115" algn="l"/>
              </a:tabLst>
            </a:pPr>
            <a:r>
              <a:rPr dirty="0" sz="1050" spc="-10">
                <a:latin typeface="Consolas"/>
                <a:cs typeface="Consolas"/>
              </a:rPr>
              <a:t>Server</a:t>
            </a:r>
            <a:r>
              <a:rPr dirty="0" sz="1050">
                <a:latin typeface="Consolas"/>
                <a:cs typeface="Consolas"/>
              </a:rPr>
              <a:t>	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  <a:tab pos="38119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tabLst>
                <a:tab pos="3811904" algn="l"/>
              </a:tabLst>
            </a:pPr>
            <a:r>
              <a:rPr dirty="0" sz="1050">
                <a:latin typeface="Consolas"/>
                <a:cs typeface="Consolas"/>
              </a:rPr>
              <a:t>|-------- Resign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|&lt;------ gameOver -------|------ gameOver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87300" y="5462673"/>
            <a:ext cx="458216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5875">
              <a:lnSpc>
                <a:spcPct val="100000"/>
              </a:lnSpc>
              <a:spcBef>
                <a:spcPts val="100"/>
              </a:spcBef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29" b="0">
                <a:latin typeface="Microsoft YaHei Light"/>
                <a:cs typeface="Microsoft YaHei Light"/>
              </a:rPr>
              <a:t> </a:t>
            </a:r>
            <a:r>
              <a:rPr dirty="0" sz="1100" spc="100" b="0">
                <a:latin typeface="Microsoft YaHei Light"/>
                <a:cs typeface="Microsoft YaHei Light"/>
              </a:rPr>
              <a:t>4:</a:t>
            </a:r>
            <a:r>
              <a:rPr dirty="0" sz="1100" spc="55" b="0">
                <a:latin typeface="Microsoft YaHei Light"/>
                <a:cs typeface="Microsoft YaHei Light"/>
              </a:rPr>
              <a:t> 认输：广播 </a:t>
            </a:r>
            <a:r>
              <a:rPr dirty="0" sz="1100" spc="-40" b="0">
                <a:latin typeface="Microsoft YaHei Light"/>
                <a:cs typeface="Microsoft YaHei Light"/>
              </a:rPr>
              <a:t>gameOver（reason=resign）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7.5.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 先手协商时序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（requestFirstHand）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900000" y="624821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896825" y="6373058"/>
            <a:ext cx="5766435" cy="1847850"/>
            <a:chOff x="896825" y="6373058"/>
            <a:chExt cx="5766435" cy="1847850"/>
          </a:xfrm>
        </p:grpSpPr>
        <p:sp>
          <p:nvSpPr>
            <p:cNvPr id="25" name="object 25" descr=""/>
            <p:cNvSpPr/>
            <p:nvPr/>
          </p:nvSpPr>
          <p:spPr>
            <a:xfrm>
              <a:off x="900000" y="6376233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5712374" y="1841501"/>
                  </a:move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0000" y="6376233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699133" y="6497131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570449" y="6497131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02066" y="6497131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74625" y="6838761"/>
            <a:ext cx="5410835" cy="1204595"/>
            <a:chOff x="1074625" y="6838761"/>
            <a:chExt cx="5410835" cy="1204595"/>
          </a:xfrm>
        </p:grpSpPr>
        <p:sp>
          <p:nvSpPr>
            <p:cNvPr id="31" name="object 31" descr=""/>
            <p:cNvSpPr/>
            <p:nvPr/>
          </p:nvSpPr>
          <p:spPr>
            <a:xfrm>
              <a:off x="1077800" y="6841936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5369474" y="1197998"/>
                  </a:move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77800" y="6841936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323898" y="6907988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17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2203696" y="6896228"/>
            <a:ext cx="4045585" cy="105664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72845">
              <a:lnSpc>
                <a:spcPct val="100000"/>
              </a:lnSpc>
              <a:spcBef>
                <a:spcPts val="190"/>
              </a:spcBef>
              <a:tabLst>
                <a:tab pos="3079115" algn="l"/>
              </a:tabLst>
            </a:pPr>
            <a:r>
              <a:rPr dirty="0" sz="1050" spc="-10">
                <a:latin typeface="Consolas"/>
                <a:cs typeface="Consolas"/>
              </a:rPr>
              <a:t>Server</a:t>
            </a:r>
            <a:r>
              <a:rPr dirty="0" sz="1050">
                <a:latin typeface="Consolas"/>
                <a:cs typeface="Consolas"/>
              </a:rPr>
              <a:t>	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  <a:tab pos="38119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|------ Ready ------------&gt;|------ Ready ------------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|-- requestFirstHand -----&gt;|&lt;-- requestFirstHand 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 gameStart ---------|&lt;---- gameStart 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292735" algn="l"/>
                <a:tab pos="38119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(colors per wannaFirst </a:t>
            </a:r>
            <a:r>
              <a:rPr dirty="0" sz="1050" spc="-10">
                <a:latin typeface="Consolas"/>
                <a:cs typeface="Consolas"/>
              </a:rPr>
              <a:t>negotiation)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57474" y="8259892"/>
            <a:ext cx="48450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370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5:</a:t>
            </a:r>
            <a:r>
              <a:rPr dirty="0" sz="1100" spc="185" b="0">
                <a:latin typeface="Microsoft YaHei Light"/>
                <a:cs typeface="Microsoft YaHei Light"/>
              </a:rPr>
              <a:t> 可</a:t>
            </a:r>
            <a:r>
              <a:rPr dirty="0" sz="1100" b="0">
                <a:latin typeface="Microsoft YaHei Light"/>
                <a:cs typeface="Microsoft YaHei Light"/>
              </a:rPr>
              <a:t>选</a:t>
            </a:r>
            <a:r>
              <a:rPr dirty="0" sz="1100" b="0">
                <a:latin typeface="Microsoft YaHei Light"/>
                <a:cs typeface="Microsoft YaHei Light"/>
              </a:rPr>
              <a:t>：10s</a:t>
            </a:r>
            <a:r>
              <a:rPr dirty="0" sz="1100" spc="70" b="0">
                <a:latin typeface="Microsoft YaHei Light"/>
                <a:cs typeface="Microsoft YaHei Light"/>
              </a:rPr>
              <a:t> 窗口内双方发送 </a:t>
            </a:r>
            <a:r>
              <a:rPr dirty="0" sz="1100" b="0">
                <a:latin typeface="Microsoft YaHei Light"/>
                <a:cs typeface="Microsoft YaHei Light"/>
              </a:rPr>
              <a:t>requestFirstHand，</a:t>
            </a:r>
            <a:r>
              <a:rPr dirty="0" sz="1100" b="0">
                <a:latin typeface="Microsoft YaHei Light"/>
                <a:cs typeface="Microsoft YaHei Light"/>
              </a:rPr>
              <a:t>服</a:t>
            </a:r>
            <a:r>
              <a:rPr dirty="0" sz="1100" b="0">
                <a:latin typeface="Microsoft YaHei Light"/>
                <a:cs typeface="Microsoft YaHei Light"/>
              </a:rPr>
              <a:t>务</a:t>
            </a:r>
            <a:r>
              <a:rPr dirty="0" sz="1100" b="0">
                <a:latin typeface="Microsoft YaHei Light"/>
                <a:cs typeface="Microsoft YaHei Light"/>
              </a:rPr>
              <a:t>器</a:t>
            </a:r>
            <a:r>
              <a:rPr dirty="0" sz="1100" b="0">
                <a:latin typeface="Microsoft YaHei Light"/>
                <a:cs typeface="Microsoft YaHei Light"/>
              </a:rPr>
              <a:t>分</a:t>
            </a:r>
            <a:r>
              <a:rPr dirty="0" sz="1100" b="0">
                <a:latin typeface="Microsoft YaHei Light"/>
                <a:cs typeface="Microsoft YaHei Light"/>
              </a:rPr>
              <a:t>配</a:t>
            </a:r>
            <a:r>
              <a:rPr dirty="0" sz="1100" b="0">
                <a:latin typeface="Microsoft YaHei Light"/>
                <a:cs typeface="Microsoft YaHei Light"/>
              </a:rPr>
              <a:t>红</a:t>
            </a:r>
            <a:r>
              <a:rPr dirty="0" sz="1100" b="0">
                <a:latin typeface="Microsoft YaHei Light"/>
                <a:cs typeface="Microsoft YaHei Light"/>
              </a:rPr>
              <a:t>/</a:t>
            </a:r>
            <a:r>
              <a:rPr dirty="0" sz="1100" spc="-50" b="0">
                <a:latin typeface="Microsoft YaHei Light"/>
                <a:cs typeface="Microsoft YaHei Light"/>
              </a:rPr>
              <a:t>黑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19027"/>
            <a:ext cx="1225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7.6.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断线判负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96825" y="1293956"/>
            <a:ext cx="5766435" cy="1676400"/>
            <a:chOff x="896825" y="1293956"/>
            <a:chExt cx="5766435" cy="1676400"/>
          </a:xfrm>
        </p:grpSpPr>
        <p:sp>
          <p:nvSpPr>
            <p:cNvPr id="5" name="object 5" descr=""/>
            <p:cNvSpPr/>
            <p:nvPr/>
          </p:nvSpPr>
          <p:spPr>
            <a:xfrm>
              <a:off x="900000" y="1297131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5712374" y="1669721"/>
                  </a:move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0000" y="1297131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686433" y="1418029"/>
            <a:ext cx="5842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57749" y="1418029"/>
            <a:ext cx="444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89366" y="1418029"/>
            <a:ext cx="5842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74625" y="1759660"/>
            <a:ext cx="5410835" cy="1033144"/>
            <a:chOff x="1074625" y="1759660"/>
            <a:chExt cx="5410835" cy="1033144"/>
          </a:xfrm>
        </p:grpSpPr>
        <p:sp>
          <p:nvSpPr>
            <p:cNvPr id="11" name="object 11" descr=""/>
            <p:cNvSpPr/>
            <p:nvPr/>
          </p:nvSpPr>
          <p:spPr>
            <a:xfrm>
              <a:off x="1077800" y="176283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4">
                  <a:moveTo>
                    <a:pt x="5369474" y="1026218"/>
                  </a:move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77800" y="1762835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4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84515" y="1828886"/>
            <a:ext cx="6121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37377" y="1828886"/>
            <a:ext cx="4654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43606" y="1828886"/>
            <a:ext cx="6121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2245263" y="2047679"/>
          <a:ext cx="3949700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265"/>
                <a:gridCol w="953135"/>
                <a:gridCol w="622935"/>
                <a:gridCol w="2157730"/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90"/>
                        </a:lnSpc>
                        <a:tabLst>
                          <a:tab pos="1905635" algn="l"/>
                        </a:tabLst>
                      </a:pP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(connection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14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close)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  <a:tabLst>
                          <a:tab pos="1905635" algn="l"/>
                        </a:tabLst>
                      </a:pP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|------ gameOver --------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&gt;|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00"/>
                        </a:lnSpc>
                        <a:tabLst>
                          <a:tab pos="219710" algn="l"/>
                          <a:tab pos="1905635" algn="l"/>
                        </a:tabLst>
                      </a:pP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reason=disconnect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	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887300" y="3009011"/>
            <a:ext cx="5435600" cy="741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100"/>
              </a:spcBef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6:</a:t>
            </a:r>
            <a:r>
              <a:rPr dirty="0" sz="1100" spc="95" b="0">
                <a:latin typeface="Microsoft YaHei Light"/>
                <a:cs typeface="Microsoft YaHei Light"/>
              </a:rPr>
              <a:t> 一方 </a:t>
            </a:r>
            <a:r>
              <a:rPr dirty="0" sz="1100" spc="-60" b="0">
                <a:latin typeface="Microsoft YaHei Light"/>
                <a:cs typeface="Microsoft YaHei Light"/>
              </a:rPr>
              <a:t>WebSocket</a:t>
            </a:r>
            <a:r>
              <a:rPr dirty="0" sz="1100" spc="35" b="0">
                <a:latin typeface="Microsoft YaHei Light"/>
                <a:cs typeface="Microsoft YaHei Light"/>
              </a:rPr>
              <a:t> 关闭：对方收到 </a:t>
            </a:r>
            <a:r>
              <a:rPr dirty="0" sz="1100" spc="-25" b="0">
                <a:latin typeface="Microsoft YaHei Light"/>
                <a:cs typeface="Microsoft YaHei Light"/>
              </a:rPr>
              <a:t>gameOver（reason=disconnect）</a:t>
            </a:r>
            <a:endParaRPr sz="1100">
              <a:latin typeface="Microsoft YaHei Light"/>
              <a:cs typeface="Microsoft YaHei Light"/>
            </a:endParaRPr>
          </a:p>
          <a:p>
            <a:pPr marL="12700" marR="5080">
              <a:lnSpc>
                <a:spcPct val="127800"/>
              </a:lnSpc>
              <a:spcBef>
                <a:spcPts val="630"/>
              </a:spcBef>
            </a:pPr>
            <a:r>
              <a:rPr dirty="0" sz="1200" spc="40" b="0">
                <a:latin typeface="Microsoft YaHei Light"/>
                <a:cs typeface="Microsoft YaHei Light"/>
              </a:rPr>
              <a:t>注：附录 </a:t>
            </a:r>
            <a:r>
              <a:rPr dirty="0" sz="1200" b="0">
                <a:latin typeface="Microsoft YaHei Light"/>
                <a:cs typeface="Microsoft YaHei Light"/>
              </a:rPr>
              <a:t>B</a:t>
            </a:r>
            <a:r>
              <a:rPr dirty="0" sz="1200" spc="190" b="0">
                <a:latin typeface="Microsoft YaHei Light"/>
                <a:cs typeface="Microsoft YaHei Light"/>
              </a:rPr>
              <a:t> §B.7</a:t>
            </a:r>
            <a:r>
              <a:rPr dirty="0" sz="1200" spc="100" b="0">
                <a:latin typeface="Microsoft YaHei Light"/>
                <a:cs typeface="Microsoft YaHei Light"/>
              </a:rPr>
              <a:t> 保留 </a:t>
            </a:r>
            <a:r>
              <a:rPr dirty="0" sz="1200" b="0">
                <a:latin typeface="Microsoft YaHei Light"/>
                <a:cs typeface="Microsoft YaHei Light"/>
              </a:rPr>
              <a:t>v2.0</a:t>
            </a:r>
            <a:r>
              <a:rPr dirty="0" sz="1200" spc="220" b="0">
                <a:latin typeface="Microsoft YaHei Light"/>
                <a:cs typeface="Microsoft YaHei Light"/>
              </a:rPr>
              <a:t>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15" b="0">
                <a:latin typeface="Microsoft YaHei Light"/>
                <a:cs typeface="Microsoft YaHei Light"/>
              </a:rPr>
              <a:t> 文本帧典型时序图</a:t>
            </a:r>
            <a:r>
              <a:rPr dirty="0" sz="1200" spc="-135" b="0">
                <a:latin typeface="Microsoft YaHei Light"/>
                <a:cs typeface="Microsoft YaHei Light"/>
              </a:rPr>
              <a:t>（LOGIN/MOVE/BOARD_STATE</a:t>
            </a:r>
            <a:r>
              <a:rPr dirty="0" sz="1200" b="0">
                <a:latin typeface="Microsoft YaHei Light"/>
                <a:cs typeface="Microsoft YaHei Light"/>
              </a:rPr>
              <a:t>等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45" b="0">
                <a:latin typeface="Microsoft YaHei Light"/>
                <a:cs typeface="Microsoft YaHei Light"/>
              </a:rPr>
              <a:t>，供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10" b="0">
                <a:latin typeface="Microsoft YaHei Light"/>
                <a:cs typeface="Microsoft YaHei Light"/>
              </a:rPr>
              <a:t> 联调参考。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74600" y="4133091"/>
            <a:ext cx="5785485" cy="427990"/>
            <a:chOff x="874600" y="4133091"/>
            <a:chExt cx="5785485" cy="427990"/>
          </a:xfrm>
        </p:grpSpPr>
        <p:sp>
          <p:nvSpPr>
            <p:cNvPr id="19" name="object 19" descr=""/>
            <p:cNvSpPr/>
            <p:nvPr/>
          </p:nvSpPr>
          <p:spPr>
            <a:xfrm>
              <a:off x="900000" y="4133091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74600" y="4133091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900000" y="5193868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887300" y="4167023"/>
            <a:ext cx="5054600" cy="1505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8.</a:t>
            </a:r>
            <a:r>
              <a:rPr dirty="0" sz="2000" spc="-5" b="0">
                <a:solidFill>
                  <a:srgbClr val="1E3A8A"/>
                </a:solidFill>
                <a:latin typeface="Microsoft YaHei Light"/>
                <a:cs typeface="Microsoft YaHei Light"/>
              </a:rPr>
              <a:t> 暗子走法与虚拟类型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8.1.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虚拟类型机制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 marR="5080">
              <a:lnSpc>
                <a:spcPct val="111100"/>
              </a:lnSpc>
            </a:pPr>
            <a:r>
              <a:rPr dirty="0" sz="1200" b="0">
                <a:latin typeface="Microsoft YaHei Light"/>
                <a:cs typeface="Microsoft YaHei Light"/>
              </a:rPr>
              <a:t>暗子未翻开时，其移动规则由</a:t>
            </a:r>
            <a:r>
              <a:rPr dirty="0" sz="1200" b="0">
                <a:latin typeface="Microsoft YaHei Light"/>
                <a:cs typeface="Microsoft YaHei Light"/>
              </a:rPr>
              <a:t>所</a:t>
            </a:r>
            <a:r>
              <a:rPr dirty="0" sz="1200" b="0">
                <a:latin typeface="Microsoft YaHei Light"/>
                <a:cs typeface="Microsoft YaHei Light"/>
              </a:rPr>
              <a:t>在</a:t>
            </a:r>
            <a:r>
              <a:rPr dirty="0" sz="1200" b="0">
                <a:latin typeface="Microsoft YaHei Light"/>
                <a:cs typeface="Microsoft YaHei Light"/>
              </a:rPr>
              <a:t>位</a:t>
            </a:r>
            <a:r>
              <a:rPr dirty="0" sz="1200" b="0">
                <a:latin typeface="Microsoft YaHei Light"/>
                <a:cs typeface="Microsoft YaHei Light"/>
              </a:rPr>
              <a:t>置</a:t>
            </a:r>
            <a:r>
              <a:rPr dirty="0" sz="1200" b="0">
                <a:latin typeface="Microsoft YaHei Light"/>
                <a:cs typeface="Microsoft YaHei Light"/>
              </a:rPr>
              <a:t>的</a:t>
            </a:r>
            <a:r>
              <a:rPr dirty="0" sz="1200" b="0">
                <a:latin typeface="Microsoft YaHei Light"/>
                <a:cs typeface="Microsoft YaHei Light"/>
              </a:rPr>
              <a:t>"</a:t>
            </a:r>
            <a:r>
              <a:rPr dirty="0" sz="1200" b="0">
                <a:latin typeface="Microsoft YaHei Light"/>
                <a:cs typeface="Microsoft YaHei Light"/>
              </a:rPr>
              <a:t>虚</a:t>
            </a:r>
            <a:r>
              <a:rPr dirty="0" sz="1200" b="0">
                <a:latin typeface="Microsoft YaHei Light"/>
                <a:cs typeface="Microsoft YaHei Light"/>
              </a:rPr>
              <a:t>拟</a:t>
            </a:r>
            <a:r>
              <a:rPr dirty="0" sz="1200" b="0">
                <a:latin typeface="Microsoft YaHei Light"/>
                <a:cs typeface="Microsoft YaHei Light"/>
              </a:rPr>
              <a:t>类</a:t>
            </a:r>
            <a:r>
              <a:rPr dirty="0" sz="1200" b="0">
                <a:latin typeface="Microsoft YaHei Light"/>
                <a:cs typeface="Microsoft YaHei Light"/>
              </a:rPr>
              <a:t>型</a:t>
            </a:r>
            <a:r>
              <a:rPr dirty="0" sz="1200" b="0">
                <a:latin typeface="Microsoft YaHei Light"/>
                <a:cs typeface="Microsoft YaHei Light"/>
              </a:rPr>
              <a:t>"</a:t>
            </a:r>
            <a:r>
              <a:rPr dirty="0" sz="1200" b="0">
                <a:latin typeface="Microsoft YaHei Light"/>
                <a:cs typeface="Microsoft YaHei Light"/>
              </a:rPr>
              <a:t>决</a:t>
            </a:r>
            <a:r>
              <a:rPr dirty="0" sz="1200" b="0">
                <a:latin typeface="Microsoft YaHei Light"/>
                <a:cs typeface="Microsoft YaHei Light"/>
              </a:rPr>
              <a:t>定</a:t>
            </a:r>
            <a:r>
              <a:rPr dirty="0" sz="1200" b="0">
                <a:latin typeface="Microsoft YaHei Light"/>
                <a:cs typeface="Microsoft YaHei Light"/>
              </a:rPr>
              <a:t>，</a:t>
            </a:r>
            <a:r>
              <a:rPr dirty="0" sz="1200" b="0">
                <a:latin typeface="Microsoft YaHei Light"/>
                <a:cs typeface="Microsoft YaHei Light"/>
              </a:rPr>
              <a:t>而</a:t>
            </a:r>
            <a:r>
              <a:rPr dirty="0" sz="1200" b="0">
                <a:latin typeface="Microsoft YaHei Light"/>
                <a:cs typeface="Microsoft YaHei Light"/>
              </a:rPr>
              <a:t>非</a:t>
            </a:r>
            <a:r>
              <a:rPr dirty="0" sz="1200" b="0">
                <a:latin typeface="Microsoft YaHei Light"/>
                <a:cs typeface="Microsoft YaHei Light"/>
              </a:rPr>
              <a:t>实</a:t>
            </a:r>
            <a:r>
              <a:rPr dirty="0" sz="1200" b="0">
                <a:latin typeface="Microsoft YaHei Light"/>
                <a:cs typeface="Microsoft YaHei Light"/>
              </a:rPr>
              <a:t>际</a:t>
            </a:r>
            <a:r>
              <a:rPr dirty="0" sz="1200" b="0">
                <a:latin typeface="Microsoft YaHei Light"/>
                <a:cs typeface="Microsoft YaHei Light"/>
              </a:rPr>
              <a:t>类</a:t>
            </a:r>
            <a:r>
              <a:rPr dirty="0" sz="1200" b="0">
                <a:latin typeface="Microsoft YaHei Light"/>
                <a:cs typeface="Microsoft YaHei Light"/>
              </a:rPr>
              <a:t>型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r>
              <a:rPr dirty="0" sz="1200" spc="-5" b="0">
                <a:latin typeface="Microsoft YaHei Light"/>
                <a:cs typeface="Microsoft YaHei Light"/>
              </a:rPr>
              <a:t>虚拟类型 = 该位置按中国象棋初始布局本应放置的棋子类型。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18</a:t>
            </a: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1618094" y="5834458"/>
          <a:ext cx="4324350" cy="3380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  <a:gridCol w="431800"/>
              </a:tblGrid>
              <a:tr h="307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f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h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i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將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車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 descr=""/>
          <p:cNvSpPr txBox="1"/>
          <p:nvPr/>
        </p:nvSpPr>
        <p:spPr>
          <a:xfrm>
            <a:off x="887300" y="9238707"/>
            <a:ext cx="5527040" cy="6540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265"/>
              </a:spcBef>
            </a:pPr>
            <a:r>
              <a:rPr dirty="0" sz="1100" b="0">
                <a:latin typeface="Microsoft YaHei Light"/>
                <a:cs typeface="Microsoft YaHei Light"/>
              </a:rPr>
              <a:t>Table</a:t>
            </a:r>
            <a:r>
              <a:rPr dirty="0" sz="1100" spc="229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2:</a:t>
            </a:r>
            <a:r>
              <a:rPr dirty="0" sz="1100" b="0">
                <a:latin typeface="Microsoft YaHei Light"/>
                <a:cs typeface="Microsoft YaHei Light"/>
              </a:rPr>
              <a:t> 棋盘各位置对应的虚拟类型（</a:t>
            </a:r>
            <a:r>
              <a:rPr dirty="0" sz="1050" spc="-10">
                <a:latin typeface="Consolas"/>
                <a:cs typeface="Consolas"/>
              </a:rPr>
              <a:t>― </a:t>
            </a:r>
            <a:r>
              <a:rPr dirty="0" sz="1100" b="0">
                <a:latin typeface="Microsoft YaHei Light"/>
                <a:cs typeface="Microsoft YaHei Light"/>
              </a:rPr>
              <a:t>表示无棋子，红底格为开局即明的将/帅</a:t>
            </a:r>
            <a:r>
              <a:rPr dirty="0" sz="1100" spc="-50" b="0"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200" spc="-20" b="0">
                <a:latin typeface="Microsoft YaHei Light"/>
                <a:cs typeface="Microsoft YaHei Light"/>
              </a:rPr>
              <a:t>说明：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-30" b="0">
                <a:latin typeface="Microsoft YaHei Light"/>
                <a:cs typeface="Microsoft YaHei Light"/>
              </a:rPr>
              <a:t>将</a:t>
            </a:r>
            <a:r>
              <a:rPr dirty="0" sz="1200" spc="-30" b="0">
                <a:latin typeface="Microsoft YaHei Light"/>
                <a:cs typeface="Microsoft YaHei Light"/>
              </a:rPr>
              <a:t>帅</a:t>
            </a:r>
            <a:r>
              <a:rPr dirty="0" sz="1200" spc="-30" b="0">
                <a:latin typeface="Microsoft YaHei Light"/>
                <a:cs typeface="Microsoft YaHei Light"/>
              </a:rPr>
              <a:t>位</a:t>
            </a:r>
            <a:r>
              <a:rPr dirty="0" sz="1200" spc="-30" b="0">
                <a:latin typeface="Microsoft YaHei Light"/>
                <a:cs typeface="Microsoft YaHei Light"/>
              </a:rPr>
              <a:t>置</a:t>
            </a:r>
            <a:r>
              <a:rPr dirty="0" sz="1200" b="0">
                <a:latin typeface="Microsoft YaHei Light"/>
                <a:cs typeface="Microsoft YaHei Light"/>
              </a:rPr>
              <a:t>（0e</a:t>
            </a:r>
            <a:r>
              <a:rPr dirty="0" sz="1200" spc="114" b="0">
                <a:latin typeface="Microsoft YaHei Light"/>
                <a:cs typeface="Microsoft YaHei Light"/>
              </a:rPr>
              <a:t> 和 </a:t>
            </a:r>
            <a:r>
              <a:rPr dirty="0" sz="1200" spc="-50" b="0">
                <a:latin typeface="Microsoft YaHei Light"/>
                <a:cs typeface="Microsoft YaHei Light"/>
              </a:rPr>
              <a:t>9e）</a:t>
            </a:r>
            <a:r>
              <a:rPr dirty="0" sz="1200" spc="5" b="0">
                <a:latin typeface="Microsoft YaHei Light"/>
                <a:cs typeface="Microsoft YaHei Light"/>
              </a:rPr>
              <a:t>为明子，实际类型 = 虚拟类型 = 将</a:t>
            </a:r>
            <a:r>
              <a:rPr dirty="0" sz="1200" b="0">
                <a:latin typeface="Microsoft YaHei Light"/>
                <a:cs typeface="Microsoft YaHei Light"/>
              </a:rPr>
              <a:t>/</a:t>
            </a:r>
            <a:r>
              <a:rPr dirty="0" sz="1200" spc="-50" b="0">
                <a:latin typeface="Microsoft YaHei Light"/>
                <a:cs typeface="Microsoft YaHei Light"/>
              </a:rPr>
              <a:t>帅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00000" y="176304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87300" y="680242"/>
            <a:ext cx="5664200" cy="13582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暗子严格按虚拟类型的中国象棋原始规则移动（含位置限制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10" b="0">
                <a:latin typeface="Microsoft YaHei Light"/>
                <a:cs typeface="Microsoft YaHei Light"/>
              </a:rPr>
              <a:t>，不享有明子强化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例如：位于士位的暗子只能斜走一格于九宫内；翻开后若为明子士，方可离宫过河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8.2.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明子强化规则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0">
                <a:latin typeface="Microsoft YaHei Light"/>
                <a:cs typeface="Microsoft YaHei Light"/>
              </a:rPr>
              <a:t>暗子翻开为明子后，士和象获得强化：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2169114"/>
          <a:ext cx="5766435" cy="76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575"/>
                <a:gridCol w="2540000"/>
                <a:gridCol w="243586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棋子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暗子状态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明子状态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士 / 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斜走一格，限于九宫内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斜走一格，可离宫、可过河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象 / 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田字走法，不可过河，塞象眼有效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田字走法，可过河，塞象眼不变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3054581"/>
            <a:ext cx="2921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其他棋子的走法规则与中国象棋完全一致。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4600" y="3646401"/>
            <a:ext cx="5785485" cy="427990"/>
            <a:chOff x="874600" y="3646401"/>
            <a:chExt cx="5785485" cy="427990"/>
          </a:xfrm>
        </p:grpSpPr>
        <p:sp>
          <p:nvSpPr>
            <p:cNvPr id="7" name="object 7" descr=""/>
            <p:cNvSpPr/>
            <p:nvPr/>
          </p:nvSpPr>
          <p:spPr>
            <a:xfrm>
              <a:off x="900000" y="3646401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74600" y="3646401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87300" y="3680334"/>
            <a:ext cx="2260600" cy="83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9.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胜负与和棋判定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10" b="0">
                <a:solidFill>
                  <a:srgbClr val="1E40AF"/>
                </a:solidFill>
                <a:latin typeface="Microsoft YaHei Light"/>
                <a:cs typeface="Microsoft YaHei Light"/>
              </a:rPr>
              <a:t>9.1.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胜负条件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96825" y="4704003"/>
          <a:ext cx="5794375" cy="2432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375"/>
                <a:gridCol w="1196340"/>
                <a:gridCol w="3883660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条件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 marR="2159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结果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将死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 marR="2159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对方胜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被将军且无任何合法着法可解除将军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困毙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 marR="215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对方胜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未被将军但没有任何合法着法可走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超时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 marR="215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对方胜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单步超过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65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秒未走子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认输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 marR="215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对方胜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主动发送 </a:t>
                      </a:r>
                      <a:r>
                        <a:rPr dirty="0" sz="1200" spc="-60" b="0">
                          <a:latin typeface="Microsoft YaHei Light"/>
                          <a:cs typeface="Microsoft YaHei Light"/>
                        </a:rPr>
                        <a:t>RESIGN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消息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断线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 marR="2159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对方胜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 连接异常断开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463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不应将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对方下一步吃将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584200" marR="243204" indent="-558800">
                        <a:lnSpc>
                          <a:spcPts val="1839"/>
                        </a:lnSpc>
                        <a:tabLst>
                          <a:tab pos="583565" algn="l"/>
                        </a:tabLst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胜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	系统不自动判负，由对方通过正常吃子操作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实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887300" y="7403628"/>
            <a:ext cx="1225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9.2.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和棋条件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00000" y="7853716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896825" y="8056543"/>
          <a:ext cx="5162550" cy="1073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7775"/>
                <a:gridCol w="3914775"/>
              </a:tblGrid>
              <a:tr h="23241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条件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 回合无吃子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双方连续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80 个半步无任何吃子发生（翻子不算吃子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协议和棋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一方提和，对方同意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兵卒长捉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兵/卒连续长捉导致同局面重复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次，判和而非判负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19027"/>
            <a:ext cx="1892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9.3.</a:t>
            </a:r>
            <a:r>
              <a:rPr dirty="0" sz="1500" spc="65" b="0">
                <a:solidFill>
                  <a:srgbClr val="1E40AF"/>
                </a:solidFill>
                <a:latin typeface="Microsoft YaHei Light"/>
                <a:cs typeface="Microsoft YaHei Light"/>
              </a:rPr>
              <a:t> 长将 / 长捉判定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900000" y="11691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3650" y="1290781"/>
          <a:ext cx="577278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/>
                <a:gridCol w="4515485"/>
              </a:tblGrid>
              <a:tr h="3073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判定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长将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26543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同一方连续将军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次，且局面重复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（哈希相同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，判负（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对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方胜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长捉（非兵卒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同一方连续捉子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次，且局面重复，判负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（对方胜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兵卒长捉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兵/卒连续捉子导致局面重复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次，判和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2747669"/>
            <a:ext cx="5588000" cy="119443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实现细节：</a:t>
            </a:r>
            <a:endParaRPr sz="1200">
              <a:latin typeface="Microsoft YaHei Light"/>
              <a:cs typeface="Microsoft YaHei Light"/>
            </a:endParaRPr>
          </a:p>
          <a:p>
            <a:pPr marL="165100" marR="5080" indent="-152400">
              <a:lnSpc>
                <a:spcPct val="127800"/>
              </a:lnSpc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局面重复判定使用局面哈希（</a:t>
            </a:r>
            <a:r>
              <a:rPr dirty="0" sz="1200" spc="-5" b="0">
                <a:latin typeface="Microsoft YaHei Light"/>
                <a:cs typeface="Microsoft YaHei Light"/>
              </a:rPr>
              <a:t>含每个位置的明子类型/颜色/暗子标记 + 当前走子</a:t>
            </a:r>
            <a:r>
              <a:rPr dirty="0" sz="1200" b="0">
                <a:latin typeface="Microsoft YaHei Light"/>
                <a:cs typeface="Microsoft YaHei Light"/>
              </a:rPr>
              <a:t>方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暗子的虚拟类型不参与哈希（同位置虚拟类型固定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计数器在每次吃子后重置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453163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96825" y="4656474"/>
            <a:ext cx="5766435" cy="718820"/>
            <a:chOff x="896825" y="4656474"/>
            <a:chExt cx="5766435" cy="718820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4659649"/>
              <a:ext cx="5760085" cy="712470"/>
            </a:xfrm>
            <a:custGeom>
              <a:avLst/>
              <a:gdLst/>
              <a:ahLst/>
              <a:cxnLst/>
              <a:rect l="l" t="t" r="r" b="b"/>
              <a:pathLst>
                <a:path w="5760084" h="712470">
                  <a:moveTo>
                    <a:pt x="5725074" y="712156"/>
                  </a:moveTo>
                  <a:lnTo>
                    <a:pt x="34925" y="712156"/>
                  </a:lnTo>
                  <a:lnTo>
                    <a:pt x="21330" y="709411"/>
                  </a:lnTo>
                  <a:lnTo>
                    <a:pt x="10229" y="701926"/>
                  </a:lnTo>
                  <a:lnTo>
                    <a:pt x="2744" y="690825"/>
                  </a:lnTo>
                  <a:lnTo>
                    <a:pt x="0" y="677231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677231"/>
                  </a:lnTo>
                  <a:lnTo>
                    <a:pt x="5757255" y="690825"/>
                  </a:lnTo>
                  <a:lnTo>
                    <a:pt x="5749770" y="701926"/>
                  </a:lnTo>
                  <a:lnTo>
                    <a:pt x="5738669" y="709411"/>
                  </a:lnTo>
                  <a:lnTo>
                    <a:pt x="5725074" y="71215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0000" y="4659649"/>
              <a:ext cx="5760085" cy="712470"/>
            </a:xfrm>
            <a:custGeom>
              <a:avLst/>
              <a:gdLst/>
              <a:ahLst/>
              <a:cxnLst/>
              <a:rect l="l" t="t" r="r" b="b"/>
              <a:pathLst>
                <a:path w="5760084" h="712470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677231"/>
                  </a:lnTo>
                  <a:lnTo>
                    <a:pt x="5757255" y="690825"/>
                  </a:lnTo>
                  <a:lnTo>
                    <a:pt x="5749770" y="701926"/>
                  </a:lnTo>
                  <a:lnTo>
                    <a:pt x="5738669" y="709411"/>
                  </a:lnTo>
                  <a:lnTo>
                    <a:pt x="5725074" y="712156"/>
                  </a:lnTo>
                  <a:lnTo>
                    <a:pt x="34925" y="712156"/>
                  </a:lnTo>
                  <a:lnTo>
                    <a:pt x="21330" y="709411"/>
                  </a:lnTo>
                  <a:lnTo>
                    <a:pt x="10229" y="701926"/>
                  </a:lnTo>
                  <a:lnTo>
                    <a:pt x="2744" y="690825"/>
                  </a:lnTo>
                  <a:lnTo>
                    <a:pt x="0" y="677231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87300" y="4081545"/>
            <a:ext cx="4923790" cy="290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0" b="0">
                <a:solidFill>
                  <a:srgbClr val="1E40AF"/>
                </a:solidFill>
                <a:latin typeface="Microsoft YaHei Light"/>
                <a:cs typeface="Microsoft YaHei Light"/>
              </a:rPr>
              <a:t>9.4.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超时判定公式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</a:pPr>
            <a:r>
              <a:rPr dirty="0" sz="1050">
                <a:latin typeface="Consolas"/>
                <a:cs typeface="Consolas"/>
              </a:rPr>
              <a:t>if (serverCurrentTime − serverTurnStartTime &gt; 60000 + 5000) </a:t>
            </a:r>
            <a:r>
              <a:rPr dirty="0" sz="1050" spc="-50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432434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latin typeface="Consolas"/>
                <a:cs typeface="Consolas"/>
              </a:rPr>
              <a:t>// </a:t>
            </a:r>
            <a:r>
              <a:rPr dirty="0" sz="1050" spc="-10">
                <a:latin typeface="Microsoft JhengHei"/>
                <a:cs typeface="Microsoft JhengHei"/>
              </a:rPr>
              <a:t>当前走子方超时判负</a:t>
            </a:r>
            <a:endParaRPr sz="1050">
              <a:latin typeface="Microsoft JhengHei"/>
              <a:cs typeface="Microsoft JhengHei"/>
            </a:endParaRPr>
          </a:p>
          <a:p>
            <a:pPr marL="139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onsolas"/>
              <a:cs typeface="Consolas"/>
            </a:endParaRPr>
          </a:p>
          <a:p>
            <a:pPr marL="165100" indent="-152400">
              <a:lnSpc>
                <a:spcPct val="100000"/>
              </a:lnSpc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60000</a:t>
            </a:r>
            <a:r>
              <a:rPr dirty="0" sz="1050" spc="-120">
                <a:latin typeface="Consolas"/>
                <a:cs typeface="Consolas"/>
              </a:rPr>
              <a:t> </a:t>
            </a:r>
            <a:r>
              <a:rPr dirty="0" sz="1200" spc="-90" b="0">
                <a:latin typeface="Microsoft YaHei Light"/>
                <a:cs typeface="Microsoft YaHei Light"/>
              </a:rPr>
              <a:t>ms</a:t>
            </a:r>
            <a:r>
              <a:rPr dirty="0" sz="1200" spc="55" b="0">
                <a:latin typeface="Microsoft YaHei Light"/>
                <a:cs typeface="Microsoft YaHei Light"/>
              </a:rPr>
              <a:t> = </a:t>
            </a:r>
            <a:r>
              <a:rPr dirty="0" sz="1200" b="0">
                <a:latin typeface="Microsoft YaHei Light"/>
                <a:cs typeface="Microsoft YaHei Light"/>
              </a:rPr>
              <a:t>60</a:t>
            </a:r>
            <a:r>
              <a:rPr dirty="0" sz="1200" spc="50" b="0">
                <a:latin typeface="Microsoft YaHei Light"/>
                <a:cs typeface="Microsoft YaHei Light"/>
              </a:rPr>
              <a:t> 秒</a:t>
            </a:r>
            <a:r>
              <a:rPr dirty="0" sz="1200" b="0">
                <a:latin typeface="Microsoft YaHei Light"/>
                <a:cs typeface="Microsoft YaHei Light"/>
              </a:rPr>
              <a:t>（每步时限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5000</a:t>
            </a:r>
            <a:r>
              <a:rPr dirty="0" sz="1050" spc="-100">
                <a:latin typeface="Consolas"/>
                <a:cs typeface="Consolas"/>
              </a:rPr>
              <a:t> </a:t>
            </a:r>
            <a:r>
              <a:rPr dirty="0" sz="1200" spc="-90" b="0">
                <a:latin typeface="Microsoft YaHei Light"/>
                <a:cs typeface="Microsoft YaHei Light"/>
              </a:rPr>
              <a:t>ms</a:t>
            </a:r>
            <a:r>
              <a:rPr dirty="0" sz="1200" spc="65" b="0">
                <a:latin typeface="Microsoft YaHei Light"/>
                <a:cs typeface="Microsoft YaHei Light"/>
              </a:rPr>
              <a:t> = </a:t>
            </a:r>
            <a:r>
              <a:rPr dirty="0" sz="1200" b="0">
                <a:latin typeface="Microsoft YaHei Light"/>
                <a:cs typeface="Microsoft YaHei Light"/>
              </a:rPr>
              <a:t>5</a:t>
            </a:r>
            <a:r>
              <a:rPr dirty="0" sz="1200" spc="60" b="0">
                <a:latin typeface="Microsoft YaHei Light"/>
                <a:cs typeface="Microsoft YaHei Light"/>
              </a:rPr>
              <a:t> 秒</a:t>
            </a:r>
            <a:r>
              <a:rPr dirty="0" sz="1200" b="0">
                <a:latin typeface="Microsoft YaHei Light"/>
                <a:cs typeface="Microsoft YaHei Light"/>
              </a:rPr>
              <a:t>（网络延迟裕量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2700" marR="3302635">
              <a:lnSpc>
                <a:spcPct val="1111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1200" spc="15" b="0">
                <a:latin typeface="Microsoft YaHei Light"/>
                <a:cs typeface="Microsoft YaHei Light"/>
              </a:rPr>
              <a:t>总阈值 = </a:t>
            </a:r>
            <a:r>
              <a:rPr dirty="0" sz="1200" spc="-40" b="0">
                <a:latin typeface="Microsoft YaHei Light"/>
                <a:cs typeface="Microsoft YaHei Light"/>
              </a:rPr>
              <a:t>65000</a:t>
            </a:r>
            <a:r>
              <a:rPr dirty="0" sz="1200" spc="10" b="0">
                <a:latin typeface="Microsoft YaHei Light"/>
                <a:cs typeface="Microsoft YaHei Light"/>
              </a:rPr>
              <a:t> 毫秒</a:t>
            </a:r>
            <a:r>
              <a:rPr dirty="0" sz="1200" spc="-20" b="0">
                <a:latin typeface="Microsoft YaHei Light"/>
                <a:cs typeface="Microsoft YaHei Light"/>
              </a:rPr>
              <a:t>注意：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30" b="0">
                <a:latin typeface="Microsoft YaHei Light"/>
                <a:cs typeface="Microsoft YaHei Light"/>
              </a:rPr>
              <a:t>回合开始时间 </a:t>
            </a:r>
            <a:r>
              <a:rPr dirty="0" sz="1050">
                <a:latin typeface="Consolas"/>
                <a:cs typeface="Consolas"/>
              </a:rPr>
              <a:t>serverTurnStartTime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由服务器在每次切换走子方时记录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45" b="0">
                <a:latin typeface="Microsoft YaHei Light"/>
                <a:cs typeface="Microsoft YaHei Light"/>
              </a:rPr>
              <a:t>客户端 </a:t>
            </a:r>
            <a:r>
              <a:rPr dirty="0" sz="1200" spc="-125" b="0">
                <a:latin typeface="Microsoft YaHei Light"/>
                <a:cs typeface="Microsoft YaHei Light"/>
              </a:rPr>
              <a:t>Move</a:t>
            </a:r>
            <a:r>
              <a:rPr dirty="0" sz="1200" spc="95" b="0">
                <a:latin typeface="Microsoft YaHei Light"/>
                <a:cs typeface="Microsoft YaHei Light"/>
              </a:rPr>
              <a:t> 中的 </a:t>
            </a:r>
            <a:r>
              <a:rPr dirty="0" sz="1050">
                <a:latin typeface="Consolas"/>
                <a:cs typeface="Consolas"/>
              </a:rPr>
              <a:t>turnStartTime</a:t>
            </a:r>
            <a:r>
              <a:rPr dirty="0" sz="1050" spc="-25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不被信任，仅用于日志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5"/>
              </a:spcBef>
              <a:buChar char="•"/>
              <a:tabLst>
                <a:tab pos="165100" algn="l"/>
              </a:tabLst>
            </a:pPr>
            <a:r>
              <a:rPr dirty="0" sz="1200" spc="30" b="0">
                <a:latin typeface="Microsoft YaHei Light"/>
                <a:cs typeface="Microsoft YaHei Light"/>
              </a:rPr>
              <a:t>若客户端发送 </a:t>
            </a:r>
            <a:r>
              <a:rPr dirty="0" sz="1200" spc="-280" b="0">
                <a:latin typeface="Microsoft YaHei Light"/>
                <a:cs typeface="Microsoft YaHei Light"/>
              </a:rPr>
              <a:t>MOVE</a:t>
            </a:r>
            <a:r>
              <a:rPr dirty="0" sz="1200" spc="-5" b="0">
                <a:latin typeface="Microsoft YaHei Light"/>
                <a:cs typeface="Microsoft YaHei Light"/>
              </a:rPr>
              <a:t> 时已超时，服务器拒绝走子并判当前方负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74600" y="7373603"/>
            <a:ext cx="5785485" cy="427990"/>
            <a:chOff x="874600" y="7373603"/>
            <a:chExt cx="5785485" cy="427990"/>
          </a:xfrm>
        </p:grpSpPr>
        <p:sp>
          <p:nvSpPr>
            <p:cNvPr id="12" name="object 12" descr=""/>
            <p:cNvSpPr/>
            <p:nvPr/>
          </p:nvSpPr>
          <p:spPr>
            <a:xfrm>
              <a:off x="900000" y="7373603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74600" y="7373603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87300" y="7407536"/>
            <a:ext cx="2133600" cy="83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000" spc="210" b="0">
                <a:solidFill>
                  <a:srgbClr val="1E3A8A"/>
                </a:solidFill>
                <a:latin typeface="Microsoft YaHei Light"/>
                <a:cs typeface="Microsoft YaHei Light"/>
              </a:rPr>
              <a:t>10.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棋谱记录格式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04" b="0">
                <a:solidFill>
                  <a:srgbClr val="1E40AF"/>
                </a:solidFill>
                <a:latin typeface="Microsoft YaHei Light"/>
                <a:cs typeface="Microsoft YaHei Light"/>
              </a:rPr>
              <a:t>10.1.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每步棋的记法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900000" y="8434380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896825" y="8559221"/>
            <a:ext cx="5766435" cy="375285"/>
            <a:chOff x="896825" y="8559221"/>
            <a:chExt cx="5766435" cy="375285"/>
          </a:xfrm>
        </p:grpSpPr>
        <p:sp>
          <p:nvSpPr>
            <p:cNvPr id="17" name="object 17" descr=""/>
            <p:cNvSpPr/>
            <p:nvPr/>
          </p:nvSpPr>
          <p:spPr>
            <a:xfrm>
              <a:off x="900000" y="8562396"/>
              <a:ext cx="5760085" cy="368935"/>
            </a:xfrm>
            <a:custGeom>
              <a:avLst/>
              <a:gdLst/>
              <a:ahLst/>
              <a:cxnLst/>
              <a:rect l="l" t="t" r="r" b="b"/>
              <a:pathLst>
                <a:path w="5760084" h="368934">
                  <a:moveTo>
                    <a:pt x="5725074" y="368597"/>
                  </a:moveTo>
                  <a:lnTo>
                    <a:pt x="34925" y="368597"/>
                  </a:lnTo>
                  <a:lnTo>
                    <a:pt x="21330" y="365853"/>
                  </a:lnTo>
                  <a:lnTo>
                    <a:pt x="10229" y="358368"/>
                  </a:lnTo>
                  <a:lnTo>
                    <a:pt x="2744" y="347267"/>
                  </a:lnTo>
                  <a:lnTo>
                    <a:pt x="0" y="333672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33672"/>
                  </a:lnTo>
                  <a:lnTo>
                    <a:pt x="5757255" y="347267"/>
                  </a:lnTo>
                  <a:lnTo>
                    <a:pt x="5749770" y="358368"/>
                  </a:lnTo>
                  <a:lnTo>
                    <a:pt x="5738669" y="365853"/>
                  </a:lnTo>
                  <a:lnTo>
                    <a:pt x="5725074" y="368597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00000" y="8562396"/>
              <a:ext cx="5760085" cy="368935"/>
            </a:xfrm>
            <a:custGeom>
              <a:avLst/>
              <a:gdLst/>
              <a:ahLst/>
              <a:cxnLst/>
              <a:rect l="l" t="t" r="r" b="b"/>
              <a:pathLst>
                <a:path w="5760084" h="368934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33672"/>
                  </a:lnTo>
                  <a:lnTo>
                    <a:pt x="5757255" y="347267"/>
                  </a:lnTo>
                  <a:lnTo>
                    <a:pt x="5749770" y="358368"/>
                  </a:lnTo>
                  <a:lnTo>
                    <a:pt x="5738669" y="365853"/>
                  </a:lnTo>
                  <a:lnTo>
                    <a:pt x="5725074" y="368597"/>
                  </a:lnTo>
                  <a:lnTo>
                    <a:pt x="34925" y="368597"/>
                  </a:lnTo>
                  <a:lnTo>
                    <a:pt x="21330" y="365853"/>
                  </a:lnTo>
                  <a:lnTo>
                    <a:pt x="10229" y="358368"/>
                  </a:lnTo>
                  <a:lnTo>
                    <a:pt x="2744" y="347267"/>
                  </a:lnTo>
                  <a:lnTo>
                    <a:pt x="0" y="333672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49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87300" y="8657944"/>
            <a:ext cx="3606165" cy="520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&lt;</a:t>
            </a:r>
            <a:r>
              <a:rPr dirty="0" sz="1050">
                <a:latin typeface="Microsoft JhengHei"/>
                <a:cs typeface="Microsoft JhengHei"/>
              </a:rPr>
              <a:t>步数</a:t>
            </a:r>
            <a:r>
              <a:rPr dirty="0" sz="1050">
                <a:latin typeface="Consolas"/>
                <a:cs typeface="Consolas"/>
              </a:rPr>
              <a:t>&gt;. &lt;</a:t>
            </a:r>
            <a:r>
              <a:rPr dirty="0" sz="1050">
                <a:latin typeface="Microsoft JhengHei"/>
                <a:cs typeface="Microsoft JhengHei"/>
              </a:rPr>
              <a:t>源坐标</a:t>
            </a:r>
            <a:r>
              <a:rPr dirty="0" sz="1050">
                <a:latin typeface="Consolas"/>
                <a:cs typeface="Consolas"/>
              </a:rPr>
              <a:t>&gt;-&lt;</a:t>
            </a:r>
            <a:r>
              <a:rPr dirty="0" sz="1050">
                <a:latin typeface="Microsoft JhengHei"/>
                <a:cs typeface="Microsoft JhengHei"/>
              </a:rPr>
              <a:t>目标坐标</a:t>
            </a:r>
            <a:r>
              <a:rPr dirty="0" sz="1050">
                <a:latin typeface="Consolas"/>
                <a:cs typeface="Consolas"/>
              </a:rPr>
              <a:t>&gt;[(&lt;</a:t>
            </a:r>
            <a:r>
              <a:rPr dirty="0" sz="1050">
                <a:latin typeface="Microsoft JhengHei"/>
                <a:cs typeface="Microsoft JhengHei"/>
              </a:rPr>
              <a:t>翻出棋子类型</a:t>
            </a:r>
            <a:r>
              <a:rPr dirty="0" sz="1050">
                <a:latin typeface="Consolas"/>
                <a:cs typeface="Consolas"/>
              </a:rPr>
              <a:t>&gt;)] [</a:t>
            </a:r>
            <a:r>
              <a:rPr dirty="0" sz="1050">
                <a:latin typeface="Microsoft JhengHei"/>
                <a:cs typeface="Microsoft JhengHei"/>
              </a:rPr>
              <a:t>翻</a:t>
            </a:r>
            <a:r>
              <a:rPr dirty="0" sz="1050" spc="-50">
                <a:latin typeface="Consolas"/>
                <a:cs typeface="Consolas"/>
              </a:rPr>
              <a:t>]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 b="0">
                <a:latin typeface="Microsoft YaHei Light"/>
                <a:cs typeface="Microsoft YaHei Light"/>
              </a:rPr>
              <a:t>示例：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20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6865546" y="1649853"/>
            <a:ext cx="635000" cy="11220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ts val="1200"/>
              </a:lnSpc>
              <a:spcBef>
                <a:spcPts val="340"/>
              </a:spcBef>
            </a:pP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服务器完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成这些功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能，不应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该使用哈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希相同，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而要保留</a:t>
            </a:r>
            <a:r>
              <a:rPr dirty="0" sz="1200" spc="-15">
                <a:solidFill>
                  <a:srgbClr val="FF0000"/>
                </a:solidFill>
                <a:latin typeface="Microsoft YaHei"/>
                <a:cs typeface="Microsoft YaHei"/>
              </a:rPr>
              <a:t>历史棋盘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65546" y="2715586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0000"/>
                </a:solidFill>
                <a:latin typeface="Microsoft YaHei"/>
                <a:cs typeface="Microsoft YaHei"/>
              </a:rPr>
              <a:t>数据</a:t>
            </a:r>
            <a:endParaRPr sz="12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96825" y="788827"/>
            <a:ext cx="5766435" cy="777875"/>
            <a:chOff x="896825" y="788827"/>
            <a:chExt cx="5766435" cy="777875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771525"/>
            </a:xfrm>
            <a:custGeom>
              <a:avLst/>
              <a:gdLst/>
              <a:ahLst/>
              <a:cxnLst/>
              <a:rect l="l" t="t" r="r" b="b"/>
              <a:pathLst>
                <a:path w="5760084" h="771525">
                  <a:moveTo>
                    <a:pt x="5725074" y="771147"/>
                  </a:moveTo>
                  <a:lnTo>
                    <a:pt x="34925" y="771147"/>
                  </a:lnTo>
                  <a:lnTo>
                    <a:pt x="21330" y="768403"/>
                  </a:lnTo>
                  <a:lnTo>
                    <a:pt x="10229" y="760918"/>
                  </a:lnTo>
                  <a:lnTo>
                    <a:pt x="2744" y="749817"/>
                  </a:lnTo>
                  <a:lnTo>
                    <a:pt x="0" y="736222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736222"/>
                  </a:lnTo>
                  <a:lnTo>
                    <a:pt x="5757255" y="749817"/>
                  </a:lnTo>
                  <a:lnTo>
                    <a:pt x="5749770" y="760918"/>
                  </a:lnTo>
                  <a:lnTo>
                    <a:pt x="5738669" y="768403"/>
                  </a:lnTo>
                  <a:lnTo>
                    <a:pt x="5725074" y="771147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00000" y="792002"/>
              <a:ext cx="5760085" cy="771525"/>
            </a:xfrm>
            <a:custGeom>
              <a:avLst/>
              <a:gdLst/>
              <a:ahLst/>
              <a:cxnLst/>
              <a:rect l="l" t="t" r="r" b="b"/>
              <a:pathLst>
                <a:path w="5760084" h="771525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736222"/>
                  </a:lnTo>
                  <a:lnTo>
                    <a:pt x="5757255" y="749817"/>
                  </a:lnTo>
                  <a:lnTo>
                    <a:pt x="5749770" y="760918"/>
                  </a:lnTo>
                  <a:lnTo>
                    <a:pt x="5738669" y="768403"/>
                  </a:lnTo>
                  <a:lnTo>
                    <a:pt x="5725074" y="771147"/>
                  </a:lnTo>
                  <a:lnTo>
                    <a:pt x="34925" y="771147"/>
                  </a:lnTo>
                  <a:lnTo>
                    <a:pt x="21330" y="768403"/>
                  </a:lnTo>
                  <a:lnTo>
                    <a:pt x="10229" y="760918"/>
                  </a:lnTo>
                  <a:lnTo>
                    <a:pt x="2744" y="749817"/>
                  </a:lnTo>
                  <a:lnTo>
                    <a:pt x="0" y="736222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87300" y="846295"/>
            <a:ext cx="5759450" cy="115443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432434" indent="-293370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432434" algn="l"/>
                <a:tab pos="433070" algn="l"/>
                <a:tab pos="1459230" algn="l"/>
              </a:tabLst>
            </a:pPr>
            <a:r>
              <a:rPr dirty="0" sz="1050">
                <a:latin typeface="Consolas"/>
                <a:cs typeface="Consolas"/>
              </a:rPr>
              <a:t>b1-</a:t>
            </a:r>
            <a:r>
              <a:rPr dirty="0" sz="1050" spc="-10">
                <a:latin typeface="Consolas"/>
                <a:cs typeface="Consolas"/>
              </a:rPr>
              <a:t>c3(2)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150">
                <a:latin typeface="Microsoft JhengHei"/>
                <a:cs typeface="Microsoft JhengHei"/>
              </a:rPr>
              <a:t>第 </a:t>
            </a:r>
            <a:r>
              <a:rPr dirty="0" sz="1050">
                <a:latin typeface="Consolas"/>
                <a:cs typeface="Consolas"/>
              </a:rPr>
              <a:t>1 </a:t>
            </a:r>
            <a:r>
              <a:rPr dirty="0" sz="1050" spc="60">
                <a:latin typeface="Microsoft JhengHei"/>
                <a:cs typeface="Microsoft JhengHei"/>
              </a:rPr>
              <a:t>步，走子 </a:t>
            </a:r>
            <a:r>
              <a:rPr dirty="0" sz="1050">
                <a:latin typeface="Consolas"/>
                <a:cs typeface="Consolas"/>
              </a:rPr>
              <a:t>b1→c3</a:t>
            </a:r>
            <a:r>
              <a:rPr dirty="0" sz="1050" spc="50">
                <a:latin typeface="Microsoft JhengHei"/>
                <a:cs typeface="Microsoft JhengHei"/>
              </a:rPr>
              <a:t>，翻出类型 </a:t>
            </a:r>
            <a:r>
              <a:rPr dirty="0" sz="1050">
                <a:latin typeface="Consolas"/>
                <a:cs typeface="Consolas"/>
              </a:rPr>
              <a:t>2</a:t>
            </a:r>
            <a:r>
              <a:rPr dirty="0" sz="1050">
                <a:latin typeface="Microsoft JhengHei"/>
                <a:cs typeface="Microsoft JhengHei"/>
              </a:rPr>
              <a:t>（马</a:t>
            </a:r>
            <a:r>
              <a:rPr dirty="0" sz="1050" spc="-50"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  <a:p>
            <a:pPr marL="432434" indent="-29337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2434" algn="l"/>
                <a:tab pos="433070" algn="l"/>
                <a:tab pos="1532255" algn="l"/>
              </a:tabLst>
            </a:pPr>
            <a:r>
              <a:rPr dirty="0" sz="1050">
                <a:latin typeface="Consolas"/>
                <a:cs typeface="Consolas"/>
              </a:rPr>
              <a:t>h7-</a:t>
            </a:r>
            <a:r>
              <a:rPr dirty="0" sz="1050" spc="-25">
                <a:latin typeface="Consolas"/>
                <a:cs typeface="Consolas"/>
              </a:rPr>
              <a:t>g7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150">
                <a:latin typeface="Microsoft JhengHei"/>
                <a:cs typeface="Microsoft JhengHei"/>
              </a:rPr>
              <a:t>第 </a:t>
            </a:r>
            <a:r>
              <a:rPr dirty="0" sz="1050">
                <a:latin typeface="Consolas"/>
                <a:cs typeface="Consolas"/>
              </a:rPr>
              <a:t>2 </a:t>
            </a:r>
            <a:r>
              <a:rPr dirty="0" sz="1050">
                <a:latin typeface="Microsoft JhengHei"/>
                <a:cs typeface="Microsoft JhengHei"/>
              </a:rPr>
              <a:t>步，</a:t>
            </a:r>
            <a:r>
              <a:rPr dirty="0" sz="1050">
                <a:latin typeface="Consolas"/>
                <a:cs typeface="Consolas"/>
              </a:rPr>
              <a:t>h7→g7</a:t>
            </a:r>
            <a:r>
              <a:rPr dirty="0" sz="1050">
                <a:latin typeface="Microsoft JhengHei"/>
                <a:cs typeface="Microsoft JhengHei"/>
              </a:rPr>
              <a:t>（明子移动，无翻子</a:t>
            </a:r>
            <a:r>
              <a:rPr dirty="0" sz="1050" spc="-50"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  <a:p>
            <a:pPr marL="432434" indent="-29337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2434" algn="l"/>
                <a:tab pos="433070" algn="l"/>
                <a:tab pos="1518920" algn="l"/>
              </a:tabLst>
            </a:pPr>
            <a:r>
              <a:rPr dirty="0" sz="1050">
                <a:latin typeface="Consolas"/>
                <a:cs typeface="Consolas"/>
              </a:rPr>
              <a:t>a0-a0(1)[</a:t>
            </a:r>
            <a:r>
              <a:rPr dirty="0" sz="1050">
                <a:latin typeface="Microsoft JhengHei"/>
                <a:cs typeface="Microsoft JhengHei"/>
              </a:rPr>
              <a:t>翻</a:t>
            </a:r>
            <a:r>
              <a:rPr dirty="0" sz="1050" spc="-50">
                <a:latin typeface="Consolas"/>
                <a:cs typeface="Consolas"/>
              </a:rPr>
              <a:t>]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>
                <a:latin typeface="Microsoft JhengHei"/>
                <a:cs typeface="Microsoft JhengHei"/>
              </a:rPr>
              <a:t>第</a:t>
            </a:r>
            <a:r>
              <a:rPr dirty="0" sz="1050" spc="300">
                <a:latin typeface="Microsoft JhengHei"/>
                <a:cs typeface="Microsoft JhengHei"/>
              </a:rPr>
              <a:t> </a:t>
            </a:r>
            <a:r>
              <a:rPr dirty="0" sz="1050">
                <a:latin typeface="Consolas"/>
                <a:cs typeface="Consolas"/>
              </a:rPr>
              <a:t>3 </a:t>
            </a:r>
            <a:r>
              <a:rPr dirty="0" sz="1050">
                <a:latin typeface="Microsoft JhengHei"/>
                <a:cs typeface="Microsoft JhengHei"/>
              </a:rPr>
              <a:t>步，原地翻开</a:t>
            </a:r>
            <a:r>
              <a:rPr dirty="0" sz="1050" spc="310">
                <a:latin typeface="Microsoft JhengHei"/>
                <a:cs typeface="Microsoft JhengHei"/>
              </a:rPr>
              <a:t> </a:t>
            </a:r>
            <a:r>
              <a:rPr dirty="0" sz="1050">
                <a:latin typeface="Consolas"/>
                <a:cs typeface="Consolas"/>
              </a:rPr>
              <a:t>a0</a:t>
            </a:r>
            <a:r>
              <a:rPr dirty="0" sz="1050">
                <a:latin typeface="Microsoft JhengHei"/>
                <a:cs typeface="Microsoft JhengHei"/>
              </a:rPr>
              <a:t>，翻出类型</a:t>
            </a:r>
            <a:r>
              <a:rPr dirty="0" sz="1050" spc="310">
                <a:latin typeface="Microsoft JhengHei"/>
                <a:cs typeface="Microsoft JhengHei"/>
              </a:rPr>
              <a:t> </a:t>
            </a:r>
            <a:r>
              <a:rPr dirty="0" sz="1050">
                <a:latin typeface="Consolas"/>
                <a:cs typeface="Consolas"/>
              </a:rPr>
              <a:t>1</a:t>
            </a:r>
            <a:r>
              <a:rPr dirty="0" sz="1050">
                <a:latin typeface="Microsoft JhengHei"/>
                <a:cs typeface="Microsoft JhengHei"/>
              </a:rPr>
              <a:t>（车</a:t>
            </a:r>
            <a:r>
              <a:rPr dirty="0" sz="1050" spc="-50">
                <a:latin typeface="Microsoft JhengHei"/>
                <a:cs typeface="Microsoft JhengHei"/>
              </a:rPr>
              <a:t>）</a:t>
            </a:r>
            <a:endParaRPr sz="105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10.2.</a:t>
            </a:r>
            <a:r>
              <a:rPr dirty="0" sz="1500" spc="-5" b="0">
                <a:solidFill>
                  <a:srgbClr val="1E40AF"/>
                </a:solidFill>
                <a:latin typeface="Microsoft YaHei Light"/>
                <a:cs typeface="Microsoft YaHei Light"/>
              </a:rPr>
              <a:t> 棋子类型的棋谱名称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219629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2399122"/>
          <a:ext cx="2597150" cy="230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75"/>
                <a:gridCol w="863600"/>
                <a:gridCol w="8667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类型编码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红方名称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黑方名称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卒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相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900000" y="541649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874600" y="6786986"/>
            <a:ext cx="5785485" cy="427990"/>
            <a:chOff x="874600" y="6786986"/>
            <a:chExt cx="5785485" cy="427990"/>
          </a:xfrm>
        </p:grpSpPr>
        <p:sp>
          <p:nvSpPr>
            <p:cNvPr id="10" name="object 10" descr=""/>
            <p:cNvSpPr/>
            <p:nvPr/>
          </p:nvSpPr>
          <p:spPr>
            <a:xfrm>
              <a:off x="900000" y="6786986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74600" y="6786986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900000" y="816530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00000" y="949808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87300" y="4966405"/>
            <a:ext cx="5706110" cy="480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10.3.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服务器棋谱存储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0">
                <a:latin typeface="Microsoft YaHei Light"/>
                <a:cs typeface="Microsoft YaHei Light"/>
              </a:rPr>
              <a:t>服务器必须按时间顺序保存每局棋的所有走法。建议格式：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内存：</a:t>
            </a:r>
            <a:r>
              <a:rPr dirty="0" sz="1050">
                <a:latin typeface="Consolas"/>
                <a:cs typeface="Consolas"/>
              </a:rPr>
              <a:t>List&lt;Move&gt;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20" b="0">
                <a:latin typeface="Microsoft YaHei Light"/>
                <a:cs typeface="Microsoft YaHei Light"/>
              </a:rPr>
              <a:t>或 </a:t>
            </a:r>
            <a:r>
              <a:rPr dirty="0" sz="1050">
                <a:latin typeface="Consolas"/>
                <a:cs typeface="Consolas"/>
              </a:rPr>
              <a:t>List&lt;String&gt;</a:t>
            </a:r>
            <a:r>
              <a:rPr dirty="0" sz="1200" spc="-10" b="0">
                <a:latin typeface="Microsoft YaHei Light"/>
                <a:cs typeface="Microsoft YaHei Light"/>
              </a:rPr>
              <a:t>，实时追记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80"/>
              </a:spcBef>
              <a:buChar char="•"/>
              <a:tabLst>
                <a:tab pos="165100" algn="l"/>
              </a:tabLst>
            </a:pPr>
            <a:r>
              <a:rPr dirty="0" sz="1200" spc="10" b="0">
                <a:latin typeface="Microsoft YaHei Light"/>
                <a:cs typeface="Microsoft YaHei Light"/>
              </a:rPr>
              <a:t>持久化：对局结束时写入文件，文件名为 </a:t>
            </a:r>
            <a:r>
              <a:rPr dirty="0" sz="1050">
                <a:latin typeface="Consolas"/>
                <a:cs typeface="Consolas"/>
              </a:rPr>
              <a:t>"&lt;gameId&gt;_&lt;</a:t>
            </a:r>
            <a:r>
              <a:rPr dirty="0" sz="1050">
                <a:latin typeface="Microsoft JhengHei"/>
                <a:cs typeface="Microsoft JhengHei"/>
              </a:rPr>
              <a:t>时间戳</a:t>
            </a:r>
            <a:r>
              <a:rPr dirty="0" sz="1050">
                <a:latin typeface="Consolas"/>
                <a:cs typeface="Consolas"/>
              </a:rPr>
              <a:t>&gt;.pgn"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20" b="0">
                <a:latin typeface="Microsoft YaHei Light"/>
                <a:cs typeface="Microsoft YaHei Light"/>
              </a:rPr>
              <a:t>或 </a:t>
            </a:r>
            <a:r>
              <a:rPr dirty="0" sz="1050" spc="-10">
                <a:latin typeface="Consolas"/>
                <a:cs typeface="Consolas"/>
              </a:rPr>
              <a:t>".txt"</a:t>
            </a:r>
            <a:endParaRPr sz="1050">
              <a:latin typeface="Consolas"/>
              <a:cs typeface="Consolas"/>
            </a:endParaRPr>
          </a:p>
          <a:p>
            <a:pPr marL="165100" indent="-152400">
              <a:lnSpc>
                <a:spcPct val="100000"/>
              </a:lnSpc>
              <a:spcBef>
                <a:spcPts val="405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棋谱内容应包含对局元信息（双方昵称、起始时间、终局原因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</a:pP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</a:pPr>
            <a:r>
              <a:rPr dirty="0" sz="2000" spc="320" b="0">
                <a:solidFill>
                  <a:srgbClr val="1E3A8A"/>
                </a:solidFill>
                <a:latin typeface="Microsoft YaHei Light"/>
                <a:cs typeface="Microsoft YaHei Light"/>
              </a:rPr>
              <a:t>11.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多盘对弈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支持一台服务器同时进行多局对弈。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54" b="0">
                <a:solidFill>
                  <a:srgbClr val="1E40AF"/>
                </a:solidFill>
                <a:latin typeface="Microsoft YaHei Light"/>
                <a:cs typeface="Microsoft YaHei Light"/>
              </a:rPr>
              <a:t>11.1.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实现要点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241300" marR="5080" indent="-228600">
              <a:lnSpc>
                <a:spcPct val="127800"/>
              </a:lnSpc>
            </a:pPr>
            <a:r>
              <a:rPr dirty="0" sz="1200" spc="220" b="0">
                <a:latin typeface="Microsoft YaHei Light"/>
                <a:cs typeface="Microsoft YaHei Light"/>
              </a:rPr>
              <a:t>1.</a:t>
            </a:r>
            <a:r>
              <a:rPr dirty="0" sz="1200" spc="35" b="0">
                <a:latin typeface="Microsoft YaHei Light"/>
                <a:cs typeface="Microsoft YaHei Light"/>
              </a:rPr>
              <a:t> 每局棋分配唯一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65" b="0">
                <a:latin typeface="Microsoft YaHei Light"/>
                <a:cs typeface="Microsoft YaHei Light"/>
              </a:rPr>
              <a:t>建议 </a:t>
            </a:r>
            <a:r>
              <a:rPr dirty="0" sz="1200" spc="-70" b="0">
                <a:latin typeface="Microsoft YaHei Light"/>
                <a:cs typeface="Microsoft YaHei Light"/>
              </a:rPr>
              <a:t>UUID</a:t>
            </a:r>
            <a:r>
              <a:rPr dirty="0" sz="1200" spc="125" b="0">
                <a:latin typeface="Microsoft YaHei Light"/>
                <a:cs typeface="Microsoft YaHei Light"/>
              </a:rPr>
              <a:t> 前 </a:t>
            </a:r>
            <a:r>
              <a:rPr dirty="0" sz="1200" b="0">
                <a:latin typeface="Microsoft YaHei Light"/>
                <a:cs typeface="Microsoft YaHei Light"/>
              </a:rPr>
              <a:t>8</a:t>
            </a:r>
            <a:r>
              <a:rPr dirty="0" sz="1200" spc="95" b="0">
                <a:latin typeface="Microsoft YaHei Light"/>
                <a:cs typeface="Microsoft YaHei Light"/>
              </a:rPr>
              <a:t> 位</a:t>
            </a:r>
            <a:r>
              <a:rPr dirty="0" sz="1200" b="0">
                <a:latin typeface="Microsoft YaHei Light"/>
                <a:cs typeface="Microsoft YaHei Light"/>
              </a:rPr>
              <a:t>）</a:t>
            </a:r>
            <a:r>
              <a:rPr dirty="0" sz="1200" spc="75" b="0">
                <a:latin typeface="Microsoft YaHei Light"/>
                <a:cs typeface="Microsoft YaHei Light"/>
              </a:rPr>
              <a:t> 客户端 </a:t>
            </a:r>
            <a:r>
              <a:rPr dirty="0" sz="1200" spc="-105" b="0">
                <a:latin typeface="Microsoft YaHei Light"/>
                <a:cs typeface="Microsoft YaHei Light"/>
              </a:rPr>
              <a:t>LOGIN</a:t>
            </a:r>
            <a:r>
              <a:rPr dirty="0" sz="1200" spc="75" b="0">
                <a:latin typeface="Microsoft YaHei Light"/>
                <a:cs typeface="Microsoft YaHei Light"/>
              </a:rPr>
              <a:t> 时通过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-25">
                <a:latin typeface="Consolas"/>
                <a:cs typeface="Consolas"/>
              </a:rPr>
              <a:t> </a:t>
            </a:r>
            <a:r>
              <a:rPr dirty="0" sz="1200" spc="-50" b="0">
                <a:latin typeface="Microsoft YaHei Light"/>
                <a:cs typeface="Microsoft YaHei Light"/>
              </a:rPr>
              <a:t>字</a:t>
            </a:r>
            <a:r>
              <a:rPr dirty="0" sz="1200" spc="20" b="0">
                <a:latin typeface="Microsoft YaHei Light"/>
                <a:cs typeface="Microsoft YaHei Light"/>
              </a:rPr>
              <a:t>段指定加入目标对局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0" b="0">
                <a:latin typeface="Microsoft YaHei Light"/>
                <a:cs typeface="Microsoft YaHei Light"/>
              </a:rPr>
              <a:t>为空时服务器自动匹配 服务器内部以 </a:t>
            </a:r>
            <a:r>
              <a:rPr dirty="0" sz="1050" spc="-10">
                <a:latin typeface="Consolas"/>
                <a:cs typeface="Consolas"/>
              </a:rPr>
              <a:t>Map&lt;String, </a:t>
            </a:r>
            <a:r>
              <a:rPr dirty="0" sz="1050">
                <a:latin typeface="Consolas"/>
                <a:cs typeface="Consolas"/>
              </a:rPr>
              <a:t>Game&gt;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管理多局（线程安全集合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04" b="0">
                <a:solidFill>
                  <a:srgbClr val="1E40AF"/>
                </a:solidFill>
                <a:latin typeface="Microsoft YaHei Light"/>
                <a:cs typeface="Microsoft YaHei Light"/>
              </a:rPr>
              <a:t>11.2.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跨组兼容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1200" spc="15" b="0">
                <a:latin typeface="Microsoft YaHei Light"/>
                <a:cs typeface="Microsoft YaHei Light"/>
              </a:rPr>
              <a:t>若对方服务器支持多盘：正常指定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25" b="0">
                <a:latin typeface="Microsoft YaHei Light"/>
                <a:cs typeface="Microsoft YaHei Light"/>
              </a:rPr>
              <a:t>加入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4600" y="1790342"/>
            <a:ext cx="5785485" cy="427990"/>
            <a:chOff x="874600" y="1790342"/>
            <a:chExt cx="5785485" cy="42799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1790342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4600" y="1790342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874600" y="6437550"/>
            <a:ext cx="5785485" cy="427990"/>
            <a:chOff x="874600" y="6437550"/>
            <a:chExt cx="5785485" cy="427990"/>
          </a:xfrm>
        </p:grpSpPr>
        <p:sp>
          <p:nvSpPr>
            <p:cNvPr id="6" name="object 6" descr=""/>
            <p:cNvSpPr/>
            <p:nvPr/>
          </p:nvSpPr>
          <p:spPr>
            <a:xfrm>
              <a:off x="900000" y="6437550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74600" y="6437550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87300" y="680242"/>
            <a:ext cx="5740400" cy="7522209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00"/>
              </a:spcBef>
              <a:buChar char="•"/>
              <a:tabLst>
                <a:tab pos="1651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若对方服务器不支持多盘（仅单局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50" b="0">
                <a:latin typeface="Microsoft YaHei Light"/>
                <a:cs typeface="Microsoft YaHei Light"/>
              </a:rPr>
              <a:t>：拒绝 </a:t>
            </a: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-5">
                <a:latin typeface="Consolas"/>
                <a:cs typeface="Consolas"/>
              </a:rPr>
              <a:t> </a:t>
            </a:r>
            <a:r>
              <a:rPr dirty="0" sz="1200" spc="50" b="0">
                <a:latin typeface="Microsoft YaHei Light"/>
                <a:cs typeface="Microsoft YaHei Light"/>
              </a:rPr>
              <a:t>非空的 </a:t>
            </a:r>
            <a:r>
              <a:rPr dirty="0" sz="1200" spc="-120" b="0">
                <a:latin typeface="Microsoft YaHei Light"/>
                <a:cs typeface="Microsoft YaHei Light"/>
              </a:rPr>
              <a:t>LOGIN，</a:t>
            </a:r>
            <a:r>
              <a:rPr dirty="0" sz="1200" spc="70" b="0">
                <a:latin typeface="Microsoft YaHei Light"/>
                <a:cs typeface="Microsoft YaHei Light"/>
              </a:rPr>
              <a:t>返回 </a:t>
            </a:r>
            <a:r>
              <a:rPr dirty="0" sz="1200" spc="-125" b="0">
                <a:latin typeface="Microsoft YaHei Light"/>
                <a:cs typeface="Microsoft YaHei Light"/>
              </a:rPr>
              <a:t>ERROR</a:t>
            </a:r>
            <a:r>
              <a:rPr dirty="0" sz="1200" spc="215" b="0">
                <a:latin typeface="Microsoft YaHei Light"/>
                <a:cs typeface="Microsoft YaHei Light"/>
              </a:rPr>
              <a:t> </a:t>
            </a:r>
            <a:r>
              <a:rPr dirty="0" sz="1200" spc="-25" b="0">
                <a:latin typeface="Microsoft YaHei Light"/>
                <a:cs typeface="Microsoft YaHei Light"/>
              </a:rPr>
              <a:t>200</a:t>
            </a:r>
            <a:endParaRPr sz="1200">
              <a:latin typeface="Microsoft YaHei Light"/>
              <a:cs typeface="Microsoft YaHei Light"/>
            </a:endParaRPr>
          </a:p>
          <a:p>
            <a:pPr marL="88900">
              <a:lnSpc>
                <a:spcPct val="100000"/>
              </a:lnSpc>
              <a:spcBef>
                <a:spcPts val="400"/>
              </a:spcBef>
            </a:pPr>
            <a:r>
              <a:rPr dirty="0" sz="1200" b="0">
                <a:latin typeface="Microsoft YaHei Light"/>
                <a:cs typeface="Microsoft YaHei Light"/>
              </a:rPr>
              <a:t>（游戏房间不存在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客户端应对此错误做友好提示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buFont typeface="Microsoft YaHei Light"/>
              <a:buChar char="•"/>
            </a:pP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Microsoft YaHei Light"/>
              <a:buChar char="•"/>
            </a:pPr>
            <a:endParaRPr sz="700">
              <a:latin typeface="Microsoft YaHei Light"/>
              <a:cs typeface="Microsoft YaHei Light"/>
            </a:endParaRPr>
          </a:p>
          <a:p>
            <a:pPr lvl="1" marL="596900" indent="-457200">
              <a:lnSpc>
                <a:spcPct val="100000"/>
              </a:lnSpc>
              <a:buClr>
                <a:srgbClr val="1E3A8A"/>
              </a:buClr>
              <a:buFont typeface="Microsoft YaHei Light"/>
              <a:buAutoNum type="arabicPeriod" startAt="12"/>
              <a:tabLst>
                <a:tab pos="596900" algn="l"/>
              </a:tabLst>
            </a:pP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组间联调检查清单</a:t>
            </a:r>
            <a:endParaRPr sz="2000">
              <a:latin typeface="Microsoft YaHei Light"/>
              <a:cs typeface="Microsoft YaHei Light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1E3A8A"/>
              </a:buClr>
              <a:buFont typeface="Microsoft YaHei Light"/>
              <a:buAutoNum type="arabicPeriod" startAt="12"/>
            </a:pPr>
            <a:endParaRPr sz="10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200" b="0">
                <a:latin typeface="Microsoft YaHei Light"/>
                <a:cs typeface="Microsoft YaHei Light"/>
              </a:rPr>
              <a:t>以下条目为组间联调准入标准，所有接入方（含本组）</a:t>
            </a:r>
            <a:r>
              <a:rPr dirty="0" sz="1200" spc="-5" b="0">
                <a:latin typeface="Microsoft YaHei Light"/>
                <a:cs typeface="Microsoft YaHei Light"/>
              </a:rPr>
              <a:t>在联调前均应逐项自检通过：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3175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消息帧格式正确：</a:t>
            </a:r>
            <a:r>
              <a:rPr dirty="0" sz="1050" spc="-10">
                <a:latin typeface="Consolas"/>
                <a:cs typeface="Consolas"/>
              </a:rPr>
              <a:t>msgType|payloadLen|payload\n</a:t>
            </a:r>
            <a:r>
              <a:rPr dirty="0" sz="1200" spc="-10" b="0">
                <a:latin typeface="Microsoft YaHei Light"/>
                <a:cs typeface="Microsoft YaHei Light"/>
              </a:rPr>
              <a:t>，UTF-</a:t>
            </a:r>
            <a:r>
              <a:rPr dirty="0" sz="1200" b="0">
                <a:latin typeface="Microsoft YaHei Light"/>
                <a:cs typeface="Microsoft YaHei Light"/>
              </a:rPr>
              <a:t>8</a:t>
            </a:r>
            <a:r>
              <a:rPr dirty="0" sz="1200" spc="70" b="0">
                <a:latin typeface="Microsoft YaHei Light"/>
                <a:cs typeface="Microsoft YaHei Light"/>
              </a:rPr>
              <a:t> 编码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45" b="0">
                <a:latin typeface="Microsoft YaHei Light"/>
                <a:cs typeface="Microsoft YaHei Light"/>
              </a:rPr>
              <a:t>收到未知 </a:t>
            </a:r>
            <a:r>
              <a:rPr dirty="0" sz="1050">
                <a:latin typeface="Consolas"/>
                <a:cs typeface="Consolas"/>
              </a:rPr>
              <a:t>msgType</a:t>
            </a:r>
            <a:r>
              <a:rPr dirty="0" sz="1200" b="0">
                <a:latin typeface="Microsoft YaHei Light"/>
                <a:cs typeface="Microsoft YaHei Light"/>
              </a:rPr>
              <a:t>（8/9/10/100+）</a:t>
            </a:r>
            <a:r>
              <a:rPr dirty="0" sz="1200" spc="-10" b="0">
                <a:latin typeface="Microsoft YaHei Light"/>
                <a:cs typeface="Microsoft YaHei Light"/>
              </a:rPr>
              <a:t>不会崩溃，静默忽略</a:t>
            </a:r>
            <a:endParaRPr sz="1200">
              <a:latin typeface="Microsoft YaHei Light"/>
              <a:cs typeface="Microsoft YaHei Light"/>
            </a:endParaRPr>
          </a:p>
          <a:p>
            <a:pPr lvl="2" marL="317500" marR="27940" indent="-228600">
              <a:lnSpc>
                <a:spcPct val="127800"/>
              </a:lnSpc>
              <a:buAutoNum type="arabicPeriod"/>
              <a:tabLst>
                <a:tab pos="3175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坐标解析正确：</a:t>
            </a:r>
            <a:r>
              <a:rPr dirty="0" sz="1050">
                <a:latin typeface="Consolas"/>
                <a:cs typeface="Consolas"/>
              </a:rPr>
              <a:t>"a0"</a:t>
            </a:r>
            <a:r>
              <a:rPr dirty="0" sz="1050" spc="-14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= 左下角（红方底线左车位</a:t>
            </a:r>
            <a:r>
              <a:rPr dirty="0" sz="1200" spc="-590" b="0">
                <a:latin typeface="Microsoft YaHei Light"/>
                <a:cs typeface="Microsoft YaHei Light"/>
              </a:rPr>
              <a:t>）</a:t>
            </a:r>
            <a:r>
              <a:rPr dirty="0" sz="1200" spc="10" b="0">
                <a:latin typeface="Microsoft YaHei Light"/>
                <a:cs typeface="Microsoft YaHei Light"/>
              </a:rPr>
              <a:t>，</a:t>
            </a:r>
            <a:r>
              <a:rPr dirty="0" sz="1050" spc="10">
                <a:latin typeface="Consolas"/>
                <a:cs typeface="Consolas"/>
              </a:rPr>
              <a:t>"i9"</a:t>
            </a:r>
            <a:r>
              <a:rPr dirty="0" sz="1050" spc="-5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= 右上角（</a:t>
            </a:r>
            <a:r>
              <a:rPr dirty="0" sz="1200" spc="-10" b="0">
                <a:latin typeface="Microsoft YaHei Light"/>
                <a:cs typeface="Microsoft YaHei Light"/>
              </a:rPr>
              <a:t>黑方底线右</a:t>
            </a:r>
            <a:r>
              <a:rPr dirty="0" sz="1200" b="0">
                <a:latin typeface="Microsoft YaHei Light"/>
                <a:cs typeface="Microsoft YaHei Light"/>
              </a:rPr>
              <a:t>车位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45" b="0">
                <a:latin typeface="Microsoft YaHei Light"/>
                <a:cs typeface="Microsoft YaHei Light"/>
              </a:rPr>
              <a:t>翻子操作 </a:t>
            </a:r>
            <a:r>
              <a:rPr dirty="0" sz="1050">
                <a:latin typeface="Consolas"/>
                <a:cs typeface="Consolas"/>
              </a:rPr>
              <a:t>source == destination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被正确处理为原地翻子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30" b="0">
                <a:latin typeface="Microsoft YaHei Light"/>
                <a:cs typeface="Microsoft YaHei Light"/>
              </a:rPr>
              <a:t>服务器广播的 </a:t>
            </a:r>
            <a:r>
              <a:rPr dirty="0" sz="1200" spc="-280" b="0">
                <a:latin typeface="Microsoft YaHei Light"/>
                <a:cs typeface="Microsoft YaHei Light"/>
              </a:rPr>
              <a:t>MOVE</a:t>
            </a:r>
            <a:r>
              <a:rPr dirty="0" sz="1200" spc="160" b="0">
                <a:latin typeface="Microsoft YaHei Light"/>
                <a:cs typeface="Microsoft YaHei Light"/>
              </a:rPr>
              <a:t> 中 </a:t>
            </a:r>
            <a:r>
              <a:rPr dirty="0" sz="1050">
                <a:latin typeface="Consolas"/>
                <a:cs typeface="Consolas"/>
              </a:rPr>
              <a:t>type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为服务器生成值，非客户端提交值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130" b="0">
                <a:latin typeface="Microsoft YaHei Light"/>
                <a:cs typeface="Microsoft YaHei Light"/>
              </a:rPr>
              <a:t>BOARD_STATE</a:t>
            </a:r>
            <a:r>
              <a:rPr dirty="0" sz="1200" spc="85" b="0">
                <a:latin typeface="Microsoft YaHei Light"/>
                <a:cs typeface="Microsoft YaHei Light"/>
              </a:rPr>
              <a:t> 的 </a:t>
            </a:r>
            <a:r>
              <a:rPr dirty="0" sz="1050">
                <a:latin typeface="Consolas"/>
                <a:cs typeface="Consolas"/>
              </a:rPr>
              <a:t>row0</a:t>
            </a:r>
            <a:r>
              <a:rPr dirty="0" sz="1050" spc="-75">
                <a:latin typeface="Consolas"/>
                <a:cs typeface="Consolas"/>
              </a:rPr>
              <a:t> </a:t>
            </a:r>
            <a:r>
              <a:rPr dirty="0" sz="1200" spc="5" b="0">
                <a:latin typeface="Microsoft YaHei Light"/>
                <a:cs typeface="Microsoft YaHei Light"/>
              </a:rPr>
              <a:t>= 棋盘最顶行</a:t>
            </a:r>
            <a:r>
              <a:rPr dirty="0" sz="1200" b="0">
                <a:latin typeface="Microsoft YaHei Light"/>
                <a:cs typeface="Microsoft YaHei Light"/>
              </a:rPr>
              <a:t>（黑方</a:t>
            </a:r>
            <a:r>
              <a:rPr dirty="0" sz="1200" spc="-590" b="0">
                <a:latin typeface="Microsoft YaHei Light"/>
                <a:cs typeface="Microsoft YaHei Light"/>
              </a:rPr>
              <a:t>）</a:t>
            </a:r>
            <a:r>
              <a:rPr dirty="0" sz="1200" spc="10" b="0">
                <a:latin typeface="Microsoft YaHei Light"/>
                <a:cs typeface="Microsoft YaHei Light"/>
              </a:rPr>
              <a:t>，</a:t>
            </a:r>
            <a:r>
              <a:rPr dirty="0" sz="1050" spc="10">
                <a:latin typeface="Consolas"/>
                <a:cs typeface="Consolas"/>
              </a:rPr>
              <a:t>row9</a:t>
            </a:r>
            <a:r>
              <a:rPr dirty="0" sz="1050" spc="-55">
                <a:latin typeface="Consolas"/>
                <a:cs typeface="Consolas"/>
              </a:rPr>
              <a:t> </a:t>
            </a:r>
            <a:r>
              <a:rPr dirty="0" sz="1200" spc="15" b="0">
                <a:latin typeface="Microsoft YaHei Light"/>
                <a:cs typeface="Microsoft YaHei Light"/>
              </a:rPr>
              <a:t>= 最底行</a:t>
            </a:r>
            <a:r>
              <a:rPr dirty="0" sz="1200" b="0">
                <a:latin typeface="Microsoft YaHei Light"/>
                <a:cs typeface="Microsoft YaHei Light"/>
              </a:rPr>
              <a:t>（红方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130" b="0">
                <a:latin typeface="Microsoft YaHei Light"/>
                <a:cs typeface="Microsoft YaHei Light"/>
              </a:rPr>
              <a:t>BOARD_STATE</a:t>
            </a:r>
            <a:r>
              <a:rPr dirty="0" sz="1200" spc="-5" b="0">
                <a:latin typeface="Microsoft YaHei Light"/>
                <a:cs typeface="Microsoft YaHei Light"/>
              </a:rPr>
              <a:t> 能完整解析并重建棋盘对象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175" b="0">
                <a:latin typeface="Microsoft YaHei Light"/>
                <a:cs typeface="Microsoft YaHei Light"/>
              </a:rPr>
              <a:t>GAME_OVER</a:t>
            </a:r>
            <a:r>
              <a:rPr dirty="0" sz="1200" spc="175" b="0">
                <a:latin typeface="Microsoft YaHei Light"/>
                <a:cs typeface="Microsoft YaHei Light"/>
              </a:rPr>
              <a:t> 的 </a:t>
            </a:r>
            <a:r>
              <a:rPr dirty="0" sz="1050">
                <a:latin typeface="Consolas"/>
                <a:cs typeface="Consolas"/>
              </a:rPr>
              <a:t>winner</a:t>
            </a:r>
            <a:r>
              <a:rPr dirty="0" sz="1050" spc="5">
                <a:latin typeface="Consolas"/>
                <a:cs typeface="Consolas"/>
              </a:rPr>
              <a:t> == -</a:t>
            </a:r>
            <a:r>
              <a:rPr dirty="0" sz="1050">
                <a:latin typeface="Consolas"/>
                <a:cs typeface="Consolas"/>
              </a:rPr>
              <a:t>1</a:t>
            </a:r>
            <a:r>
              <a:rPr dirty="0" sz="1050" spc="5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时</a:t>
            </a:r>
            <a:r>
              <a:rPr dirty="0" sz="1200" b="0">
                <a:latin typeface="Microsoft YaHei Light"/>
                <a:cs typeface="Microsoft YaHei Light"/>
              </a:rPr>
              <a:t>正</a:t>
            </a:r>
            <a:r>
              <a:rPr dirty="0" sz="1200" b="0">
                <a:latin typeface="Microsoft YaHei Light"/>
                <a:cs typeface="Microsoft YaHei Light"/>
              </a:rPr>
              <a:t>确</a:t>
            </a:r>
            <a:r>
              <a:rPr dirty="0" sz="1200" b="0">
                <a:latin typeface="Microsoft YaHei Light"/>
                <a:cs typeface="Microsoft YaHei Light"/>
              </a:rPr>
              <a:t>显</a:t>
            </a:r>
            <a:r>
              <a:rPr dirty="0" sz="1200" b="0">
                <a:latin typeface="Microsoft YaHei Light"/>
                <a:cs typeface="Microsoft YaHei Light"/>
              </a:rPr>
              <a:t>示</a:t>
            </a:r>
            <a:r>
              <a:rPr dirty="0" sz="1200" b="0">
                <a:latin typeface="Microsoft YaHei Light"/>
                <a:cs typeface="Microsoft YaHei Light"/>
              </a:rPr>
              <a:t>"</a:t>
            </a:r>
            <a:r>
              <a:rPr dirty="0" sz="1200" b="0">
                <a:latin typeface="Microsoft YaHei Light"/>
                <a:cs typeface="Microsoft YaHei Light"/>
              </a:rPr>
              <a:t>和</a:t>
            </a:r>
            <a:r>
              <a:rPr dirty="0" sz="1200" b="0">
                <a:latin typeface="Microsoft YaHei Light"/>
                <a:cs typeface="Microsoft YaHei Light"/>
              </a:rPr>
              <a:t>棋</a:t>
            </a:r>
            <a:r>
              <a:rPr dirty="0" sz="1200" spc="-50" b="0">
                <a:latin typeface="Microsoft YaHei Light"/>
                <a:cs typeface="Microsoft YaHei Light"/>
              </a:rPr>
              <a:t>"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175" b="0">
                <a:latin typeface="Microsoft YaHei Light"/>
                <a:cs typeface="Microsoft YaHei Light"/>
              </a:rPr>
              <a:t>GAME_OVER</a:t>
            </a:r>
            <a:r>
              <a:rPr dirty="0" sz="1200" spc="60" b="0">
                <a:latin typeface="Microsoft YaHei Light"/>
                <a:cs typeface="Microsoft YaHei Light"/>
              </a:rPr>
              <a:t> 正确携带 </a:t>
            </a:r>
            <a:r>
              <a:rPr dirty="0" sz="1050">
                <a:latin typeface="Consolas"/>
                <a:cs typeface="Consolas"/>
              </a:rPr>
              <a:t>reasonCode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200" spc="105" b="0">
                <a:latin typeface="Microsoft YaHei Light"/>
                <a:cs typeface="Microsoft YaHei Light"/>
              </a:rPr>
              <a:t>和 </a:t>
            </a:r>
            <a:r>
              <a:rPr dirty="0" sz="1050" spc="-10">
                <a:latin typeface="Consolas"/>
                <a:cs typeface="Consolas"/>
              </a:rPr>
              <a:t>reasonDescription</a:t>
            </a:r>
            <a:endParaRPr sz="1050">
              <a:latin typeface="Consolas"/>
              <a:cs typeface="Consolas"/>
            </a:endParaRPr>
          </a:p>
          <a:p>
            <a:pPr lvl="2" marL="317500" indent="-3048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125" b="0">
                <a:latin typeface="Microsoft YaHei Light"/>
                <a:cs typeface="Microsoft YaHei Light"/>
              </a:rPr>
              <a:t>GAME_STATE</a:t>
            </a:r>
            <a:r>
              <a:rPr dirty="0" sz="1200" spc="30" b="0">
                <a:latin typeface="Microsoft YaHei Light"/>
                <a:cs typeface="Microsoft YaHei Light"/>
              </a:rPr>
              <a:t> 的子类型</a:t>
            </a:r>
            <a:r>
              <a:rPr dirty="0" sz="1200" spc="-95" b="0">
                <a:latin typeface="Microsoft YaHei Light"/>
                <a:cs typeface="Microsoft YaHei Light"/>
              </a:rPr>
              <a:t>（LOGIN_ACK</a:t>
            </a:r>
            <a:r>
              <a:rPr dirty="0" sz="1200" spc="155" b="0">
                <a:latin typeface="Microsoft YaHei Light"/>
                <a:cs typeface="Microsoft YaHei Light"/>
              </a:rPr>
              <a:t> / </a:t>
            </a:r>
            <a:r>
              <a:rPr dirty="0" sz="1200" spc="-135" b="0">
                <a:latin typeface="Microsoft YaHei Light"/>
                <a:cs typeface="Microsoft YaHei Light"/>
              </a:rPr>
              <a:t>GAME_START</a:t>
            </a:r>
            <a:r>
              <a:rPr dirty="0" sz="1200" spc="155" b="0">
                <a:latin typeface="Microsoft YaHei Light"/>
                <a:cs typeface="Microsoft YaHei Light"/>
              </a:rPr>
              <a:t> / </a:t>
            </a:r>
            <a:r>
              <a:rPr dirty="0" sz="1200" spc="-180" b="0">
                <a:latin typeface="Microsoft YaHei Light"/>
                <a:cs typeface="Microsoft YaHei Light"/>
              </a:rPr>
              <a:t>TURN_CHANGE）</a:t>
            </a:r>
            <a:r>
              <a:rPr dirty="0" sz="1200" spc="-10" b="0">
                <a:latin typeface="Microsoft YaHei Light"/>
                <a:cs typeface="Microsoft YaHei Light"/>
              </a:rPr>
              <a:t>均正确解析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30480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317500" algn="l"/>
              </a:tabLst>
            </a:pPr>
            <a:r>
              <a:rPr dirty="0" sz="1200" spc="55" b="0">
                <a:latin typeface="Microsoft YaHei Light"/>
                <a:cs typeface="Microsoft YaHei Light"/>
              </a:rPr>
              <a:t>超时默认 </a:t>
            </a:r>
            <a:r>
              <a:rPr dirty="0" sz="1200" spc="-25" b="0">
                <a:latin typeface="Microsoft YaHei Light"/>
                <a:cs typeface="Microsoft YaHei Light"/>
              </a:rPr>
              <a:t>65s，</a:t>
            </a:r>
            <a:r>
              <a:rPr dirty="0" sz="1200" spc="-5" b="0">
                <a:latin typeface="Microsoft YaHei Light"/>
                <a:cs typeface="Microsoft YaHei Light"/>
              </a:rPr>
              <a:t>使用服务器时间戳判定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3048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-5" b="0">
                <a:latin typeface="Microsoft YaHei Light"/>
                <a:cs typeface="Microsoft YaHei Light"/>
              </a:rPr>
              <a:t>端口号在启动时明确打印到控制台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3048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错误消息</a:t>
            </a:r>
            <a:r>
              <a:rPr dirty="0" sz="1200" spc="-150" b="0">
                <a:latin typeface="Microsoft YaHei Light"/>
                <a:cs typeface="Microsoft YaHei Light"/>
              </a:rPr>
              <a:t>（MSG_ERROR）</a:t>
            </a:r>
            <a:r>
              <a:rPr dirty="0" sz="1200" spc="-5" b="0">
                <a:latin typeface="Microsoft YaHei Light"/>
                <a:cs typeface="Microsoft YaHei Light"/>
              </a:rPr>
              <a:t>能解析错误码并友好展示</a:t>
            </a:r>
            <a:endParaRPr sz="1200">
              <a:latin typeface="Microsoft YaHei Light"/>
              <a:cs typeface="Microsoft YaHei Light"/>
            </a:endParaRPr>
          </a:p>
          <a:p>
            <a:pPr lvl="2" marL="317500" indent="-3048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17500" algn="l"/>
              </a:tabLst>
            </a:pPr>
            <a:r>
              <a:rPr dirty="0" sz="1200" spc="20" b="0">
                <a:latin typeface="Microsoft YaHei Light"/>
                <a:cs typeface="Microsoft YaHei Light"/>
              </a:rPr>
              <a:t>对方断线时本方收到 </a:t>
            </a:r>
            <a:r>
              <a:rPr dirty="0" sz="1200" spc="-180" b="0">
                <a:latin typeface="Microsoft YaHei Light"/>
                <a:cs typeface="Microsoft YaHei Light"/>
              </a:rPr>
              <a:t>GAME_OVER（</a:t>
            </a:r>
            <a:r>
              <a:rPr dirty="0" sz="1200" spc="55" b="0">
                <a:latin typeface="Microsoft YaHei Light"/>
                <a:cs typeface="Microsoft YaHei Light"/>
              </a:rPr>
              <a:t>原因码 = </a:t>
            </a:r>
            <a:r>
              <a:rPr dirty="0" sz="1200" spc="-10" b="0">
                <a:latin typeface="Microsoft YaHei Light"/>
                <a:cs typeface="Microsoft YaHei Light"/>
              </a:rPr>
              <a:t>4）</a:t>
            </a:r>
            <a:r>
              <a:rPr dirty="0" sz="1200" spc="-20" b="0">
                <a:latin typeface="Microsoft YaHei Light"/>
                <a:cs typeface="Microsoft YaHei Light"/>
              </a:rPr>
              <a:t>而</a:t>
            </a:r>
            <a:r>
              <a:rPr dirty="0" sz="1200" spc="-20" b="0">
                <a:latin typeface="Microsoft YaHei Light"/>
                <a:cs typeface="Microsoft YaHei Light"/>
              </a:rPr>
              <a:t>非</a:t>
            </a:r>
            <a:r>
              <a:rPr dirty="0" sz="1200" spc="-20" b="0">
                <a:latin typeface="Microsoft YaHei Light"/>
                <a:cs typeface="Microsoft YaHei Light"/>
              </a:rPr>
              <a:t>无</a:t>
            </a:r>
            <a:r>
              <a:rPr dirty="0" sz="1200" spc="-20" b="0">
                <a:latin typeface="Microsoft YaHei Light"/>
                <a:cs typeface="Microsoft YaHei Light"/>
              </a:rPr>
              <a:t>限</a:t>
            </a:r>
            <a:r>
              <a:rPr dirty="0" sz="1200" spc="-20" b="0">
                <a:latin typeface="Microsoft YaHei Light"/>
                <a:cs typeface="Microsoft YaHei Light"/>
              </a:rPr>
              <a:t>等</a:t>
            </a:r>
            <a:r>
              <a:rPr dirty="0" sz="1200" spc="-50" b="0">
                <a:latin typeface="Microsoft YaHei Light"/>
                <a:cs typeface="Microsoft YaHei Light"/>
              </a:rPr>
              <a:t>待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</a:pP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</a:pPr>
            <a:r>
              <a:rPr dirty="0" sz="2000" spc="210" b="0">
                <a:solidFill>
                  <a:srgbClr val="1E3A8A"/>
                </a:solidFill>
                <a:latin typeface="Microsoft YaHei Light"/>
                <a:cs typeface="Microsoft YaHei Light"/>
              </a:rPr>
              <a:t>13.</a:t>
            </a:r>
            <a:r>
              <a:rPr dirty="0" sz="2000" spc="-5" b="0">
                <a:solidFill>
                  <a:srgbClr val="1E3A8A"/>
                </a:solidFill>
                <a:latin typeface="Microsoft YaHei Light"/>
                <a:cs typeface="Microsoft YaHei Light"/>
              </a:rPr>
              <a:t> 待老师确认的开放问题</a:t>
            </a:r>
            <a:endParaRPr sz="2000">
              <a:latin typeface="Microsoft YaHei Light"/>
              <a:cs typeface="Microsoft YaHei Light"/>
            </a:endParaRPr>
          </a:p>
          <a:p>
            <a:pPr marL="12700" marR="5080">
              <a:lnSpc>
                <a:spcPct val="127800"/>
              </a:lnSpc>
              <a:spcBef>
                <a:spcPts val="1500"/>
              </a:spcBef>
            </a:pPr>
            <a:r>
              <a:rPr dirty="0" sz="1200" spc="-35" b="0">
                <a:latin typeface="Microsoft YaHei Light"/>
                <a:cs typeface="Microsoft YaHei Light"/>
              </a:rPr>
              <a:t>作业题目说明「本题目定义应该是不完整的」。本节为本组在需求分析、规则研读、协</a:t>
            </a:r>
            <a:r>
              <a:rPr dirty="0" sz="1200" spc="-5" b="0">
                <a:latin typeface="Microsoft YaHei Light"/>
                <a:cs typeface="Microsoft YaHei Light"/>
              </a:rPr>
              <a:t>议设计与联调中 主动提出并给出暂定方案 的争议点，供老师裁定后写入全体统一的</a:t>
            </a:r>
            <a:r>
              <a:rPr dirty="0" sz="1200" spc="-10" b="0">
                <a:latin typeface="Microsoft YaHei Light"/>
                <a:cs typeface="Microsoft YaHei Light"/>
              </a:rPr>
              <a:t>公共规范。</a:t>
            </a:r>
            <a:endParaRPr sz="1200">
              <a:latin typeface="Microsoft YaHei Light"/>
              <a:cs typeface="Microsoft YaHei Light"/>
            </a:endParaRPr>
          </a:p>
          <a:p>
            <a:pPr marL="12700" marR="81280">
              <a:lnSpc>
                <a:spcPct val="127800"/>
              </a:lnSpc>
              <a:spcBef>
                <a:spcPts val="325"/>
              </a:spcBef>
            </a:pPr>
            <a:r>
              <a:rPr dirty="0" sz="1200" spc="5" b="0">
                <a:latin typeface="Microsoft YaHei Light"/>
                <a:cs typeface="Microsoft YaHei Light"/>
              </a:rPr>
              <a:t>说明：带「待确认」者需教师裁定；带「本组方案」者为本协议 </a:t>
            </a:r>
            <a:r>
              <a:rPr dirty="0" sz="1200" b="0">
                <a:latin typeface="Microsoft YaHei Light"/>
                <a:cs typeface="Microsoft YaHei Light"/>
              </a:rPr>
              <a:t>v3.0</a:t>
            </a:r>
            <a:r>
              <a:rPr dirty="0" sz="1200" spc="20" b="0">
                <a:latin typeface="Microsoft YaHei Light"/>
                <a:cs typeface="Microsoft YaHei Light"/>
              </a:rPr>
              <a:t> 已采用、建议</a:t>
            </a:r>
            <a:r>
              <a:rPr dirty="0" sz="1200" spc="-5" b="0">
                <a:latin typeface="Microsoft YaHei Light"/>
                <a:cs typeface="Microsoft YaHei Light"/>
              </a:rPr>
              <a:t>老师认可后全组遵照的默认实现。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87300" y="719027"/>
            <a:ext cx="1892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4" b="0">
                <a:solidFill>
                  <a:srgbClr val="1E40AF"/>
                </a:solidFill>
                <a:latin typeface="Microsoft YaHei Light"/>
                <a:cs typeface="Microsoft YaHei Light"/>
              </a:rPr>
              <a:t>13.1.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规则与胜负判定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8412" y="1165940"/>
          <a:ext cx="5763260" cy="8188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2480310"/>
                <a:gridCol w="2606040"/>
                <a:gridCol w="367664"/>
              </a:tblGrid>
              <a:tr h="668655">
                <a:tc>
                  <a:txBody>
                    <a:bodyPr/>
                    <a:lstStyle/>
                    <a:p>
                      <a:pPr marL="86995" marR="6032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4145" marR="19431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吃暗子时，被吃方是否应知道被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吃子的真实类型？规则写「被吃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方不知道」，但 </a:t>
                      </a:r>
                      <a:r>
                        <a:rPr dirty="0" sz="1200" spc="-280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广播含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3515" marR="28130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方案 </a:t>
                      </a:r>
                      <a:r>
                        <a:rPr dirty="0" sz="1200" spc="-120" b="0">
                          <a:latin typeface="Microsoft YaHei Light"/>
                          <a:cs typeface="Microsoft YaHei Light"/>
                        </a:rPr>
                        <a:t>A：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双方广播相同（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实现简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单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83515" marR="205104">
                        <a:lnSpc>
                          <a:spcPct val="127800"/>
                        </a:lnSpc>
                      </a:pP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方案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B：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对被吃方发送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置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空的 </a:t>
                      </a:r>
                      <a:r>
                        <a:rPr dirty="0" sz="1200" spc="-235" b="0">
                          <a:latin typeface="Microsoft YaHei Light"/>
                          <a:cs typeface="Microsoft YaHei Light"/>
                        </a:rPr>
                        <a:t>MOVE（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与规则一致，需双通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道广播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92075" marR="115570">
                        <a:lnSpc>
                          <a:spcPct val="127800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42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145" marR="1181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题目写「不考虑不应将」，走子后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己方被将军是否仍一律拒绝？若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对方未应将，是否允许直接吃帅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结束？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83515" marR="8445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允许送将：仅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isValidMove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校验；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不因己方被将拒绝。对方下一步</a:t>
                      </a:r>
                      <a:r>
                        <a:rPr dirty="0" sz="1200" spc="50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吃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明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帅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→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KING_CAPTURED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183515" marR="205104" indent="-76200">
                        <a:lnSpc>
                          <a:spcPct val="127800"/>
                        </a:lnSpc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（5</a:t>
                      </a:r>
                      <a:r>
                        <a:rPr dirty="0" sz="1200" spc="-63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。见正文「不与不应将自动判</a:t>
                      </a:r>
                      <a:r>
                        <a:rPr dirty="0" sz="1200" spc="-220" b="0">
                          <a:latin typeface="Microsoft YaHei Light"/>
                          <a:cs typeface="Microsoft YaHei Light"/>
                        </a:rPr>
                        <a:t>负」。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96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21920"/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145" marR="99695" indent="-7620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「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回合无吃子」指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个完整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回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合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（80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半步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还是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半步？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与实现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noCaptureCount</a:t>
                      </a:r>
                      <a:r>
                        <a:rPr dirty="0" sz="1050" spc="-20">
                          <a:latin typeface="Consolas"/>
                          <a:cs typeface="Consolas"/>
                        </a:rPr>
                        <a:t> &gt;=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80</a:t>
                      </a:r>
                      <a:r>
                        <a:rPr dirty="0" sz="105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是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否一致？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83515" marR="35750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采用 80 半步（等价双方各 </a:t>
                      </a: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步无吃子</a:t>
                      </a:r>
                      <a:r>
                        <a:rPr dirty="0" sz="1200" spc="-7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50" b="0">
                          <a:latin typeface="Microsoft YaHei Light"/>
                          <a:cs typeface="Microsoft YaHei Light"/>
                        </a:rPr>
                        <a:t>，GAME_OVER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原因码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6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96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2192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145" marR="1943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长将/长捉「6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次」是否必须连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续？中间插入非将军、非捉子步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是否重置计数？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同局面哈希累计达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 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判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83515" marR="281305" indent="-76200">
                        <a:lnSpc>
                          <a:spcPct val="1278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（不强制连续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；兵卒长捉单独判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和</a:t>
                      </a:r>
                      <a:r>
                        <a:rPr dirty="0" sz="1200" spc="-120" b="0">
                          <a:latin typeface="Microsoft YaHei Light"/>
                          <a:cs typeface="Microsoft YaHei Light"/>
                        </a:rPr>
                        <a:t>（Q5</a:t>
                      </a:r>
                      <a:r>
                        <a:rPr dirty="0" sz="1200" spc="-72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145" marR="194310" indent="-7620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「兵卒长捉判和」：兵卒长捉兵卒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和，还是兵卒长捉任意子均和？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83515" marR="205104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兵卒长捉导致重复局面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次判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和（不限被捉子类型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44145" marR="1943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困毙、无合法走子（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含仅能原地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翻子）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是否均判负？单方只剩将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帅是否和棋？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83515" marR="28130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无合法着法（含翻子）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且未被将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时判困毙负；单方将帅判和（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实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现可扩展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145" marR="1181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将帅是否允许照面（中间无子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？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亚洲规则常见「不可照面」。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83515" marR="28130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允许照面；照面时不判负（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与中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国象棋部分规则一致，待权威裁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定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44145" marR="1943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暗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在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位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否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享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受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明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士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明象的过河强化？还是严格按位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置虚拟类型的原始象棋规则？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83515" marR="205104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否：暗子按虚拟类型走子（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士限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九宫、象不过河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；翻开为明后才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强化。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2075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87300" y="719027"/>
            <a:ext cx="2082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13.2.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翻子、随机与棋谱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8412" y="1165940"/>
          <a:ext cx="5763260" cy="4929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25"/>
                <a:gridCol w="2528570"/>
                <a:gridCol w="2479675"/>
                <a:gridCol w="428625"/>
              </a:tblGrid>
              <a:tr h="668655">
                <a:tc>
                  <a:txBody>
                    <a:bodyPr/>
                    <a:lstStyle/>
                    <a:p>
                      <a:pPr marL="86995" marR="793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50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095" marR="10922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暗子首次翻开时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由谁生成？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客户端上传的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是否一律由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服务器覆盖？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839" marR="220979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仅服务器随机生成并写入广播；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忽略客户端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type（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防作弊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52400" marR="11557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 marR="1854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随机打乱是否需可复现（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公开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85" b="0">
                          <a:latin typeface="Microsoft YaHei Light"/>
                          <a:cs typeface="Microsoft YaHei Light"/>
                        </a:rPr>
                        <a:t>random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seed）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以便复盘与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调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试？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16839" marR="2209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联调不要求；棋谱记录翻出后的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type；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可选日志记录 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seed（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扩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展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 marR="1092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原地翻子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（source=destination）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是否每回合仅限一枚？能否连续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多回合只翻子？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6839" marR="2209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每回合仅允许一次翻子或走子；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可连续多回合只翻子（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合法即允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许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 marR="1854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棋谱中首翻是否必须记录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type？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后续明子走子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字段是否应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为空？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16839" marR="144780">
                        <a:lnSpc>
                          <a:spcPct val="130600"/>
                        </a:lnSpc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首次翻开必记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type；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后续步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type 为空字符串；原地翻子标记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050">
                          <a:latin typeface="Microsoft JhengHei"/>
                          <a:cs typeface="Microsoft JhengHei"/>
                        </a:rPr>
                        <a:t>翻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]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5240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 marR="2616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吃子后翻开的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是否对吃子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方立即可见、对被吃方是否隐藏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48895">
                        <a:lnSpc>
                          <a:spcPts val="127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见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Q1</a:t>
                      </a:r>
                      <a:r>
                        <a:rPr dirty="0" sz="1200" spc="-47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16839" marR="2209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与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联动；当前协议对双方广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播相同 </a:t>
                      </a:r>
                      <a:r>
                        <a:rPr dirty="0" sz="1200" spc="-215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-34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887300" y="6362822"/>
            <a:ext cx="2273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13.3.</a:t>
            </a:r>
            <a:r>
              <a:rPr dirty="0" sz="1500" spc="-5" b="0">
                <a:solidFill>
                  <a:srgbClr val="1E40AF"/>
                </a:solidFill>
                <a:latin typeface="Microsoft YaHei Light"/>
                <a:cs typeface="Microsoft YaHei Light"/>
              </a:rPr>
              <a:t> 网络、计时与互操作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8412" y="6809735"/>
          <a:ext cx="5763260" cy="2958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2490470"/>
                <a:gridCol w="2536825"/>
                <a:gridCol w="370839"/>
              </a:tblGrid>
              <a:tr h="668655">
                <a:tc>
                  <a:txBody>
                    <a:bodyPr/>
                    <a:lstStyle/>
                    <a:p>
                      <a:pPr marL="86995" marR="1174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 marR="18542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每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步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限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时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：60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 秒 +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秒网络裕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量是否为课程统一标准？AI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本地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对弈是否同标准？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839" marR="8699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网络对战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65s（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服务器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10">
                          <a:latin typeface="Consolas"/>
                          <a:cs typeface="Consolas"/>
                        </a:rPr>
                        <a:t>turnStartTime</a:t>
                      </a:r>
                      <a:r>
                        <a:rPr dirty="0" sz="1200" spc="-59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；AI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 本地可自定，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报告说明即可。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94615" marR="11557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092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客户端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turnStartTime 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是否完全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忽略？是否保留用于日志与排错？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16839" marR="1257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判超时仅以服务器时间为准；客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户端时间戳可记录但不参与判定。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9461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509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2616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端口是否统一？不同组默认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端口不一致时如何联调？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16839" marR="2019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建议统一默认 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8888；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各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可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端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口但启动时打印，文档写明。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94615" marR="115570">
                        <a:lnSpc>
                          <a:spcPts val="1839"/>
                        </a:lnSpc>
                        <a:spcBef>
                          <a:spcPts val="33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254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25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866813"/>
          <a:ext cx="5766435" cy="926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980"/>
                <a:gridCol w="1518920"/>
                <a:gridCol w="2822575"/>
                <a:gridCol w="1078229"/>
              </a:tblGrid>
              <a:tr h="466090">
                <a:tc>
                  <a:txBody>
                    <a:bodyPr/>
                    <a:lstStyle/>
                    <a:p>
                      <a:pPr marL="88900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744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algn="r" marR="116839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L="800100" marR="116839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5950" y="1949012"/>
          <a:ext cx="5654040" cy="3411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980"/>
                <a:gridCol w="2452370"/>
                <a:gridCol w="2517775"/>
                <a:gridCol w="337185"/>
              </a:tblGrid>
              <a:tr h="697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270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断线重连：掉线后能否用相同身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6995" marR="223520">
                        <a:lnSpc>
                          <a:spcPct val="127800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份重连并恢复棋局？是否纳入公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共协议？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未定义；断线判对方胜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4940" marR="144780">
                        <a:lnSpc>
                          <a:spcPct val="127800"/>
                        </a:lnSpc>
                      </a:pP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因码 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4</a:t>
                      </a:r>
                      <a:r>
                        <a:rPr dirty="0" sz="1200" spc="-63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；重连列为 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v2.1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扩展建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议。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2400" marR="24130">
                        <a:lnSpc>
                          <a:spcPct val="127800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6446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多盘对弈：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gameId</a:t>
                      </a:r>
                      <a:r>
                        <a:rPr dirty="0" sz="1050" spc="-114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为空时自动匹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配规则？满员后是否新建房间？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4940" marR="14478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先匹配 </a:t>
                      </a: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WAITING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房间；无则创建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UUID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 前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位；满员拒绝</a:t>
                      </a:r>
                      <a:r>
                        <a:rPr dirty="0" sz="1200" spc="-140" b="0">
                          <a:latin typeface="Microsoft YaHei Light"/>
                          <a:cs typeface="Microsoft YaHei Light"/>
                        </a:rPr>
                        <a:t>（ERROR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201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241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Q19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观战/裁判：第三方只读客户端是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否需标准消息（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如 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SPECTATOR</a:t>
                      </a:r>
                      <a:r>
                        <a:rPr dirty="0" sz="1200" spc="-7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37338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暂不纳入必做；观战组可订阅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扩展实现。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2413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和棋：提和是否需双方 </a:t>
                      </a:r>
                      <a:r>
                        <a:rPr dirty="0" sz="1200" spc="-80" b="0">
                          <a:latin typeface="Microsoft YaHei Light"/>
                          <a:cs typeface="Microsoft YaHei Light"/>
                        </a:rPr>
                        <a:t>OFFER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ACCEPT？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单方提和是否足够？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4478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一方 </a:t>
                      </a:r>
                      <a:r>
                        <a:rPr dirty="0" sz="1200" spc="-114" b="0">
                          <a:latin typeface="Microsoft YaHei Light"/>
                          <a:cs typeface="Microsoft YaHei Light"/>
                        </a:rPr>
                        <a:t>ACCEPT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即和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原因码 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9</a:t>
                      </a:r>
                      <a:r>
                        <a:rPr dirty="0" sz="1200" spc="-63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；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拒绝则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DECLINE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继续。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52400" marR="2413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887300" y="5623974"/>
            <a:ext cx="4654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13.4.</a:t>
            </a:r>
            <a:r>
              <a:rPr dirty="0" sz="1500" spc="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AI</a:t>
            </a:r>
            <a:r>
              <a:rPr dirty="0" sz="1500" spc="50" b="0">
                <a:solidFill>
                  <a:srgbClr val="1E40AF"/>
                </a:solidFill>
                <a:latin typeface="Microsoft YaHei Light"/>
                <a:cs typeface="Microsoft YaHei Light"/>
              </a:rPr>
              <a:t> 博弈与评估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（</a:t>
            </a:r>
            <a:r>
              <a:rPr dirty="0" sz="1500" spc="100" b="0">
                <a:solidFill>
                  <a:srgbClr val="1E40AF"/>
                </a:solidFill>
                <a:latin typeface="Microsoft YaHei Light"/>
                <a:cs typeface="Microsoft YaHei Light"/>
              </a:rPr>
              <a:t>选做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AI</a:t>
            </a:r>
            <a:r>
              <a:rPr dirty="0" sz="1500" spc="25" b="0">
                <a:solidFill>
                  <a:srgbClr val="1E40AF"/>
                </a:solidFill>
                <a:latin typeface="Microsoft YaHei Light"/>
                <a:cs typeface="Microsoft YaHei Light"/>
              </a:rPr>
              <a:t> 部分的组可一并裁定</a:t>
            </a:r>
            <a:r>
              <a:rPr dirty="0" sz="1500" spc="-50" b="0">
                <a:solidFill>
                  <a:srgbClr val="1E40AF"/>
                </a:solidFill>
                <a:latin typeface="Microsoft YaHei Light"/>
                <a:cs typeface="Microsoft YaHei Light"/>
              </a:rPr>
              <a:t>）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8412" y="6070887"/>
          <a:ext cx="5763260" cy="3146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2452370"/>
                <a:gridCol w="2541270"/>
                <a:gridCol w="404495"/>
              </a:tblGrid>
              <a:tr h="668655">
                <a:tc>
                  <a:txBody>
                    <a:bodyPr/>
                    <a:lstStyle/>
                    <a:p>
                      <a:pPr marL="86995" marR="1174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86995" marR="22352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暗子评估：未翻开子用虚拟位置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价值还是剩余池期望值？是否向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老师报备评估公式？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54940" marR="24447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互操作不传输评估；各组 AI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 自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定，实验报告公开公式与胜负统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计。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28270" marR="11557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与真人对弈是否必须连接本协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议服务器？能否本地共用一个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Board 类？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2065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鼓励共用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jieqi-core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领域模块；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网络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作特殊客户端连接服务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器。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2827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51765">
                        <a:lnSpc>
                          <a:spcPts val="1839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Agent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对象是否需统一接口（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如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JieqiAgent.selectMove(Board)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以便组间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对战？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940" marR="24447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不强制；建议课程提供可选接口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约定，便于擂台赛。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28270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26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329927"/>
          <a:ext cx="5766435" cy="69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2452370"/>
                <a:gridCol w="2479675"/>
                <a:gridCol w="468629"/>
              </a:tblGrid>
              <a:tr h="694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ts val="1839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随机翻子导致搜索树膨胀：AI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 是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否允许「期望着法」与「实际翻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开」分支不一致的日志说明？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18288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允许；报告记录期望分数与实际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结果的差异样本。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90500" marR="116839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973100" y="781842"/>
            <a:ext cx="69596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  <a:tabLst>
                <a:tab pos="377825" algn="l"/>
              </a:tabLst>
            </a:pPr>
            <a:r>
              <a:rPr dirty="0" sz="1200" spc="-50" b="0">
                <a:latin typeface="Microsoft YaHei Light"/>
                <a:cs typeface="Microsoft YaHei Light"/>
              </a:rPr>
              <a:t>序</a:t>
            </a:r>
            <a:r>
              <a:rPr dirty="0" sz="1200" b="0">
                <a:latin typeface="Microsoft YaHei Light"/>
                <a:cs typeface="Microsoft YaHei Light"/>
              </a:rPr>
              <a:t>	问</a:t>
            </a:r>
            <a:r>
              <a:rPr dirty="0" sz="1200" spc="-50" b="0">
                <a:latin typeface="Microsoft YaHei Light"/>
                <a:cs typeface="Microsoft YaHei Light"/>
              </a:rPr>
              <a:t>题</a:t>
            </a:r>
            <a:r>
              <a:rPr dirty="0" sz="1200" spc="-50" b="0">
                <a:latin typeface="Microsoft YaHei Light"/>
                <a:cs typeface="Microsoft YaHei Light"/>
              </a:rPr>
              <a:t>号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8300" y="832682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本组暂定方案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73100" y="781842"/>
            <a:ext cx="1778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-50" b="0">
                <a:latin typeface="Microsoft YaHei Light"/>
                <a:cs typeface="Microsoft YaHei Light"/>
              </a:rPr>
              <a:t>状</a:t>
            </a:r>
            <a:r>
              <a:rPr dirty="0" sz="1200" spc="-50" b="0">
                <a:latin typeface="Microsoft YaHei Light"/>
                <a:cs typeface="Microsoft YaHei Light"/>
              </a:rPr>
              <a:t>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2095221"/>
            <a:ext cx="56642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50" b="0">
                <a:latin typeface="Microsoft YaHei Light"/>
                <a:cs typeface="Microsoft YaHei Light"/>
              </a:rPr>
              <a:t>以下 </a:t>
            </a:r>
            <a:r>
              <a:rPr dirty="0" sz="1200" spc="-55" b="0">
                <a:latin typeface="Microsoft YaHei Light"/>
                <a:cs typeface="Microsoft YaHei Light"/>
              </a:rPr>
              <a:t>Q25–Q44</a:t>
            </a:r>
            <a:r>
              <a:rPr dirty="0" sz="1200" spc="10" b="0">
                <a:latin typeface="Microsoft YaHei Light"/>
                <a:cs typeface="Microsoft YaHei Light"/>
              </a:rPr>
              <a:t> 为本组提出的 扩展方向</a:t>
            </a:r>
            <a:r>
              <a:rPr dirty="0" sz="1200" b="0">
                <a:latin typeface="Microsoft YaHei Light"/>
                <a:cs typeface="Microsoft YaHei Light"/>
              </a:rPr>
              <a:t>（非作业必做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" b="0">
                <a:latin typeface="Microsoft YaHei Light"/>
                <a:cs typeface="Microsoft YaHei Light"/>
              </a:rPr>
              <a:t>，用于完善题目边界、争取课</a:t>
            </a:r>
            <a:r>
              <a:rPr dirty="0" sz="1200" spc="10" b="0">
                <a:latin typeface="Microsoft YaHei Light"/>
                <a:cs typeface="Microsoft YaHei Light"/>
              </a:rPr>
              <a:t>程加分，并供老师裁定是否纳入公共规范 </a:t>
            </a:r>
            <a:r>
              <a:rPr dirty="0" sz="1200" spc="95" b="0">
                <a:latin typeface="Microsoft YaHei Light"/>
                <a:cs typeface="Microsoft YaHei Light"/>
              </a:rPr>
              <a:t>v2.1</a:t>
            </a:r>
            <a:r>
              <a:rPr dirty="0" sz="1200" b="0">
                <a:latin typeface="Microsoft YaHei Light"/>
                <a:cs typeface="Microsoft YaHei Light"/>
              </a:rPr>
              <a:t> 或仅作本组实验报告亮点。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2718751"/>
          <a:ext cx="5766435" cy="1073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975"/>
                <a:gridCol w="406146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0" b="0">
                          <a:latin typeface="Microsoft YaHei Light"/>
                          <a:cs typeface="Microsoft YaHei Light"/>
                        </a:rPr>
                        <a:t>I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网络底层与并发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Q25–Q32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0" b="0">
                          <a:latin typeface="Microsoft YaHei Light"/>
                          <a:cs typeface="Microsoft YaHei Light"/>
                        </a:rPr>
                        <a:t>II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多智能体与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LLM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Q33–Q39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300" b="0">
                          <a:latin typeface="Microsoft YaHei Light"/>
                          <a:cs typeface="Microsoft YaHei Light"/>
                        </a:rPr>
                        <a:t>III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全栈工程化与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UI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Q40–Q44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4056516"/>
            <a:ext cx="25590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13.5.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380" b="0">
                <a:solidFill>
                  <a:srgbClr val="1E40AF"/>
                </a:solidFill>
                <a:latin typeface="Microsoft YaHei Light"/>
                <a:cs typeface="Microsoft YaHei Light"/>
              </a:rPr>
              <a:t>I.</a:t>
            </a:r>
            <a:r>
              <a:rPr dirty="0" sz="1500" spc="20" b="0">
                <a:solidFill>
                  <a:srgbClr val="1E40AF"/>
                </a:solidFill>
                <a:latin typeface="Microsoft YaHei Light"/>
                <a:cs typeface="Microsoft YaHei Light"/>
              </a:rPr>
              <a:t> 网络底层与并发架构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98412" y="4503429"/>
          <a:ext cx="5763260" cy="5089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2437765"/>
                <a:gridCol w="2552700"/>
                <a:gridCol w="407670"/>
              </a:tblGrid>
              <a:tr h="668655">
                <a:tc>
                  <a:txBody>
                    <a:bodyPr/>
                    <a:lstStyle/>
                    <a:p>
                      <a:pPr marL="86995" marR="1174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891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 marR="8509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 粘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包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半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包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仅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用</a:t>
                      </a:r>
                      <a:r>
                        <a:rPr dirty="0" sz="1200" spc="18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readLine()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按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\n 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切帧是否足够？是否应强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制「长度字段 + 字节缓冲」解</a:t>
                      </a:r>
                      <a:r>
                        <a:rPr dirty="0" sz="1200" spc="50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码？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8910" marR="64833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 帧格式为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msgType\| payloadLen\|payload\n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68910" marR="123825">
                        <a:lnSpc>
                          <a:spcPct val="127800"/>
                        </a:lnSpc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推荐实现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FrameDecoder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环形缓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冲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/ByteBuffer</a:t>
                      </a:r>
                      <a:r>
                        <a:rPr dirty="0" sz="1200" spc="-56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，先凑满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payloadLen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再解析，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\n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仅作帧尾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校验；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68910" marR="165100">
                        <a:lnSpc>
                          <a:spcPct val="127800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报告专节说明粘包/半包与半包恢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复流程。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 marL="131445" marR="115570">
                        <a:lnSpc>
                          <a:spcPct val="127800"/>
                        </a:lnSpc>
                        <a:spcBef>
                          <a:spcPts val="9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8509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payloadLen</a:t>
                      </a:r>
                      <a:r>
                        <a:rPr dirty="0" sz="105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与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实际字节数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不一致时如何处理？多字节中文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55" b="0">
                          <a:latin typeface="Microsoft YaHei Light"/>
                          <a:cs typeface="Microsoft YaHei Light"/>
                        </a:rPr>
                        <a:t>CHAT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 是否计入长度？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68910" marR="16510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长度按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字节计；不一致则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ERROR</a:t>
                      </a:r>
                      <a:r>
                        <a:rPr dirty="0" sz="1200" spc="16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111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并丢弃该帧剩余字节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（防协议错乱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3144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8509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单帧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payloadLen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上限是否课程统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一？防止恶意客户端撑爆内存。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68910" marR="16510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建议上限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64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KiB；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超限关闭连接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并记日志（待老师确认数值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31445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86995" marR="91440">
                        <a:lnSpc>
                          <a:spcPts val="1839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高并发：每连接一线程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（BIO）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还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NIO</a:t>
                      </a:r>
                      <a:r>
                        <a:rPr dirty="0" sz="105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Selector</a:t>
                      </a:r>
                      <a:r>
                        <a:rPr dirty="0" sz="105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/ 虚拟线程？是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否影响互操作？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68910" marR="241300">
                        <a:lnSpc>
                          <a:spcPts val="1839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互操作仅约束字节流语义，不约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束 IO 模型；本组 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server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可迭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代为 </a:t>
                      </a:r>
                      <a:r>
                        <a:rPr dirty="0" sz="1200" spc="-110" b="0">
                          <a:latin typeface="Microsoft YaHei Light"/>
                          <a:cs typeface="Microsoft YaHei Light"/>
                        </a:rPr>
                        <a:t>NIO，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报告对比吞吐。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31445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27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329927"/>
          <a:ext cx="5766435" cy="395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2452370"/>
                <a:gridCol w="2554604"/>
                <a:gridCol w="392429"/>
              </a:tblGrid>
              <a:tr h="124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Q29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 marR="21653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多盘对弈规模扩大后，内存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Map&lt;gameId,</a:t>
                      </a:r>
                      <a:r>
                        <a:rPr dirty="0" sz="1050" spc="-7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GameSession&gt;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是否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改为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缓存对局状态？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14033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必做可仍用内存；加分路径：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jieqi-server</a:t>
                      </a:r>
                      <a:r>
                        <a:rPr dirty="0" sz="105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+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145" b="0">
                          <a:latin typeface="Microsoft YaHei Light"/>
                          <a:cs typeface="Microsoft YaHei Light"/>
                        </a:rPr>
                        <a:t> 存 </a:t>
                      </a:r>
                      <a:r>
                        <a:rPr dirty="0" sz="1200" spc="-170" b="0">
                          <a:latin typeface="Microsoft YaHei Light"/>
                          <a:cs typeface="Microsoft YaHei Light"/>
                        </a:rPr>
                        <a:t>BOARD/</a:t>
                      </a:r>
                      <a:r>
                        <a:rPr dirty="0" sz="1200" spc="50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80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 序列与房间元数据；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键命名建议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jieqi:room: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{gameId}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jieqi:queue:waiting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114935" marR="116839">
                        <a:lnSpc>
                          <a:spcPct val="127800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240665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 匹配池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（Matchmaking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Queue</a:t>
                      </a:r>
                      <a:r>
                        <a:rPr dirty="0" sz="1200" spc="-70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：LOGIN</a:t>
                      </a: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 时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gameId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为空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是否先入队再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pop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配对？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154940" marR="181610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与 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Q18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一致逻辑，队列可用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3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LIST；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无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时退化为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内存 </a:t>
                      </a:r>
                      <a:r>
                        <a:rPr dirty="0" sz="1200" spc="-170" b="0">
                          <a:latin typeface="Microsoft YaHei Light"/>
                          <a:cs typeface="Microsoft YaHei Light"/>
                        </a:rPr>
                        <a:t>Map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扫描。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just" marL="114935" marR="116839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分布式下计时器：超时判定是否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仍以游戏进程本地时钟为准，还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是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23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TTL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/ 独立调度服务？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4287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联调最小方案：仍以持局进程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turnStartTime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为准；Redis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仅缓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存状态不替代判时。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935" marR="11683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1164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20002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容器化交付：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Dockerfile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+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docker-compose.yml</a:t>
                      </a:r>
                      <a:r>
                        <a:rPr dirty="0" sz="1050" spc="-1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是否作为推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荐提交物（</a:t>
                      </a:r>
                      <a:r>
                        <a:rPr dirty="0" sz="1200" spc="235" b="0">
                          <a:latin typeface="Microsoft YaHei Light"/>
                          <a:cs typeface="Microsoft YaHei Light"/>
                        </a:rPr>
                        <a:t>含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server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可选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-5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5494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提供一键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docker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compose</a:t>
                      </a:r>
                      <a:r>
                        <a:rPr dirty="0" sz="105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up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；默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认暴露 </a:t>
                      </a:r>
                      <a:r>
                        <a:rPr dirty="0" sz="1200" spc="-40" b="0">
                          <a:latin typeface="Microsoft YaHei Light"/>
                          <a:cs typeface="Microsoft YaHei Light"/>
                        </a:rPr>
                        <a:t>8888；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环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境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变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JIEQI_PORT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REDIS_URL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4940" marR="257810">
                        <a:lnSpc>
                          <a:spcPts val="1839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不强制他组使用，本组实验报告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附部署节。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935" marR="116839">
                        <a:lnSpc>
                          <a:spcPct val="127800"/>
                        </a:lnSpc>
                        <a:spcBef>
                          <a:spcPts val="96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2192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973100" y="781842"/>
            <a:ext cx="69596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  <a:tabLst>
                <a:tab pos="377825" algn="l"/>
              </a:tabLst>
            </a:pPr>
            <a:r>
              <a:rPr dirty="0" sz="1200" spc="-50" b="0">
                <a:latin typeface="Microsoft YaHei Light"/>
                <a:cs typeface="Microsoft YaHei Light"/>
              </a:rPr>
              <a:t>序</a:t>
            </a:r>
            <a:r>
              <a:rPr dirty="0" sz="1200" b="0">
                <a:latin typeface="Microsoft YaHei Light"/>
                <a:cs typeface="Microsoft YaHei Light"/>
              </a:rPr>
              <a:t>	问</a:t>
            </a:r>
            <a:r>
              <a:rPr dirty="0" sz="1200" spc="-50" b="0">
                <a:latin typeface="Microsoft YaHei Light"/>
                <a:cs typeface="Microsoft YaHei Light"/>
              </a:rPr>
              <a:t>题</a:t>
            </a:r>
            <a:r>
              <a:rPr dirty="0" sz="1200" spc="-50" b="0">
                <a:latin typeface="Microsoft YaHei Light"/>
                <a:cs typeface="Microsoft YaHei Light"/>
              </a:rPr>
              <a:t>号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8300" y="832682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本组暂定方案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73100" y="781842"/>
            <a:ext cx="1778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-50" b="0">
                <a:latin typeface="Microsoft YaHei Light"/>
                <a:cs typeface="Microsoft YaHei Light"/>
              </a:rPr>
              <a:t>状</a:t>
            </a:r>
            <a:r>
              <a:rPr dirty="0" sz="1200" spc="-50" b="0">
                <a:latin typeface="Microsoft YaHei Light"/>
                <a:cs typeface="Microsoft YaHei Light"/>
              </a:rPr>
              <a:t>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5550313"/>
            <a:ext cx="3225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13.6.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380" b="0">
                <a:solidFill>
                  <a:srgbClr val="1E40AF"/>
                </a:solidFill>
                <a:latin typeface="Microsoft YaHei Light"/>
                <a:cs typeface="Microsoft YaHei Light"/>
              </a:rPr>
              <a:t>II.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多智能体协作与大模型赋能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8412" y="5997226"/>
          <a:ext cx="5763260" cy="3613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25"/>
                <a:gridCol w="2516505"/>
                <a:gridCol w="2517140"/>
                <a:gridCol w="363220"/>
              </a:tblGrid>
              <a:tr h="668655">
                <a:tc>
                  <a:txBody>
                    <a:bodyPr/>
                    <a:lstStyle/>
                    <a:p>
                      <a:pPr marL="86995" marR="1174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 marR="51689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是否必须从单体类拆为多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Agent：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SearchAgent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、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ProbabilityAgent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、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EndgameAgent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 marR="21018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作业仅要求「至少一个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Agent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对</a:t>
                      </a:r>
                      <a:r>
                        <a:rPr dirty="0" sz="1200" spc="-75" b="0">
                          <a:latin typeface="Microsoft YaHei Light"/>
                          <a:cs typeface="Microsoft YaHei Light"/>
                        </a:rPr>
                        <a:t>象」；本组建议拆分并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Orchestrator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编排，报告附架构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图；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不强制他组拆分。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just" marL="87630" marR="115570">
                        <a:lnSpc>
                          <a:spcPct val="127800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21209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多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Agent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决策合并：串行（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先概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率修正评估再搜索）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还是并行投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票？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本组采用串行管道：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Probability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90170" marR="210185">
                        <a:lnSpc>
                          <a:spcPct val="127800"/>
                        </a:lnSpc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Search；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残局库命中则短路返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回。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just" marL="8763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697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是否定义可选接口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JieqiSubAgent.contribute(Board,</a:t>
                      </a:r>
                      <a:endParaRPr sz="1050">
                        <a:latin typeface="Consolas"/>
                        <a:cs typeface="Consolas"/>
                      </a:endParaRPr>
                    </a:p>
                    <a:p>
                      <a:pPr marL="86995">
                        <a:lnSpc>
                          <a:spcPts val="1420"/>
                        </a:lnSpc>
                        <a:spcBef>
                          <a:spcPts val="43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Context)</a:t>
                      </a:r>
                      <a:r>
                        <a:rPr dirty="0" sz="1050" spc="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便于组间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AI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模块互换？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90170" marR="8001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课程级可选约定，置于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jieqi-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ai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互操作仍只依赖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16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15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-34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87630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28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329927"/>
          <a:ext cx="5766435" cy="3486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2452370"/>
                <a:gridCol w="2555875"/>
                <a:gridCol w="392429"/>
              </a:tblGrid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86995" marR="14732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协议已预留 </a:t>
                      </a:r>
                      <a:r>
                        <a:rPr dirty="0" sz="1200" spc="-85" b="0">
                          <a:latin typeface="Microsoft YaHei Light"/>
                          <a:cs typeface="Microsoft YaHei Light"/>
                        </a:rPr>
                        <a:t>MSG_CHAT(10)：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是否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允许 AI/LLM 自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动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发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「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心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战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解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说」？是否算正式功能？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259079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允许作演示与加分；默认关闭；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开启需在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LOGIN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或配置中声明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allowChatAI=true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14300" marR="116839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2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-95" b="0">
                          <a:latin typeface="Microsoft YaHei Light"/>
                          <a:cs typeface="Microsoft YaHei Light"/>
                        </a:rPr>
                        <a:t>LLM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Prompt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输入范围：仅抽象局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面（子力差、回合、是否被将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还是含完整 </a:t>
                      </a:r>
                      <a:r>
                        <a:rPr dirty="0" sz="1200" spc="-80" b="0">
                          <a:latin typeface="Microsoft YaHei Light"/>
                          <a:cs typeface="Microsoft YaHei Light"/>
                        </a:rPr>
                        <a:t>FEN/BOARD_STATE？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154940" marR="182880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禁止上传对手隐私；仅发送脱敏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摘要 + 己方视角；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API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Key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仅存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服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端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配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just" marL="114300" marR="116839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155" b="0">
                          <a:latin typeface="Microsoft YaHei Light"/>
                          <a:cs typeface="Microsoft YaHei Light"/>
                        </a:rPr>
                        <a:t>CHAT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频率与长度：是否限制（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如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每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30s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 一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≤200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 字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？是否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需敏感词过滤？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0668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服务器限速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1</a:t>
                      </a:r>
                      <a:r>
                        <a:rPr dirty="0" sz="1200" spc="160" b="0">
                          <a:latin typeface="Microsoft YaHei Light"/>
                          <a:cs typeface="Microsoft YaHei Light"/>
                        </a:rPr>
                        <a:t> 条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/10s/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人；超长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截断；课程演示可人工审核开关。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300" marR="11683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Q39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95" b="0">
                          <a:latin typeface="Microsoft YaHei Light"/>
                          <a:cs typeface="Microsoft YaHei Light"/>
                        </a:rPr>
                        <a:t>LLM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失败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（超时/配额）</a:t>
                      </a: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时：静默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跳过还是发送固定 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fallback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文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案？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18288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静默跳过，不影响对弈；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CHAT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80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解耦。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300" marR="116839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973100" y="781842"/>
            <a:ext cx="69596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  <a:tabLst>
                <a:tab pos="377825" algn="l"/>
              </a:tabLst>
            </a:pPr>
            <a:r>
              <a:rPr dirty="0" sz="1200" spc="-50" b="0">
                <a:latin typeface="Microsoft YaHei Light"/>
                <a:cs typeface="Microsoft YaHei Light"/>
              </a:rPr>
              <a:t>序</a:t>
            </a:r>
            <a:r>
              <a:rPr dirty="0" sz="1200" b="0">
                <a:latin typeface="Microsoft YaHei Light"/>
                <a:cs typeface="Microsoft YaHei Light"/>
              </a:rPr>
              <a:t>	问</a:t>
            </a:r>
            <a:r>
              <a:rPr dirty="0" sz="1200" spc="-50" b="0">
                <a:latin typeface="Microsoft YaHei Light"/>
                <a:cs typeface="Microsoft YaHei Light"/>
              </a:rPr>
              <a:t>题</a:t>
            </a:r>
            <a:r>
              <a:rPr dirty="0" sz="1200" spc="-50" b="0">
                <a:latin typeface="Microsoft YaHei Light"/>
                <a:cs typeface="Microsoft YaHei Light"/>
              </a:rPr>
              <a:t>号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8300" y="832682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本组暂定方案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73100" y="781842"/>
            <a:ext cx="1778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-50" b="0">
                <a:latin typeface="Microsoft YaHei Light"/>
                <a:cs typeface="Microsoft YaHei Light"/>
              </a:rPr>
              <a:t>状</a:t>
            </a:r>
            <a:r>
              <a:rPr dirty="0" sz="1200" spc="-50" b="0">
                <a:latin typeface="Microsoft YaHei Light"/>
                <a:cs typeface="Microsoft YaHei Light"/>
              </a:rPr>
              <a:t>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5082874"/>
            <a:ext cx="2844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5" b="0">
                <a:solidFill>
                  <a:srgbClr val="1E40AF"/>
                </a:solidFill>
                <a:latin typeface="Microsoft YaHei Light"/>
                <a:cs typeface="Microsoft YaHei Light"/>
              </a:rPr>
              <a:t>13.7.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380" b="0">
                <a:solidFill>
                  <a:srgbClr val="1E40AF"/>
                </a:solidFill>
                <a:latin typeface="Microsoft YaHei Light"/>
                <a:cs typeface="Microsoft YaHei Light"/>
              </a:rPr>
              <a:t>III.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 全栈工程化与极致 </a:t>
            </a:r>
            <a:r>
              <a:rPr dirty="0" sz="1500" spc="-25" b="0">
                <a:solidFill>
                  <a:srgbClr val="1E40AF"/>
                </a:solidFill>
                <a:latin typeface="Microsoft YaHei Light"/>
                <a:cs typeface="Microsoft YaHei Light"/>
              </a:rPr>
              <a:t>UI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8412" y="5529787"/>
          <a:ext cx="5763260" cy="415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25"/>
                <a:gridCol w="2490470"/>
                <a:gridCol w="2555875"/>
                <a:gridCol w="390525"/>
              </a:tblGrid>
              <a:tr h="668655">
                <a:tc>
                  <a:txBody>
                    <a:bodyPr/>
                    <a:lstStyle/>
                    <a:p>
                      <a:pPr marL="86995" marR="79375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序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509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本组暂定方案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115570">
                        <a:lnSpc>
                          <a:spcPct val="127800"/>
                        </a:lnSpc>
                        <a:spcBef>
                          <a:spcPts val="1025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3017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旁观/数据端：是否新增标准消息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5095" marR="263525" indent="-76200">
                        <a:lnSpc>
                          <a:spcPct val="1278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如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STATS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SPECTATOR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广播胜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率、暗子池概率？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 marR="18288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v2.1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扩展；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观战可仅收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+ 本地估算；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STATS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49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字段格式待老师确认后写入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§4</a:t>
                      </a: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14300" marR="11557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25095" marR="2235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Bento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 数据看板：胜率曲线、暗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子雷达图由谁计算？服务器统一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还是观战 </a:t>
                      </a:r>
                      <a:r>
                        <a:rPr dirty="0" sz="1200" spc="-254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自算？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2590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加分演示：观战端本地基于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+ 公开评估公式；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避免增加 server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负担。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30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095" marR="14732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254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 旁观端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（Vite/React</a:t>
                      </a:r>
                      <a:r>
                        <a:rPr dirty="0" sz="1200" spc="229" b="0">
                          <a:latin typeface="Microsoft YaHei Light"/>
                          <a:cs typeface="Microsoft YaHei Light"/>
                        </a:rPr>
                        <a:t> 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与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Console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客户端是否均需遵守同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一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协议互操作？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2590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75" b="0">
                          <a:latin typeface="Microsoft YaHei Light"/>
                          <a:cs typeface="Microsoft YaHei Light"/>
                        </a:rPr>
                        <a:t>是；</a:t>
                      </a:r>
                      <a:r>
                        <a:rPr dirty="0" sz="1200" spc="-145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通过网关或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Java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后端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代理 </a:t>
                      </a:r>
                      <a:r>
                        <a:rPr dirty="0" sz="1200" spc="-110" b="0">
                          <a:latin typeface="Microsoft YaHei Light"/>
                          <a:cs typeface="Microsoft YaHei Light"/>
                        </a:rPr>
                        <a:t>TCP，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不另搞私有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WebSocket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除非另立附录协议。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300" marR="11557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待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125095" marR="147320" indent="-76200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「客户端不必过分美化」：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Console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与 Bento </a:t>
                      </a:r>
                      <a:r>
                        <a:rPr dirty="0" sz="1200" spc="-254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是否并存？评分是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否只看功能正确？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54940" marR="259079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Console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 满足必做；</a:t>
                      </a:r>
                      <a:r>
                        <a:rPr dirty="0" sz="1200" spc="-145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看板为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加分展示，不替代走子客户端。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just" marL="114300" marR="115570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329927"/>
          <a:ext cx="5876290" cy="928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2288540"/>
                <a:gridCol w="2811145"/>
                <a:gridCol w="410845"/>
              </a:tblGrid>
              <a:tr h="928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Q44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docker-compose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是否包含可选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54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监控服务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如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:3000</a:t>
                      </a:r>
                      <a:r>
                        <a:rPr dirty="0" sz="1050" spc="-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旁观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与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Redis？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8625" marR="12509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本组 </a:t>
                      </a: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compose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三服务：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server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、 </a:t>
                      </a:r>
                      <a:r>
                        <a:rPr dirty="0" sz="1050" spc="55">
                          <a:latin typeface="Consolas"/>
                          <a:cs typeface="Consolas"/>
                        </a:rPr>
                        <a:t>redis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（profile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 可选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、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spectator-</a:t>
                      </a:r>
                      <a:r>
                        <a:rPr dirty="0" sz="1050" spc="65">
                          <a:latin typeface="Consolas"/>
                          <a:cs typeface="Consolas"/>
                        </a:rPr>
                        <a:t>web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（profile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 可选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。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32715" marR="116839">
                        <a:lnSpc>
                          <a:spcPts val="1839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组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973100" y="781842"/>
            <a:ext cx="69596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  <a:tabLst>
                <a:tab pos="377825" algn="l"/>
              </a:tabLst>
            </a:pPr>
            <a:r>
              <a:rPr dirty="0" sz="1200" spc="-50" b="0">
                <a:latin typeface="Microsoft YaHei Light"/>
                <a:cs typeface="Microsoft YaHei Light"/>
              </a:rPr>
              <a:t>序</a:t>
            </a:r>
            <a:r>
              <a:rPr dirty="0" sz="1200" b="0">
                <a:latin typeface="Microsoft YaHei Light"/>
                <a:cs typeface="Microsoft YaHei Light"/>
              </a:rPr>
              <a:t>	问</a:t>
            </a:r>
            <a:r>
              <a:rPr dirty="0" sz="1200" spc="-50" b="0">
                <a:latin typeface="Microsoft YaHei Light"/>
                <a:cs typeface="Microsoft YaHei Light"/>
              </a:rPr>
              <a:t>题</a:t>
            </a:r>
            <a:r>
              <a:rPr dirty="0" sz="1200" spc="-50" b="0">
                <a:latin typeface="Microsoft YaHei Light"/>
                <a:cs typeface="Microsoft YaHei Light"/>
              </a:rPr>
              <a:t>号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8300" y="832682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本组暂定方案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73100" y="781842"/>
            <a:ext cx="1778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-50" b="0">
                <a:latin typeface="Microsoft YaHei Light"/>
                <a:cs typeface="Microsoft YaHei Light"/>
              </a:rPr>
              <a:t>状</a:t>
            </a:r>
            <a:r>
              <a:rPr dirty="0" sz="1200" spc="-50" b="0">
                <a:latin typeface="Microsoft YaHei Light"/>
                <a:cs typeface="Microsoft YaHei Light"/>
              </a:rPr>
              <a:t>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2436940"/>
            <a:ext cx="5740400" cy="1163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b="0">
                <a:latin typeface="Microsoft YaHei Light"/>
                <a:cs typeface="Microsoft YaHei Light"/>
              </a:rPr>
              <a:t>[Q45],</a:t>
            </a:r>
            <a:r>
              <a:rPr dirty="0" sz="1200" spc="229" b="0">
                <a:latin typeface="Microsoft YaHei Light"/>
                <a:cs typeface="Microsoft YaHei Light"/>
              </a:rPr>
              <a:t> [ </a:t>
            </a:r>
            <a:r>
              <a:rPr dirty="0" sz="1200" spc="-310" b="0">
                <a:latin typeface="Microsoft YaHei Light"/>
                <a:cs typeface="Microsoft YaHei Light"/>
              </a:rPr>
              <a:t>WS</a:t>
            </a:r>
            <a:r>
              <a:rPr dirty="0" sz="1200" spc="155" b="0">
                <a:latin typeface="Microsoft YaHei Light"/>
                <a:cs typeface="Microsoft YaHei Light"/>
              </a:rPr>
              <a:t> 与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20" b="0">
                <a:latin typeface="Microsoft YaHei Light"/>
                <a:cs typeface="Microsoft YaHei Light"/>
              </a:rPr>
              <a:t> 双协议并存期间，组间联调优先级如何确定？ ], [ 本组方案：</a:t>
            </a:r>
            <a:r>
              <a:rPr dirty="0" sz="1200" spc="40" b="0">
                <a:latin typeface="Microsoft YaHei Light"/>
                <a:cs typeface="Microsoft YaHei Light"/>
              </a:rPr>
              <a:t>默认 </a:t>
            </a:r>
            <a:r>
              <a:rPr dirty="0" sz="1200" spc="-310" b="0">
                <a:latin typeface="Microsoft YaHei Light"/>
                <a:cs typeface="Microsoft YaHei Light"/>
              </a:rPr>
              <a:t>WS</a:t>
            </a:r>
            <a:r>
              <a:rPr dirty="0" sz="1200" spc="220" b="0">
                <a:latin typeface="Microsoft YaHei Light"/>
                <a:cs typeface="Microsoft YaHei Light"/>
              </a:rPr>
              <a:t> </a:t>
            </a:r>
            <a:r>
              <a:rPr dirty="0" sz="1200" spc="-20" b="0">
                <a:latin typeface="Microsoft YaHei Light"/>
                <a:cs typeface="Microsoft YaHei Light"/>
              </a:rPr>
              <a:t>8887</a:t>
            </a:r>
            <a:r>
              <a:rPr dirty="0" sz="1200" spc="25" b="0">
                <a:latin typeface="Microsoft YaHei Light"/>
                <a:cs typeface="Microsoft YaHei Light"/>
              </a:rPr>
              <a:t> 联调；</a:t>
            </a:r>
            <a:r>
              <a:rPr dirty="0" sz="1200" spc="-55" b="0">
                <a:latin typeface="Microsoft YaHei Light"/>
                <a:cs typeface="Microsoft YaHei Light"/>
              </a:rPr>
              <a:t>TCP</a:t>
            </a:r>
            <a:r>
              <a:rPr dirty="0" sz="1200" spc="175" b="0">
                <a:latin typeface="Microsoft YaHei Light"/>
                <a:cs typeface="Microsoft YaHei Light"/>
              </a:rPr>
              <a:t> </a:t>
            </a:r>
            <a:r>
              <a:rPr dirty="0" sz="1200" spc="-30" b="0">
                <a:latin typeface="Microsoft YaHei Light"/>
                <a:cs typeface="Microsoft YaHei Light"/>
              </a:rPr>
              <a:t>8888</a:t>
            </a:r>
            <a:r>
              <a:rPr dirty="0" sz="1200" spc="5" b="0">
                <a:latin typeface="Microsoft YaHei Light"/>
                <a:cs typeface="Microsoft YaHei Light"/>
              </a:rPr>
              <a:t> 作为备用/调试通道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60" b="0">
                <a:latin typeface="Microsoft YaHei Light"/>
                <a:cs typeface="Microsoft YaHei Light"/>
              </a:rPr>
              <a:t>附录 </a:t>
            </a:r>
            <a:r>
              <a:rPr dirty="0" sz="1200" spc="-55" b="0">
                <a:latin typeface="Microsoft YaHei Light"/>
                <a:cs typeface="Microsoft YaHei Light"/>
              </a:rPr>
              <a:t>B</a:t>
            </a:r>
            <a:r>
              <a:rPr dirty="0" sz="1200" spc="-655" b="0">
                <a:latin typeface="Microsoft YaHei Light"/>
                <a:cs typeface="Microsoft YaHei Light"/>
              </a:rPr>
              <a:t>）</a:t>
            </a:r>
            <a:r>
              <a:rPr dirty="0" sz="1200" spc="180" b="0">
                <a:latin typeface="Microsoft YaHei Light"/>
                <a:cs typeface="Microsoft YaHei Light"/>
              </a:rPr>
              <a:t>。 ], [</a:t>
            </a:r>
            <a:r>
              <a:rPr dirty="0" sz="1200" spc="120" b="0">
                <a:latin typeface="Microsoft YaHei Light"/>
                <a:cs typeface="Microsoft YaHei Light"/>
              </a:rPr>
              <a:t>本</a:t>
            </a:r>
            <a:r>
              <a:rPr dirty="0" sz="1200" spc="120" b="0">
                <a:latin typeface="Microsoft YaHei Light"/>
                <a:cs typeface="Microsoft YaHei Light"/>
              </a:rPr>
              <a:t>组</a:t>
            </a:r>
            <a:r>
              <a:rPr dirty="0" sz="1200" spc="120" b="0">
                <a:latin typeface="Microsoft YaHei Light"/>
                <a:cs typeface="Microsoft YaHei Light"/>
              </a:rPr>
              <a:t>方</a:t>
            </a:r>
            <a:r>
              <a:rPr dirty="0" sz="1200" spc="120" b="0">
                <a:latin typeface="Microsoft YaHei Light"/>
                <a:cs typeface="Microsoft YaHei Light"/>
              </a:rPr>
              <a:t>案</a:t>
            </a:r>
            <a:r>
              <a:rPr dirty="0" sz="1200" spc="-25" b="0">
                <a:latin typeface="Microsoft YaHei Light"/>
                <a:cs typeface="Microsoft YaHei Light"/>
              </a:rPr>
              <a:t>],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10" b="0">
                <a:latin typeface="Microsoft YaHei Light"/>
                <a:cs typeface="Microsoft YaHei Light"/>
              </a:rPr>
              <a:t>提交建议：请老师对 </a:t>
            </a:r>
            <a:r>
              <a:rPr dirty="0" sz="1200" spc="-10" b="0">
                <a:latin typeface="Microsoft YaHei Light"/>
                <a:cs typeface="Microsoft YaHei Light"/>
              </a:rPr>
              <a:t>Q1–Q45</a:t>
            </a:r>
            <a:r>
              <a:rPr dirty="0" sz="1200" spc="-5" b="0">
                <a:latin typeface="Microsoft YaHei Light"/>
                <a:cs typeface="Microsoft YaHei Light"/>
              </a:rPr>
              <a:t> 逐条确认或修正；</a:t>
            </a:r>
            <a:r>
              <a:rPr dirty="0" sz="1200" spc="-50" b="0">
                <a:latin typeface="Microsoft YaHei Light"/>
                <a:cs typeface="Microsoft YaHei Light"/>
              </a:rPr>
              <a:t>Q25–Q44</a:t>
            </a:r>
            <a:r>
              <a:rPr dirty="0" sz="1200" spc="-5" b="0">
                <a:latin typeface="Microsoft YaHei Light"/>
                <a:cs typeface="Microsoft YaHei Light"/>
              </a:rPr>
              <a:t> 可整体标注为「加分扩</a:t>
            </a:r>
            <a:endParaRPr sz="1200">
              <a:latin typeface="Microsoft YaHei Light"/>
              <a:cs typeface="Microsoft YaHei Light"/>
            </a:endParaRPr>
          </a:p>
          <a:p>
            <a:pPr marL="12700" marR="615315">
              <a:lnSpc>
                <a:spcPct val="127800"/>
              </a:lnSpc>
            </a:pPr>
            <a:r>
              <a:rPr dirty="0" sz="1200" spc="150" b="0">
                <a:latin typeface="Microsoft YaHei Light"/>
                <a:cs typeface="Microsoft YaHei Light"/>
              </a:rPr>
              <a:t>展 / </a:t>
            </a:r>
            <a:r>
              <a:rPr dirty="0" sz="1200" spc="95" b="0">
                <a:latin typeface="Microsoft YaHei Light"/>
                <a:cs typeface="Microsoft YaHei Light"/>
              </a:rPr>
              <a:t>v3.1</a:t>
            </a:r>
            <a:r>
              <a:rPr dirty="0" sz="1200" spc="-50" b="0">
                <a:latin typeface="Microsoft YaHei Light"/>
                <a:cs typeface="Microsoft YaHei Light"/>
              </a:rPr>
              <a:t> 草案」。确认后本组更新协议版本并通知他组。必做互操作以课程</a:t>
            </a:r>
            <a:r>
              <a:rPr dirty="0" sz="1200" spc="-50" b="0">
                <a:latin typeface="Microsoft YaHei Light"/>
                <a:cs typeface="Microsoft YaHei Light"/>
              </a:rPr>
              <a:t> </a:t>
            </a:r>
            <a:r>
              <a:rPr dirty="0" sz="1200" spc="-65" b="0">
                <a:latin typeface="Microsoft YaHei Light"/>
                <a:cs typeface="Microsoft YaHei Light"/>
              </a:rPr>
              <a:t>WebSocket</a:t>
            </a:r>
            <a:r>
              <a:rPr dirty="0" sz="1200" spc="100" b="0">
                <a:latin typeface="Microsoft YaHei Light"/>
                <a:cs typeface="Microsoft YaHei Light"/>
              </a:rPr>
              <a:t> 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35" b="0">
                <a:latin typeface="Microsoft YaHei Light"/>
                <a:cs typeface="Microsoft YaHei Light"/>
              </a:rPr>
              <a:t> 正文 + </a:t>
            </a:r>
            <a:r>
              <a:rPr dirty="0" sz="1200" spc="-10" b="0">
                <a:latin typeface="Microsoft YaHei Light"/>
                <a:cs typeface="Microsoft YaHei Light"/>
              </a:rPr>
              <a:t>Q1–Q24</a:t>
            </a:r>
            <a:r>
              <a:rPr dirty="0" sz="1200" spc="-5" b="0">
                <a:latin typeface="Microsoft YaHei Light"/>
                <a:cs typeface="Microsoft YaHei Light"/>
              </a:rPr>
              <a:t> 规则扩展为准。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74600" y="3984000"/>
            <a:ext cx="5785485" cy="427990"/>
            <a:chOff x="874600" y="3984000"/>
            <a:chExt cx="5785485" cy="427990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3984000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74600" y="3984000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14300" y="4017932"/>
            <a:ext cx="2006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95" b="0">
                <a:solidFill>
                  <a:srgbClr val="1E3A8A"/>
                </a:solidFill>
                <a:latin typeface="Microsoft YaHei Light"/>
                <a:cs typeface="Microsoft YaHei Light"/>
              </a:rPr>
              <a:t>14.</a:t>
            </a:r>
            <a:r>
              <a:rPr dirty="0" sz="2000" spc="-10" b="0">
                <a:solidFill>
                  <a:srgbClr val="1E3A8A"/>
                </a:solidFill>
                <a:latin typeface="Microsoft YaHei Light"/>
                <a:cs typeface="Microsoft YaHei Light"/>
              </a:rPr>
              <a:t> 实现状态标注</a:t>
            </a:r>
            <a:endParaRPr sz="2000">
              <a:latin typeface="Microsoft YaHei Light"/>
              <a:cs typeface="Microsoft YaHei Ligh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29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87300" y="4513232"/>
            <a:ext cx="5664200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b="0">
                <a:latin typeface="Microsoft YaHei Light"/>
                <a:cs typeface="Microsoft YaHei Light"/>
              </a:rPr>
              <a:t>本章按本组实际代码与测试覆盖，采用以下状态标注：</a:t>
            </a:r>
            <a:r>
              <a:rPr dirty="0" sz="1200" b="0">
                <a:solidFill>
                  <a:srgbClr val="15803D"/>
                </a:solidFill>
                <a:latin typeface="Microsoft YaHei Light"/>
                <a:cs typeface="Microsoft YaHei Light"/>
              </a:rPr>
              <a:t>已实现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-10" b="0">
                <a:latin typeface="Microsoft YaHei Light"/>
                <a:cs typeface="Microsoft YaHei Light"/>
              </a:rPr>
              <a:t>代码完整且测试通</a:t>
            </a:r>
            <a:r>
              <a:rPr dirty="0" sz="1200" spc="-50" b="0">
                <a:latin typeface="Microsoft YaHei Light"/>
                <a:cs typeface="Microsoft YaHei Light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过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b="0">
                <a:latin typeface="Microsoft YaHei Light"/>
                <a:cs typeface="Microsoft YaHei Light"/>
              </a:rPr>
              <a:t>；</a:t>
            </a:r>
            <a:r>
              <a:rPr dirty="0" sz="1200" b="0">
                <a:solidFill>
                  <a:srgbClr val="C2410C"/>
                </a:solidFill>
                <a:latin typeface="Microsoft YaHei Light"/>
                <a:cs typeface="Microsoft YaHei Light"/>
              </a:rPr>
              <a:t>部分实现</a:t>
            </a:r>
            <a:r>
              <a:rPr dirty="0" sz="1200" b="0">
                <a:latin typeface="Microsoft YaHei Light"/>
                <a:cs typeface="Microsoft YaHei Light"/>
              </a:rPr>
              <a:t>（已实现，但与规范存在差异或测试未全覆盖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b="0">
                <a:latin typeface="Microsoft YaHei Light"/>
                <a:cs typeface="Microsoft YaHei Light"/>
              </a:rPr>
              <a:t>；</a:t>
            </a:r>
            <a:r>
              <a:rPr dirty="0" sz="1200" b="0">
                <a:solidFill>
                  <a:srgbClr val="B91C1C"/>
                </a:solidFill>
                <a:latin typeface="Microsoft YaHei Light"/>
                <a:cs typeface="Microsoft YaHei Light"/>
              </a:rPr>
              <a:t>未实现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-10" b="0">
                <a:latin typeface="Microsoft YaHei Light"/>
                <a:cs typeface="Microsoft YaHei Light"/>
              </a:rPr>
              <a:t>尚未开发或</a:t>
            </a:r>
            <a:r>
              <a:rPr dirty="0" sz="1200" b="0">
                <a:latin typeface="Microsoft YaHei Light"/>
                <a:cs typeface="Microsoft YaHei Light"/>
              </a:rPr>
              <a:t>仅作规划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00" b="0">
                <a:solidFill>
                  <a:srgbClr val="1E40AF"/>
                </a:solidFill>
                <a:latin typeface="Microsoft YaHei Light"/>
                <a:cs typeface="Microsoft YaHei Light"/>
              </a:rPr>
              <a:t>14.1.</a:t>
            </a:r>
            <a:r>
              <a:rPr dirty="0" sz="1500" spc="-4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80" b="0">
                <a:solidFill>
                  <a:srgbClr val="1E40AF"/>
                </a:solidFill>
                <a:latin typeface="Microsoft YaHei Light"/>
                <a:cs typeface="Microsoft YaHei Light"/>
              </a:rPr>
              <a:t>WebSocket</a:t>
            </a:r>
            <a:r>
              <a:rPr dirty="0" sz="1500" spc="40" b="0">
                <a:solidFill>
                  <a:srgbClr val="1E40AF"/>
                </a:solidFill>
                <a:latin typeface="Microsoft YaHei Light"/>
                <a:cs typeface="Microsoft YaHei Light"/>
              </a:rPr>
              <a:t> 消息类型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（</a:t>
            </a:r>
            <a:r>
              <a:rPr dirty="0" sz="1500" spc="110" b="0">
                <a:solidFill>
                  <a:srgbClr val="1E40AF"/>
                </a:solidFill>
                <a:latin typeface="Microsoft YaHei Light"/>
                <a:cs typeface="Microsoft YaHei Light"/>
              </a:rPr>
              <a:t>第 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6</a:t>
            </a:r>
            <a:r>
              <a:rPr dirty="0" sz="1500" spc="110" b="0">
                <a:solidFill>
                  <a:srgbClr val="1E40AF"/>
                </a:solidFill>
                <a:latin typeface="Microsoft YaHei Light"/>
                <a:cs typeface="Microsoft YaHei Light"/>
              </a:rPr>
              <a:t> 章</a:t>
            </a:r>
            <a:r>
              <a:rPr dirty="0" sz="1500" spc="-50" b="0">
                <a:solidFill>
                  <a:srgbClr val="1E40AF"/>
                </a:solidFill>
                <a:latin typeface="Microsoft YaHei Light"/>
                <a:cs typeface="Microsoft YaHei Light"/>
              </a:rPr>
              <a:t>）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896825" y="5826581"/>
          <a:ext cx="5766435" cy="3968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50"/>
                <a:gridCol w="917575"/>
                <a:gridCol w="2289175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dirty="0" sz="1200" spc="-6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 / 特性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3017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Login</a:t>
                      </a:r>
                      <a:r>
                        <a:rPr dirty="0" sz="1200" spc="2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register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WsGameServerIntegrationTest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startMatch</a:t>
                      </a:r>
                      <a:r>
                        <a:rPr dirty="0" sz="1200" spc="35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35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cancelMatch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含对手 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error</a:t>
                      </a:r>
                      <a:r>
                        <a:rPr dirty="0" sz="1200" spc="19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3002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通知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requestFirstHand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10s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窗口 + 换色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Ready</a:t>
                      </a:r>
                      <a:r>
                        <a:rPr dirty="0" sz="1200" spc="1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1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roomInfo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35" b="0">
                          <a:latin typeface="Microsoft YaHei Light"/>
                          <a:cs typeface="Microsoft YaHei Light"/>
                        </a:rPr>
                        <a:t>move（</a:t>
                      </a:r>
                      <a:r>
                        <a:rPr dirty="0" sz="1200" spc="135" b="0">
                          <a:latin typeface="Microsoft YaHei Light"/>
                          <a:cs typeface="Microsoft YaHei Light"/>
                        </a:rPr>
                        <a:t>含 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isFlip）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JsonMessages.parseMove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修复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534035">
                <a:tc>
                  <a:txBody>
                    <a:bodyPr/>
                    <a:lstStyle/>
                    <a:p>
                      <a:pPr marL="130175" marR="287655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loginResult</a:t>
                      </a:r>
                      <a:r>
                        <a:rPr dirty="0" sz="1200" spc="21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1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matchSuccess</a:t>
                      </a:r>
                      <a:r>
                        <a:rPr dirty="0" sz="1200" spc="21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/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gameStart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含 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initialBoard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moveResult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flipResult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服务器权威翻子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timeout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gameOver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65s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阈值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ping</a:t>
                      </a:r>
                      <a:r>
                        <a:rPr dirty="0" sz="1200" spc="2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29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pong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Resign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error</a:t>
                      </a:r>
                      <a:r>
                        <a:rPr dirty="0" sz="1200" spc="254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1001–4001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12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场景集成测试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22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6650"/>
                <a:gridCol w="1108075"/>
                <a:gridCol w="2251075"/>
              </a:tblGrid>
              <a:tr h="226695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未知 </a:t>
                      </a:r>
                      <a:r>
                        <a:rPr dirty="0" sz="1200" spc="-6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静默忽略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solidFill>
                            <a:srgbClr val="C2410C"/>
                          </a:solidFill>
                          <a:latin typeface="Microsoft YaHei Light"/>
                          <a:cs typeface="Microsoft YaHei Light"/>
                        </a:rPr>
                        <a:t>部分实现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本组返回 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error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4001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1397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 b="0">
                <a:latin typeface="Microsoft YaHei Light"/>
                <a:cs typeface="Microsoft YaHei Light"/>
              </a:rPr>
              <a:t>messageType</a:t>
            </a:r>
            <a:r>
              <a:rPr dirty="0" sz="1200" spc="70" b="0">
                <a:latin typeface="Microsoft YaHei Light"/>
                <a:cs typeface="Microsoft YaHei Light"/>
              </a:rPr>
              <a:t> / 特性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15138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26338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说明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1589819"/>
            <a:ext cx="2082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14.2.</a:t>
            </a:r>
            <a:r>
              <a:rPr dirty="0" sz="1500" spc="-10" b="0">
                <a:solidFill>
                  <a:srgbClr val="1E40AF"/>
                </a:solidFill>
                <a:latin typeface="Microsoft YaHei Light"/>
                <a:cs typeface="Microsoft YaHei Light"/>
              </a:rPr>
              <a:t> 揭棋规则与领域层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2036732"/>
          <a:ext cx="5766435" cy="3059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0775"/>
                <a:gridCol w="863600"/>
                <a:gridCol w="2512060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规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则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模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块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RandomRevealService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翻子随机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RuleValidator</a:t>
                      </a:r>
                      <a:r>
                        <a:rPr dirty="0" sz="1200" spc="170" b="0">
                          <a:latin typeface="Microsoft YaHei Light"/>
                          <a:cs typeface="Microsoft YaHei Light"/>
                        </a:rPr>
                        <a:t>  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法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类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95" b="0">
                          <a:latin typeface="Microsoft YaHei Light"/>
                          <a:cs typeface="Microsoft YaHei Light"/>
                        </a:rPr>
                        <a:t>EndgameJudge</a:t>
                      </a:r>
                      <a:r>
                        <a:rPr dirty="0" sz="1200" spc="165" b="0">
                          <a:latin typeface="Microsoft YaHei Light"/>
                          <a:cs typeface="Microsoft YaHei Light"/>
                        </a:rPr>
                        <a:t> 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死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毙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和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/40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回合和棋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4102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暗子被吃信息差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solidFill>
                            <a:srgbClr val="C2410C"/>
                          </a:solidFill>
                          <a:latin typeface="Microsoft YaHei Light"/>
                          <a:cs typeface="Microsoft YaHei Light"/>
                        </a:rPr>
                        <a:t>部分实现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 marR="92900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见 </a:t>
                      </a:r>
                      <a:r>
                        <a:rPr dirty="0" sz="1200" spc="-95" b="0">
                          <a:latin typeface="Microsoft YaHei Light"/>
                          <a:cs typeface="Microsoft YaHei Light"/>
                        </a:rPr>
                        <a:t>Q1；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双方广播相同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flipResult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不应将（允许送将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见 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§9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棋谱 .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jieqi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存储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GameRecordStore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242570">
                <a:tc>
                  <a:txBody>
                    <a:bodyPr/>
                    <a:lstStyle/>
                    <a:p>
                      <a:pPr marL="130175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多盘并发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Map&lt;String,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Game&gt;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5351116"/>
            <a:ext cx="2273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14.3.</a:t>
            </a:r>
            <a:r>
              <a:rPr dirty="0" sz="1500" spc="-4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85" b="0">
                <a:solidFill>
                  <a:srgbClr val="1E40AF"/>
                </a:solidFill>
                <a:latin typeface="Microsoft YaHei Light"/>
                <a:cs typeface="Microsoft YaHei Light"/>
              </a:rPr>
              <a:t>TCP</a:t>
            </a:r>
            <a:r>
              <a:rPr dirty="0" sz="1500" spc="70" b="0">
                <a:solidFill>
                  <a:srgbClr val="1E40AF"/>
                </a:solidFill>
                <a:latin typeface="Microsoft YaHei Light"/>
                <a:cs typeface="Microsoft YaHei Light"/>
              </a:rPr>
              <a:t> 扩展</a:t>
            </a: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（</a:t>
            </a:r>
            <a:r>
              <a:rPr dirty="0" sz="1500" spc="70" b="0">
                <a:solidFill>
                  <a:srgbClr val="1E40AF"/>
                </a:solidFill>
                <a:latin typeface="Microsoft YaHei Light"/>
                <a:cs typeface="Microsoft YaHei Light"/>
              </a:rPr>
              <a:t>附录 </a:t>
            </a:r>
            <a:r>
              <a:rPr dirty="0" sz="1500" spc="-25" b="0">
                <a:solidFill>
                  <a:srgbClr val="1E40AF"/>
                </a:solidFill>
                <a:latin typeface="Microsoft YaHei Light"/>
                <a:cs typeface="Microsoft YaHei Light"/>
              </a:rPr>
              <a:t>B）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00000" y="5801204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96825" y="6004031"/>
          <a:ext cx="4044950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375"/>
                <a:gridCol w="711200"/>
                <a:gridCol w="1476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特性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70" b="0">
                          <a:latin typeface="Microsoft YaHei Light"/>
                          <a:cs typeface="Microsoft YaHei Light"/>
                        </a:rPr>
                        <a:t>MSG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210" b="0">
                          <a:latin typeface="Microsoft YaHei Light"/>
                          <a:cs typeface="Microsoft YaHei Light"/>
                        </a:rPr>
                        <a:t>1–7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核心消息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端口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8888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70" b="0">
                          <a:latin typeface="Microsoft YaHei Light"/>
                          <a:cs typeface="Microsoft YaHei Light"/>
                        </a:rPr>
                        <a:t>MSG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8–10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扩展消息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85" b="0">
                          <a:latin typeface="Microsoft YaHei Light"/>
                          <a:cs typeface="Microsoft YaHei Light"/>
                        </a:rPr>
                        <a:t>DRAW/RESIGN/CHAT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spc="19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Cell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FrameDecoder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帧解析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887300" y="7649175"/>
            <a:ext cx="17970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0" b="0">
                <a:solidFill>
                  <a:srgbClr val="1E40AF"/>
                </a:solidFill>
                <a:latin typeface="Microsoft YaHei Light"/>
                <a:cs typeface="Microsoft YaHei Light"/>
              </a:rPr>
              <a:t>14.4.</a:t>
            </a:r>
            <a:r>
              <a:rPr dirty="0" sz="1500" spc="60" b="0">
                <a:solidFill>
                  <a:srgbClr val="1E40AF"/>
                </a:solidFill>
                <a:latin typeface="Microsoft YaHei Light"/>
                <a:cs typeface="Microsoft YaHei Light"/>
              </a:rPr>
              <a:t> 工程与 </a:t>
            </a:r>
            <a:r>
              <a:rPr dirty="0" sz="1500" spc="-150" b="0">
                <a:solidFill>
                  <a:srgbClr val="1E40AF"/>
                </a:solidFill>
                <a:latin typeface="Microsoft YaHei Light"/>
                <a:cs typeface="Microsoft YaHei Light"/>
              </a:rPr>
              <a:t>DevOps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00000" y="8099263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896825" y="8302090"/>
          <a:ext cx="5681345" cy="1380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4175"/>
                <a:gridCol w="711200"/>
                <a:gridCol w="204533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特性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WsGameServerIntegrationTest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12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场景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jieqi-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server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WsAIGameClient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自动对弈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jieqi-app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菜单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/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ai-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ws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30035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Docker</a:t>
                      </a:r>
                      <a:r>
                        <a:rPr dirty="0" sz="1200" spc="85" b="0">
                          <a:latin typeface="Microsoft YaHei Light"/>
                          <a:cs typeface="Microsoft YaHei Light"/>
                        </a:rPr>
                        <a:t> 默认 </a:t>
                      </a:r>
                      <a:r>
                        <a:rPr dirty="0" sz="1200" spc="-310" b="0">
                          <a:latin typeface="Microsoft YaHei Light"/>
                          <a:cs typeface="Microsoft YaHei Light"/>
                        </a:rPr>
                        <a:t>WS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8887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docker-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compose.yml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Bento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54" b="0">
                          <a:latin typeface="Microsoft YaHei Light"/>
                          <a:cs typeface="Microsoft YaHei Light"/>
                        </a:rPr>
                        <a:t>Web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旁观端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B91C1C"/>
                          </a:solidFill>
                          <a:latin typeface="Microsoft YaHei Light"/>
                          <a:cs typeface="Microsoft YaHei Light"/>
                        </a:rPr>
                        <a:t>未实现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加分扩展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Q40–Q44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681345" cy="22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4075"/>
                <a:gridCol w="1511300"/>
                <a:gridCol w="2045335"/>
              </a:tblGrid>
              <a:tr h="226695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Redis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匹配队列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0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B91C1C"/>
                          </a:solidFill>
                          <a:latin typeface="Microsoft YaHei Light"/>
                          <a:cs typeface="Microsoft YaHei Light"/>
                        </a:rPr>
                        <a:t>未实现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加分扩展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Q29–Q32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特性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115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状态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465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说明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7300" y="1589819"/>
            <a:ext cx="3892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 b="0">
                <a:solidFill>
                  <a:srgbClr val="1E40AF"/>
                </a:solidFill>
                <a:latin typeface="Microsoft YaHei Light"/>
                <a:cs typeface="Microsoft YaHei Light"/>
              </a:rPr>
              <a:t>14.5.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v2.0</a:t>
            </a:r>
            <a:r>
              <a:rPr dirty="0" sz="1500" spc="200" b="0">
                <a:solidFill>
                  <a:srgbClr val="1E40AF"/>
                </a:solidFill>
                <a:latin typeface="Microsoft YaHei Light"/>
                <a:cs typeface="Microsoft YaHei Light"/>
              </a:rPr>
              <a:t> 内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容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保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留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检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查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清</a:t>
            </a:r>
            <a:r>
              <a:rPr dirty="0" sz="1500" spc="90" b="0">
                <a:solidFill>
                  <a:srgbClr val="1E40AF"/>
                </a:solidFill>
                <a:latin typeface="Microsoft YaHei Light"/>
                <a:cs typeface="Microsoft YaHei Light"/>
              </a:rPr>
              <a:t>单</a:t>
            </a:r>
            <a:r>
              <a:rPr dirty="0" sz="1500" spc="50" b="0">
                <a:solidFill>
                  <a:srgbClr val="1E40AF"/>
                </a:solidFill>
                <a:latin typeface="Microsoft YaHei Light"/>
                <a:cs typeface="Microsoft YaHei Light"/>
              </a:rPr>
              <a:t>（§0.2</a:t>
            </a:r>
            <a:r>
              <a:rPr dirty="0" sz="1500" spc="100" b="0">
                <a:solidFill>
                  <a:srgbClr val="1E40AF"/>
                </a:solidFill>
                <a:latin typeface="Microsoft YaHei Light"/>
                <a:cs typeface="Microsoft YaHei Light"/>
              </a:rPr>
              <a:t> 自检</a:t>
            </a:r>
            <a:r>
              <a:rPr dirty="0" sz="1500" spc="-50" b="0">
                <a:solidFill>
                  <a:srgbClr val="1E40AF"/>
                </a:solidFill>
                <a:latin typeface="Microsoft YaHei Light"/>
                <a:cs typeface="Microsoft YaHei Light"/>
              </a:rPr>
              <a:t>）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00000" y="2039907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2242734"/>
          <a:ext cx="4883150" cy="6605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9375"/>
                <a:gridCol w="1549400"/>
                <a:gridCol w="7143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 内容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新文档位置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状态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术语定义表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280" b="0">
                          <a:latin typeface="Microsoft YaHei Light"/>
                          <a:cs typeface="Microsoft YaHei Light"/>
                        </a:rPr>
                        <a:t>§1.1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技术约定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§1.2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 + 附录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B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坐标定义与转换公式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§2.1–2.2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棋子类型编码（含基准价值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25" b="0">
                          <a:latin typeface="Microsoft YaHei Light"/>
                          <a:cs typeface="Microsoft YaHei Light"/>
                        </a:rPr>
                        <a:t>§3.1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颜色编码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35" b="0">
                          <a:latin typeface="Microsoft YaHei Light"/>
                          <a:cs typeface="Microsoft YaHei Light"/>
                        </a:rPr>
                        <a:t>§4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 类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字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段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翻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随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性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§5.1–5.3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 帧格式与解析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95" b="0">
                          <a:latin typeface="Microsoft YaHei Light"/>
                          <a:cs typeface="Microsoft YaHei Light"/>
                        </a:rPr>
                        <a:t>§B.1–B.2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70" b="0">
                          <a:latin typeface="Microsoft YaHei Light"/>
                          <a:cs typeface="Microsoft YaHei Light"/>
                        </a:rPr>
                        <a:t>MSG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80" b="0">
                          <a:latin typeface="Microsoft YaHei Light"/>
                          <a:cs typeface="Microsoft YaHei Light"/>
                        </a:rPr>
                        <a:t>1–10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详细格式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60" b="0">
                          <a:latin typeface="Microsoft YaHei Light"/>
                          <a:cs typeface="Microsoft YaHei Light"/>
                        </a:rPr>
                        <a:t>§B.4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spc="19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Cell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与开局示例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55" b="0">
                          <a:latin typeface="Microsoft YaHei Light"/>
                          <a:cs typeface="Microsoft YaHei Light"/>
                        </a:rPr>
                        <a:t>§B.4.7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ERROR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100–202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75" b="0">
                          <a:latin typeface="Microsoft YaHei Light"/>
                          <a:cs typeface="Microsoft YaHei Light"/>
                        </a:rPr>
                        <a:t>GAME_OVER</a:t>
                      </a:r>
                      <a:r>
                        <a:rPr dirty="0" sz="1200" spc="24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0–9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65" b="0">
                          <a:latin typeface="Microsoft YaHei Light"/>
                          <a:cs typeface="Microsoft YaHei Light"/>
                        </a:rPr>
                        <a:t>§B.5–B.6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五组时序图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70" b="0">
                          <a:latin typeface="Microsoft YaHei Light"/>
                          <a:cs typeface="Microsoft YaHei Light"/>
                        </a:rPr>
                        <a:t>§B.7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虚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类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型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明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化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§8.1–8.2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胜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负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和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棋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超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时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公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95" b="0">
                          <a:latin typeface="Microsoft YaHei Light"/>
                          <a:cs typeface="Microsoft YaHei Light"/>
                        </a:rPr>
                        <a:t>§9.1–9.4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棋谱记录格式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§10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多盘对弈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70" b="0">
                          <a:latin typeface="Microsoft YaHei Light"/>
                          <a:cs typeface="Microsoft YaHei Light"/>
                        </a:rPr>
                        <a:t>§11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组间联调清单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14</a:t>
                      </a:r>
                      <a:r>
                        <a:rPr dirty="0" sz="1200" spc="110" b="0">
                          <a:latin typeface="Microsoft YaHei Light"/>
                          <a:cs typeface="Microsoft YaHei Light"/>
                        </a:rPr>
                        <a:t> 条 + </a:t>
                      </a:r>
                      <a:r>
                        <a:rPr dirty="0" sz="1200" spc="-310" b="0">
                          <a:latin typeface="Microsoft YaHei Light"/>
                          <a:cs typeface="Microsoft YaHei Light"/>
                        </a:rPr>
                        <a:t>WS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扩展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§12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Q1–Q44 开放问题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0" b="0">
                          <a:latin typeface="Microsoft YaHei Light"/>
                          <a:cs typeface="Microsoft YaHei Light"/>
                        </a:rPr>
                        <a:t>§13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A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速查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8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60" b="0">
                          <a:latin typeface="Microsoft YaHei Light"/>
                          <a:cs typeface="Microsoft YaHei Light"/>
                        </a:rPr>
                        <a:t>§B.8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版本历史 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v0.0.0–v2.0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老师 </a:t>
                      </a:r>
                      <a:r>
                        <a:rPr dirty="0" sz="1200" spc="-195" b="0">
                          <a:latin typeface="Microsoft YaHei Light"/>
                          <a:cs typeface="Microsoft YaHei Light"/>
                        </a:rPr>
                        <a:t>WS+JSON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协议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70" b="0">
                          <a:latin typeface="Microsoft YaHei Light"/>
                          <a:cs typeface="Microsoft YaHei Light"/>
                        </a:rPr>
                        <a:t>§6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新增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实现状态标注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§14</a:t>
                      </a: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 新增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solidFill>
                            <a:srgbClr val="15803D"/>
                          </a:solidFill>
                          <a:latin typeface="Microsoft YaHei Light"/>
                          <a:cs typeface="Microsoft YaHei Light"/>
                        </a:rPr>
                        <a:t>已实现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4600" y="792002"/>
            <a:ext cx="5785485" cy="427990"/>
            <a:chOff x="874600" y="792002"/>
            <a:chExt cx="5785485" cy="427990"/>
          </a:xfrm>
        </p:grpSpPr>
        <p:sp>
          <p:nvSpPr>
            <p:cNvPr id="3" name="object 3" descr=""/>
            <p:cNvSpPr/>
            <p:nvPr/>
          </p:nvSpPr>
          <p:spPr>
            <a:xfrm>
              <a:off x="900000" y="792002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90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4600" y="792002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90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14300" y="825935"/>
            <a:ext cx="5562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0" b="0">
                <a:solidFill>
                  <a:srgbClr val="1E3A8A"/>
                </a:solidFill>
                <a:latin typeface="Microsoft YaHei Light"/>
                <a:cs typeface="Microsoft YaHei Light"/>
              </a:rPr>
              <a:t>15.</a:t>
            </a:r>
            <a:r>
              <a:rPr dirty="0" sz="2000" spc="50" b="0">
                <a:solidFill>
                  <a:srgbClr val="1E3A8A"/>
                </a:solidFill>
                <a:latin typeface="Microsoft YaHei Light"/>
                <a:cs typeface="Microsoft YaHei Light"/>
              </a:rPr>
              <a:t> 附录 </a:t>
            </a:r>
            <a:r>
              <a:rPr dirty="0" sz="2000" spc="-355" b="0">
                <a:solidFill>
                  <a:srgbClr val="1E3A8A"/>
                </a:solidFill>
                <a:latin typeface="Microsoft YaHei Light"/>
                <a:cs typeface="Microsoft YaHei Light"/>
              </a:rPr>
              <a:t>A：WS</a:t>
            </a:r>
            <a:r>
              <a:rPr dirty="0" sz="2000" spc="290" b="0">
                <a:solidFill>
                  <a:srgbClr val="1E3A8A"/>
                </a:solidFill>
                <a:latin typeface="Microsoft YaHei Light"/>
                <a:cs typeface="Microsoft YaHei Light"/>
              </a:rPr>
              <a:t> </a:t>
            </a:r>
            <a:r>
              <a:rPr dirty="0" sz="2000" spc="-170" b="0">
                <a:solidFill>
                  <a:srgbClr val="1E3A8A"/>
                </a:solidFill>
                <a:latin typeface="Microsoft YaHei Light"/>
                <a:cs typeface="Microsoft YaHei Light"/>
              </a:rPr>
              <a:t>JSON</a:t>
            </a:r>
            <a:r>
              <a:rPr dirty="0" sz="2000" spc="290" b="0">
                <a:solidFill>
                  <a:srgbClr val="1E3A8A"/>
                </a:solidFill>
                <a:latin typeface="Microsoft YaHei Light"/>
                <a:cs typeface="Microsoft YaHei Light"/>
              </a:rPr>
              <a:t> </a:t>
            </a:r>
            <a:r>
              <a:rPr dirty="0" sz="2000" spc="-100" b="0">
                <a:solidFill>
                  <a:srgbClr val="1E3A8A"/>
                </a:solidFill>
                <a:latin typeface="Microsoft YaHei Light"/>
                <a:cs typeface="Microsoft YaHei Light"/>
              </a:rPr>
              <a:t>messageType</a:t>
            </a:r>
            <a:r>
              <a:rPr dirty="0" sz="2000" spc="25" b="0">
                <a:solidFill>
                  <a:srgbClr val="1E3A8A"/>
                </a:solidFill>
                <a:latin typeface="Microsoft YaHei Light"/>
                <a:cs typeface="Microsoft YaHei Light"/>
              </a:rPr>
              <a:t> 快速参考卡片</a:t>
            </a:r>
            <a:endParaRPr sz="20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6825" y="1507807"/>
          <a:ext cx="4638675" cy="4145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75"/>
                <a:gridCol w="558800"/>
                <a:gridCol w="2908300"/>
              </a:tblGrid>
              <a:tr h="232410">
                <a:tc>
                  <a:txBody>
                    <a:bodyPr/>
                    <a:lstStyle/>
                    <a:p>
                      <a:pPr marL="16827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messageType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关键字段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Login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password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register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userId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password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nickname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03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startMatch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—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Ready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—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1369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move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50">
                          <a:latin typeface="Consolas"/>
                          <a:cs typeface="Consolas"/>
                        </a:rPr>
                        <a:t>fromX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50">
                          <a:latin typeface="Consolas"/>
                          <a:cs typeface="Consolas"/>
                        </a:rPr>
                        <a:t>fromY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75">
                          <a:latin typeface="Consolas"/>
                          <a:cs typeface="Consolas"/>
                        </a:rPr>
                        <a:t>toX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75">
                          <a:latin typeface="Consolas"/>
                          <a:cs typeface="Consolas"/>
                        </a:rPr>
                        <a:t>toY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isFlip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loginResult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success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message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userId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matchSuccess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roomId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opponentId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opponentNickname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gameStart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yourColor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firstHand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initialBoard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moveResult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50">
                          <a:latin typeface="Consolas"/>
                          <a:cs typeface="Consolas"/>
                        </a:rPr>
                        <a:t>valid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60">
                          <a:latin typeface="Consolas"/>
                          <a:cs typeface="Consolas"/>
                        </a:rPr>
                        <a:t>move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flipResult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?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timeout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loserId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winnerId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gameOver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winner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reason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winnerId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error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60">
                          <a:latin typeface="Consolas"/>
                          <a:cs typeface="Consolas"/>
                        </a:rPr>
                        <a:t>code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,</a:t>
                      </a:r>
                      <a:r>
                        <a:rPr dirty="0" sz="1200" spc="2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message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222885">
                <a:tc>
                  <a:txBody>
                    <a:bodyPr/>
                    <a:lstStyle/>
                    <a:p>
                      <a:pPr marL="168275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ping</a:t>
                      </a:r>
                      <a:r>
                        <a:rPr dirty="0" sz="1200" spc="22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29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pong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双向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timestamp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87300" y="5723611"/>
            <a:ext cx="5664200" cy="160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45" b="0">
                <a:latin typeface="Microsoft YaHei Light"/>
                <a:cs typeface="Microsoft YaHei Light"/>
              </a:rPr>
              <a:t>本附录为 </a:t>
            </a:r>
            <a:r>
              <a:rPr dirty="0" sz="1200" b="0">
                <a:latin typeface="Microsoft YaHei Light"/>
                <a:cs typeface="Microsoft YaHei Light"/>
              </a:rPr>
              <a:t>Unveil</a:t>
            </a:r>
            <a:r>
              <a:rPr dirty="0" sz="1200" spc="30" b="0">
                <a:latin typeface="Microsoft YaHei Light"/>
                <a:cs typeface="Microsoft YaHei Light"/>
              </a:rPr>
              <a:t> 历史扩展协议</a:t>
            </a:r>
            <a:r>
              <a:rPr dirty="0" sz="1200" b="0">
                <a:latin typeface="Microsoft YaHei Light"/>
                <a:cs typeface="Microsoft YaHei Light"/>
              </a:rPr>
              <a:t>（v2.0</a:t>
            </a:r>
            <a:r>
              <a:rPr dirty="0" sz="1200" spc="95" b="0">
                <a:latin typeface="Microsoft YaHei Light"/>
                <a:cs typeface="Microsoft YaHei Light"/>
              </a:rPr>
              <a:t> 正文第 </a:t>
            </a:r>
            <a:r>
              <a:rPr dirty="0" sz="1200" b="0">
                <a:latin typeface="Microsoft YaHei Light"/>
                <a:cs typeface="Microsoft YaHei Light"/>
              </a:rPr>
              <a:t>6</a:t>
            </a:r>
            <a:r>
              <a:rPr dirty="0" sz="1200" spc="35" b="0">
                <a:latin typeface="Microsoft YaHei Light"/>
                <a:cs typeface="Microsoft YaHei Light"/>
              </a:rPr>
              <a:t> 章完整迁移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45" b="0">
                <a:latin typeface="Microsoft YaHei Light"/>
                <a:cs typeface="Microsoft YaHei Light"/>
              </a:rPr>
              <a:t>，供需要 </a:t>
            </a:r>
            <a:r>
              <a:rPr dirty="0" sz="1200" spc="-40" b="0">
                <a:latin typeface="Microsoft YaHei Light"/>
                <a:cs typeface="Microsoft YaHei Light"/>
              </a:rPr>
              <a:t>TCP</a:t>
            </a:r>
            <a:r>
              <a:rPr dirty="0" sz="1200" spc="45" b="0">
                <a:latin typeface="Microsoft YaHei Light"/>
                <a:cs typeface="Microsoft YaHei Light"/>
              </a:rPr>
              <a:t> 通信的</a:t>
            </a:r>
            <a:r>
              <a:rPr dirty="0" sz="1200" b="0">
                <a:latin typeface="Microsoft YaHei Light"/>
                <a:cs typeface="Microsoft YaHei Light"/>
              </a:rPr>
              <a:t>组参考或 </a:t>
            </a:r>
            <a:r>
              <a:rPr dirty="0" sz="1200" spc="90" b="0">
                <a:latin typeface="Microsoft YaHei Light"/>
                <a:cs typeface="Microsoft YaHei Light"/>
              </a:rPr>
              <a:t>telnet</a:t>
            </a:r>
            <a:r>
              <a:rPr dirty="0" sz="1200" b="0">
                <a:latin typeface="Microsoft YaHei Light"/>
                <a:cs typeface="Microsoft YaHei Light"/>
              </a:rPr>
              <a:t> 调试使用。组间联调默认使用正文 </a:t>
            </a:r>
            <a:r>
              <a:rPr dirty="0" sz="1200" spc="-60" b="0">
                <a:latin typeface="Microsoft YaHei Light"/>
                <a:cs typeface="Microsoft YaHei Light"/>
              </a:rPr>
              <a:t>WebSocket</a:t>
            </a:r>
            <a:r>
              <a:rPr dirty="0" sz="1200" b="0">
                <a:latin typeface="Microsoft YaHei Light"/>
                <a:cs typeface="Microsoft YaHei Light"/>
              </a:rPr>
              <a:t> + </a:t>
            </a:r>
            <a:r>
              <a:rPr dirty="0" sz="1200" spc="-90" b="0">
                <a:latin typeface="Microsoft YaHei Light"/>
                <a:cs typeface="Microsoft YaHei Light"/>
              </a:rPr>
              <a:t>JSON</a:t>
            </a:r>
            <a:r>
              <a:rPr dirty="0" sz="1200" spc="40" b="0">
                <a:latin typeface="Microsoft YaHei Light"/>
                <a:cs typeface="Microsoft YaHei Light"/>
              </a:rPr>
              <a:t> 协议</a:t>
            </a:r>
            <a:r>
              <a:rPr dirty="0" sz="1200" b="0">
                <a:latin typeface="Microsoft YaHei Light"/>
                <a:cs typeface="Microsoft YaHei Light"/>
              </a:rPr>
              <a:t>（第 </a:t>
            </a:r>
            <a:r>
              <a:rPr dirty="0" sz="1200" spc="-50" b="0">
                <a:latin typeface="Microsoft YaHei Light"/>
                <a:cs typeface="Microsoft YaHei Light"/>
              </a:rPr>
              <a:t>6</a:t>
            </a:r>
            <a:r>
              <a:rPr dirty="0" sz="1200" b="0">
                <a:latin typeface="Microsoft YaHei Light"/>
                <a:cs typeface="Microsoft YaHei Light"/>
              </a:rPr>
              <a:t>章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b="0">
                <a:latin typeface="Microsoft YaHei Light"/>
                <a:cs typeface="Microsoft YaHei Light"/>
              </a:rPr>
              <a:t>Unveil</a:t>
            </a:r>
            <a:r>
              <a:rPr dirty="0" sz="1200" spc="130" b="0">
                <a:latin typeface="Microsoft YaHei Light"/>
                <a:cs typeface="Microsoft YaHei Light"/>
              </a:rPr>
              <a:t> 保留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260" b="0">
                <a:latin typeface="Microsoft YaHei Light"/>
                <a:cs typeface="Microsoft YaHei Light"/>
              </a:rPr>
              <a:t> </a:t>
            </a:r>
            <a:r>
              <a:rPr dirty="0" sz="1050">
                <a:latin typeface="Consolas"/>
                <a:cs typeface="Consolas"/>
              </a:rPr>
              <a:t>msgType|payloadLen|payload\n</a:t>
            </a:r>
            <a:r>
              <a:rPr dirty="0" sz="1050" spc="4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实现（</a:t>
            </a:r>
            <a:r>
              <a:rPr dirty="0" sz="1200" spc="85" b="0">
                <a:latin typeface="Microsoft YaHei Light"/>
                <a:cs typeface="Microsoft YaHei Light"/>
              </a:rPr>
              <a:t>端口 </a:t>
            </a:r>
            <a:r>
              <a:rPr dirty="0" sz="1200" spc="-65" b="0">
                <a:latin typeface="Microsoft YaHei Light"/>
                <a:cs typeface="Microsoft YaHei Light"/>
              </a:rPr>
              <a:t>8888</a:t>
            </a:r>
            <a:r>
              <a:rPr dirty="0" sz="1200" spc="-665" b="0">
                <a:latin typeface="Microsoft YaHei Light"/>
                <a:cs typeface="Microsoft YaHei Light"/>
              </a:rPr>
              <a:t>）</a:t>
            </a:r>
            <a:r>
              <a:rPr dirty="0" sz="1200" spc="-10" b="0">
                <a:latin typeface="Microsoft YaHei Light"/>
                <a:cs typeface="Microsoft YaHei Light"/>
              </a:rPr>
              <a:t>。实现类：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>
                <a:latin typeface="Consolas"/>
                <a:cs typeface="Consolas"/>
              </a:rPr>
              <a:t>Protocol.java</a:t>
            </a:r>
            <a:r>
              <a:rPr dirty="0" sz="1200" b="0">
                <a:latin typeface="Microsoft YaHei Light"/>
                <a:cs typeface="Microsoft YaHei Light"/>
              </a:rPr>
              <a:t>、</a:t>
            </a:r>
            <a:r>
              <a:rPr dirty="0" sz="1050">
                <a:latin typeface="Consolas"/>
                <a:cs typeface="Consolas"/>
              </a:rPr>
              <a:t>GameServer</a:t>
            </a:r>
            <a:r>
              <a:rPr dirty="0" sz="1200" b="0">
                <a:latin typeface="Microsoft YaHei Light"/>
                <a:cs typeface="Microsoft YaHei Light"/>
              </a:rPr>
              <a:t>、</a:t>
            </a:r>
            <a:r>
              <a:rPr dirty="0" sz="1050">
                <a:latin typeface="Consolas"/>
                <a:cs typeface="Consolas"/>
              </a:rPr>
              <a:t>GameClient</a:t>
            </a:r>
            <a:r>
              <a:rPr dirty="0" sz="1200" b="0">
                <a:latin typeface="Microsoft YaHei Light"/>
                <a:cs typeface="Microsoft YaHei Light"/>
              </a:rPr>
              <a:t>、</a:t>
            </a:r>
            <a:r>
              <a:rPr dirty="0" sz="1050">
                <a:latin typeface="Consolas"/>
                <a:cs typeface="Consolas"/>
              </a:rPr>
              <a:t>FrameDecoder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5" b="0">
                <a:latin typeface="Microsoft YaHei Light"/>
                <a:cs typeface="Microsoft YaHei Light"/>
              </a:rPr>
              <a:t>组间互操作：与对方联调前须约定使用 </a:t>
            </a:r>
            <a:r>
              <a:rPr dirty="0" sz="1200" spc="-65" b="0">
                <a:latin typeface="Microsoft YaHei Light"/>
                <a:cs typeface="Microsoft YaHei Light"/>
              </a:rPr>
              <a:t>WebSocket</a:t>
            </a:r>
            <a:r>
              <a:rPr dirty="0" sz="1200" spc="175" b="0">
                <a:latin typeface="Microsoft YaHei Light"/>
                <a:cs typeface="Microsoft YaHei Light"/>
              </a:rPr>
              <a:t> </a:t>
            </a:r>
            <a:r>
              <a:rPr dirty="0" sz="1200" spc="-105" b="0">
                <a:latin typeface="Microsoft YaHei Light"/>
                <a:cs typeface="Microsoft YaHei Light"/>
              </a:rPr>
              <a:t>JSON</a:t>
            </a:r>
            <a:r>
              <a:rPr dirty="0" sz="1200" spc="110" b="0">
                <a:latin typeface="Microsoft YaHei Light"/>
                <a:cs typeface="Microsoft YaHei Light"/>
              </a:rPr>
              <a:t> 或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175" b="0">
                <a:latin typeface="Microsoft YaHei Light"/>
                <a:cs typeface="Microsoft YaHei Light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v2.0（</a:t>
            </a:r>
            <a:r>
              <a:rPr dirty="0" sz="1200" b="0">
                <a:latin typeface="Microsoft YaHei Light"/>
                <a:cs typeface="Microsoft YaHei Light"/>
              </a:rPr>
              <a:t>本附录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25" b="0">
                <a:latin typeface="Microsoft YaHei Light"/>
                <a:cs typeface="Microsoft YaHei Light"/>
              </a:rPr>
              <a:t>；不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200" spc="-15" b="0">
                <a:latin typeface="Microsoft YaHei Light"/>
                <a:cs typeface="Microsoft YaHei Light"/>
              </a:rPr>
              <a:t>可混用。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74600" y="7707629"/>
            <a:ext cx="5785485" cy="817244"/>
            <a:chOff x="874600" y="7707629"/>
            <a:chExt cx="5785485" cy="817244"/>
          </a:xfrm>
        </p:grpSpPr>
        <p:sp>
          <p:nvSpPr>
            <p:cNvPr id="9" name="object 9" descr=""/>
            <p:cNvSpPr/>
            <p:nvPr/>
          </p:nvSpPr>
          <p:spPr>
            <a:xfrm>
              <a:off x="900000" y="7707629"/>
              <a:ext cx="5760085" cy="817244"/>
            </a:xfrm>
            <a:custGeom>
              <a:avLst/>
              <a:gdLst/>
              <a:ahLst/>
              <a:cxnLst/>
              <a:rect l="l" t="t" r="r" b="b"/>
              <a:pathLst>
                <a:path w="5760084" h="817245">
                  <a:moveTo>
                    <a:pt x="5709199" y="817165"/>
                  </a:moveTo>
                  <a:lnTo>
                    <a:pt x="50800" y="817165"/>
                  </a:lnTo>
                  <a:lnTo>
                    <a:pt x="31026" y="813173"/>
                  </a:lnTo>
                  <a:lnTo>
                    <a:pt x="14878" y="802286"/>
                  </a:lnTo>
                  <a:lnTo>
                    <a:pt x="3992" y="786139"/>
                  </a:lnTo>
                  <a:lnTo>
                    <a:pt x="0" y="766365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766365"/>
                  </a:lnTo>
                  <a:lnTo>
                    <a:pt x="5756007" y="786139"/>
                  </a:lnTo>
                  <a:lnTo>
                    <a:pt x="5745120" y="802286"/>
                  </a:lnTo>
                  <a:lnTo>
                    <a:pt x="5728973" y="813173"/>
                  </a:lnTo>
                  <a:lnTo>
                    <a:pt x="5709199" y="817165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74600" y="7707629"/>
              <a:ext cx="50800" cy="817244"/>
            </a:xfrm>
            <a:custGeom>
              <a:avLst/>
              <a:gdLst/>
              <a:ahLst/>
              <a:cxnLst/>
              <a:rect l="l" t="t" r="r" b="b"/>
              <a:pathLst>
                <a:path w="50800" h="817245">
                  <a:moveTo>
                    <a:pt x="50800" y="817165"/>
                  </a:moveTo>
                  <a:lnTo>
                    <a:pt x="31026" y="813173"/>
                  </a:lnTo>
                  <a:lnTo>
                    <a:pt x="14878" y="802286"/>
                  </a:lnTo>
                  <a:lnTo>
                    <a:pt x="3992" y="786139"/>
                  </a:lnTo>
                  <a:lnTo>
                    <a:pt x="0" y="766365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817165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87300" y="7656829"/>
            <a:ext cx="556260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900" marR="5080" indent="-457200">
              <a:lnSpc>
                <a:spcPct val="127800"/>
              </a:lnSpc>
              <a:spcBef>
                <a:spcPts val="100"/>
              </a:spcBef>
            </a:pPr>
            <a:r>
              <a:rPr dirty="0" sz="2000" spc="210" b="0">
                <a:solidFill>
                  <a:srgbClr val="1E3A8A"/>
                </a:solidFill>
                <a:latin typeface="Microsoft YaHei Light"/>
                <a:cs typeface="Microsoft YaHei Light"/>
              </a:rPr>
              <a:t>16.</a:t>
            </a:r>
            <a:r>
              <a:rPr dirty="0" sz="2000" spc="60" b="0">
                <a:solidFill>
                  <a:srgbClr val="1E3A8A"/>
                </a:solidFill>
                <a:latin typeface="Microsoft YaHei Light"/>
                <a:cs typeface="Microsoft YaHei Light"/>
              </a:rPr>
              <a:t> 附录 </a:t>
            </a:r>
            <a:r>
              <a:rPr dirty="0" sz="2000" spc="-100" b="0">
                <a:solidFill>
                  <a:srgbClr val="1E3A8A"/>
                </a:solidFill>
                <a:latin typeface="Microsoft YaHei Light"/>
                <a:cs typeface="Microsoft YaHei Light"/>
              </a:rPr>
              <a:t>B：TCP</a:t>
            </a:r>
            <a:r>
              <a:rPr dirty="0" sz="2000" spc="65" b="0">
                <a:solidFill>
                  <a:srgbClr val="1E3A8A"/>
                </a:solidFill>
                <a:latin typeface="Microsoft YaHei Light"/>
                <a:cs typeface="Microsoft YaHei Light"/>
              </a:rPr>
              <a:t> 文本帧扩展协议 </a:t>
            </a:r>
            <a:r>
              <a:rPr dirty="0" sz="2000" spc="60" b="0">
                <a:solidFill>
                  <a:srgbClr val="1E3A8A"/>
                </a:solidFill>
                <a:latin typeface="Microsoft YaHei Light"/>
                <a:cs typeface="Microsoft YaHei Light"/>
              </a:rPr>
              <a:t>v2.0（Unveil</a:t>
            </a:r>
            <a:r>
              <a:rPr dirty="0" sz="2000" b="0">
                <a:solidFill>
                  <a:srgbClr val="1E3A8A"/>
                </a:solidFill>
                <a:latin typeface="Microsoft YaHei Light"/>
                <a:cs typeface="Microsoft YaHei Light"/>
              </a:rPr>
              <a:t>扩展</a:t>
            </a:r>
            <a:r>
              <a:rPr dirty="0" sz="2000" spc="-50" b="0">
                <a:solidFill>
                  <a:srgbClr val="1E3A8A"/>
                </a:solidFill>
                <a:latin typeface="Microsoft YaHei Light"/>
                <a:cs typeface="Microsoft YaHei Light"/>
              </a:rPr>
              <a:t>）</a:t>
            </a:r>
            <a:endParaRPr sz="20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204" b="0">
                <a:solidFill>
                  <a:srgbClr val="1E40AF"/>
                </a:solidFill>
                <a:latin typeface="Microsoft YaHei Light"/>
                <a:cs typeface="Microsoft YaHei Light"/>
              </a:rPr>
              <a:t>16.1.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135" b="0">
                <a:solidFill>
                  <a:srgbClr val="1E40AF"/>
                </a:solidFill>
                <a:latin typeface="Microsoft YaHei Light"/>
                <a:cs typeface="Microsoft YaHei Light"/>
              </a:rPr>
              <a:t>B.1</a:t>
            </a:r>
            <a:r>
              <a:rPr dirty="0" sz="1500" spc="40" b="0">
                <a:solidFill>
                  <a:srgbClr val="1E40AF"/>
                </a:solidFill>
                <a:latin typeface="Microsoft YaHei Light"/>
                <a:cs typeface="Microsoft YaHei Light"/>
              </a:rPr>
              <a:t> 消息帧格式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00000" y="915793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896825" y="9486020"/>
            <a:ext cx="5766435" cy="346075"/>
            <a:chOff x="896825" y="9486020"/>
            <a:chExt cx="5766435" cy="346075"/>
          </a:xfrm>
        </p:grpSpPr>
        <p:sp>
          <p:nvSpPr>
            <p:cNvPr id="14" name="object 14" descr=""/>
            <p:cNvSpPr/>
            <p:nvPr/>
          </p:nvSpPr>
          <p:spPr>
            <a:xfrm>
              <a:off x="900000" y="9489195"/>
              <a:ext cx="5760085" cy="339725"/>
            </a:xfrm>
            <a:custGeom>
              <a:avLst/>
              <a:gdLst/>
              <a:ahLst/>
              <a:cxnLst/>
              <a:rect l="l" t="t" r="r" b="b"/>
              <a:pathLst>
                <a:path w="5760084" h="339725">
                  <a:moveTo>
                    <a:pt x="5725074" y="339101"/>
                  </a:moveTo>
                  <a:lnTo>
                    <a:pt x="34925" y="339101"/>
                  </a:lnTo>
                  <a:lnTo>
                    <a:pt x="21330" y="336357"/>
                  </a:lnTo>
                  <a:lnTo>
                    <a:pt x="10229" y="328872"/>
                  </a:lnTo>
                  <a:lnTo>
                    <a:pt x="2744" y="317771"/>
                  </a:lnTo>
                  <a:lnTo>
                    <a:pt x="0" y="30417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04176"/>
                  </a:lnTo>
                  <a:lnTo>
                    <a:pt x="5757255" y="317771"/>
                  </a:lnTo>
                  <a:lnTo>
                    <a:pt x="5749770" y="328872"/>
                  </a:lnTo>
                  <a:lnTo>
                    <a:pt x="5738669" y="336357"/>
                  </a:lnTo>
                  <a:lnTo>
                    <a:pt x="5725074" y="3391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0000" y="9489195"/>
              <a:ext cx="5760085" cy="339725"/>
            </a:xfrm>
            <a:custGeom>
              <a:avLst/>
              <a:gdLst/>
              <a:ahLst/>
              <a:cxnLst/>
              <a:rect l="l" t="t" r="r" b="b"/>
              <a:pathLst>
                <a:path w="5760084" h="339725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04176"/>
                  </a:lnTo>
                  <a:lnTo>
                    <a:pt x="5757255" y="317771"/>
                  </a:lnTo>
                  <a:lnTo>
                    <a:pt x="5749770" y="328872"/>
                  </a:lnTo>
                  <a:lnTo>
                    <a:pt x="5738669" y="336357"/>
                  </a:lnTo>
                  <a:lnTo>
                    <a:pt x="5725074" y="339101"/>
                  </a:lnTo>
                  <a:lnTo>
                    <a:pt x="34925" y="339101"/>
                  </a:lnTo>
                  <a:lnTo>
                    <a:pt x="21330" y="336357"/>
                  </a:lnTo>
                  <a:lnTo>
                    <a:pt x="10229" y="328872"/>
                  </a:lnTo>
                  <a:lnTo>
                    <a:pt x="2744" y="317771"/>
                  </a:lnTo>
                  <a:lnTo>
                    <a:pt x="0" y="30417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87300" y="9225035"/>
            <a:ext cx="315849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0">
                <a:latin typeface="Microsoft YaHei Light"/>
                <a:cs typeface="Microsoft YaHei Light"/>
              </a:rPr>
              <a:t>每条消息为一行文本（</a:t>
            </a:r>
            <a:r>
              <a:rPr dirty="0" sz="1200" spc="120" b="0">
                <a:latin typeface="Microsoft YaHei Light"/>
                <a:cs typeface="Microsoft YaHei Light"/>
              </a:rPr>
              <a:t>以 </a:t>
            </a:r>
            <a:r>
              <a:rPr dirty="0" sz="1050">
                <a:latin typeface="Consolas"/>
                <a:cs typeface="Consolas"/>
              </a:rPr>
              <a:t>\n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结尾</a:t>
            </a:r>
            <a:r>
              <a:rPr dirty="0" sz="1200" spc="-625" b="0">
                <a:latin typeface="Microsoft YaHei Light"/>
                <a:cs typeface="Microsoft YaHei Light"/>
              </a:rPr>
              <a:t>）</a:t>
            </a:r>
            <a:r>
              <a:rPr dirty="0" sz="1200" spc="-25" b="0">
                <a:latin typeface="Microsoft YaHei Light"/>
                <a:cs typeface="Microsoft YaHei Light"/>
              </a:rPr>
              <a:t>：</a:t>
            </a:r>
            <a:endParaRPr sz="120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  <a:spcBef>
                <a:spcPts val="1160"/>
              </a:spcBef>
            </a:pPr>
            <a:r>
              <a:rPr dirty="0" sz="1050" spc="-10">
                <a:latin typeface="Consolas"/>
                <a:cs typeface="Consolas"/>
              </a:rPr>
              <a:t>&lt;msgType&gt;|&lt;payloadByteLength&gt;|&lt;payload&gt;\n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866813"/>
          <a:ext cx="5626735" cy="1086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3680"/>
                <a:gridCol w="694055"/>
                <a:gridCol w="342900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msgType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消息类型编号（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见 </a:t>
                      </a:r>
                      <a:r>
                        <a:rPr dirty="0" sz="1200" spc="145" b="0">
                          <a:latin typeface="Microsoft YaHei Light"/>
                          <a:cs typeface="Microsoft YaHei Light"/>
                        </a:rPr>
                        <a:t>§3.2）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payloadByteLength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payload</a:t>
                      </a:r>
                      <a:r>
                        <a:rPr dirty="0" sz="1050" spc="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字段的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UTF-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字节数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不含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50" spc="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和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\n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3622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payload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实际负载数据，内部可含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分隔符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grpSp>
        <p:nvGrpSpPr>
          <p:cNvPr id="3" name="object 3" descr=""/>
          <p:cNvGrpSpPr/>
          <p:nvPr/>
        </p:nvGrpSpPr>
        <p:grpSpPr>
          <a:xfrm>
            <a:off x="896825" y="2320647"/>
            <a:ext cx="5766435" cy="346075"/>
            <a:chOff x="896825" y="2320647"/>
            <a:chExt cx="5766435" cy="346075"/>
          </a:xfrm>
        </p:grpSpPr>
        <p:sp>
          <p:nvSpPr>
            <p:cNvPr id="4" name="object 4" descr=""/>
            <p:cNvSpPr/>
            <p:nvPr/>
          </p:nvSpPr>
          <p:spPr>
            <a:xfrm>
              <a:off x="900000" y="2323822"/>
              <a:ext cx="5760085" cy="339725"/>
            </a:xfrm>
            <a:custGeom>
              <a:avLst/>
              <a:gdLst/>
              <a:ahLst/>
              <a:cxnLst/>
              <a:rect l="l" t="t" r="r" b="b"/>
              <a:pathLst>
                <a:path w="5760084" h="339725">
                  <a:moveTo>
                    <a:pt x="5725074" y="339101"/>
                  </a:moveTo>
                  <a:lnTo>
                    <a:pt x="34925" y="339101"/>
                  </a:lnTo>
                  <a:lnTo>
                    <a:pt x="21330" y="336357"/>
                  </a:lnTo>
                  <a:lnTo>
                    <a:pt x="10229" y="328872"/>
                  </a:lnTo>
                  <a:lnTo>
                    <a:pt x="2744" y="317771"/>
                  </a:lnTo>
                  <a:lnTo>
                    <a:pt x="0" y="30417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04176"/>
                  </a:lnTo>
                  <a:lnTo>
                    <a:pt x="5757255" y="317771"/>
                  </a:lnTo>
                  <a:lnTo>
                    <a:pt x="5749770" y="328872"/>
                  </a:lnTo>
                  <a:lnTo>
                    <a:pt x="5738669" y="336357"/>
                  </a:lnTo>
                  <a:lnTo>
                    <a:pt x="5725074" y="3391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0000" y="2323822"/>
              <a:ext cx="5760085" cy="339725"/>
            </a:xfrm>
            <a:custGeom>
              <a:avLst/>
              <a:gdLst/>
              <a:ahLst/>
              <a:cxnLst/>
              <a:rect l="l" t="t" r="r" b="b"/>
              <a:pathLst>
                <a:path w="5760084" h="339725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304176"/>
                  </a:lnTo>
                  <a:lnTo>
                    <a:pt x="5757255" y="317771"/>
                  </a:lnTo>
                  <a:lnTo>
                    <a:pt x="5749770" y="328872"/>
                  </a:lnTo>
                  <a:lnTo>
                    <a:pt x="5738669" y="336357"/>
                  </a:lnTo>
                  <a:lnTo>
                    <a:pt x="5725074" y="339101"/>
                  </a:lnTo>
                  <a:lnTo>
                    <a:pt x="34925" y="339101"/>
                  </a:lnTo>
                  <a:lnTo>
                    <a:pt x="21330" y="336357"/>
                  </a:lnTo>
                  <a:lnTo>
                    <a:pt x="10229" y="328872"/>
                  </a:lnTo>
                  <a:lnTo>
                    <a:pt x="2744" y="317771"/>
                  </a:lnTo>
                  <a:lnTo>
                    <a:pt x="0" y="304176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900000" y="3296068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96825" y="4528547"/>
            <a:ext cx="5766435" cy="2608580"/>
            <a:chOff x="896825" y="4528547"/>
            <a:chExt cx="5766435" cy="2608580"/>
          </a:xfrm>
        </p:grpSpPr>
        <p:sp>
          <p:nvSpPr>
            <p:cNvPr id="8" name="object 8" descr=""/>
            <p:cNvSpPr/>
            <p:nvPr/>
          </p:nvSpPr>
          <p:spPr>
            <a:xfrm>
              <a:off x="900000" y="4531722"/>
              <a:ext cx="5760085" cy="2602230"/>
            </a:xfrm>
            <a:custGeom>
              <a:avLst/>
              <a:gdLst/>
              <a:ahLst/>
              <a:cxnLst/>
              <a:rect l="l" t="t" r="r" b="b"/>
              <a:pathLst>
                <a:path w="5760084" h="2602229">
                  <a:moveTo>
                    <a:pt x="5725074" y="2601728"/>
                  </a:moveTo>
                  <a:lnTo>
                    <a:pt x="34925" y="2601728"/>
                  </a:lnTo>
                  <a:lnTo>
                    <a:pt x="21330" y="2598983"/>
                  </a:lnTo>
                  <a:lnTo>
                    <a:pt x="10229" y="2591499"/>
                  </a:lnTo>
                  <a:lnTo>
                    <a:pt x="2744" y="2580397"/>
                  </a:lnTo>
                  <a:lnTo>
                    <a:pt x="0" y="256680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566803"/>
                  </a:lnTo>
                  <a:lnTo>
                    <a:pt x="5757255" y="2580397"/>
                  </a:lnTo>
                  <a:lnTo>
                    <a:pt x="5749770" y="2591499"/>
                  </a:lnTo>
                  <a:lnTo>
                    <a:pt x="5738669" y="2598983"/>
                  </a:lnTo>
                  <a:lnTo>
                    <a:pt x="5725074" y="260172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0000" y="4531722"/>
              <a:ext cx="5760085" cy="2602230"/>
            </a:xfrm>
            <a:custGeom>
              <a:avLst/>
              <a:gdLst/>
              <a:ahLst/>
              <a:cxnLst/>
              <a:rect l="l" t="t" r="r" b="b"/>
              <a:pathLst>
                <a:path w="5760084" h="2602229">
                  <a:moveTo>
                    <a:pt x="34925" y="0"/>
                  </a:moveTo>
                  <a:lnTo>
                    <a:pt x="5725074" y="0"/>
                  </a:lnTo>
                  <a:lnTo>
                    <a:pt x="5738669" y="2744"/>
                  </a:lnTo>
                  <a:lnTo>
                    <a:pt x="5749770" y="10229"/>
                  </a:lnTo>
                  <a:lnTo>
                    <a:pt x="5757255" y="21330"/>
                  </a:lnTo>
                  <a:lnTo>
                    <a:pt x="5759999" y="34925"/>
                  </a:lnTo>
                  <a:lnTo>
                    <a:pt x="5759999" y="2566803"/>
                  </a:lnTo>
                  <a:lnTo>
                    <a:pt x="5757255" y="2580397"/>
                  </a:lnTo>
                  <a:lnTo>
                    <a:pt x="5749770" y="2591499"/>
                  </a:lnTo>
                  <a:lnTo>
                    <a:pt x="5738669" y="2598983"/>
                  </a:lnTo>
                  <a:lnTo>
                    <a:pt x="5725074" y="2601728"/>
                  </a:lnTo>
                  <a:lnTo>
                    <a:pt x="34925" y="2601728"/>
                  </a:lnTo>
                  <a:lnTo>
                    <a:pt x="21330" y="2598983"/>
                  </a:lnTo>
                  <a:lnTo>
                    <a:pt x="10229" y="2591499"/>
                  </a:lnTo>
                  <a:lnTo>
                    <a:pt x="2744" y="2580397"/>
                  </a:lnTo>
                  <a:lnTo>
                    <a:pt x="0" y="256680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87300" y="2059661"/>
            <a:ext cx="5816600" cy="618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0">
                <a:latin typeface="Microsoft YaHei Light"/>
                <a:cs typeface="Microsoft YaHei Light"/>
              </a:rPr>
              <a:t>示例：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600">
              <a:latin typeface="Microsoft YaHei Light"/>
              <a:cs typeface="Microsoft YaHei Light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latin typeface="Consolas"/>
                <a:cs typeface="Consolas"/>
              </a:rPr>
              <a:t>2|17|a0|a1||12345678|0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16.2.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B.2</a:t>
            </a:r>
            <a:r>
              <a:rPr dirty="0" sz="1500" spc="25" b="0">
                <a:solidFill>
                  <a:srgbClr val="1E40AF"/>
                </a:solidFill>
                <a:latin typeface="Microsoft YaHei Light"/>
                <a:cs typeface="Microsoft YaHei Light"/>
              </a:rPr>
              <a:t> 消息帧解析规则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Microsoft YaHei Light"/>
              <a:cs typeface="Microsoft YaHei Light"/>
            </a:endParaRPr>
          </a:p>
          <a:p>
            <a:pPr marL="241300" marR="112395" indent="-228600">
              <a:lnSpc>
                <a:spcPct val="127800"/>
              </a:lnSpc>
            </a:pPr>
            <a:r>
              <a:rPr dirty="0" sz="1200" spc="220" b="0">
                <a:latin typeface="Microsoft YaHei Light"/>
                <a:cs typeface="Microsoft YaHei Light"/>
              </a:rPr>
              <a:t>1.</a:t>
            </a:r>
            <a:r>
              <a:rPr dirty="0" sz="1200" spc="145" b="0">
                <a:latin typeface="Microsoft YaHei Light"/>
                <a:cs typeface="Microsoft YaHei Light"/>
              </a:rPr>
              <a:t> 从 </a:t>
            </a:r>
            <a:r>
              <a:rPr dirty="0" sz="1200" spc="-70" b="0">
                <a:latin typeface="Microsoft YaHei Light"/>
                <a:cs typeface="Microsoft YaHei Light"/>
              </a:rPr>
              <a:t>TCP</a:t>
            </a:r>
            <a:r>
              <a:rPr dirty="0" sz="1200" spc="45" b="0">
                <a:latin typeface="Microsoft YaHei Light"/>
                <a:cs typeface="Microsoft YaHei Light"/>
              </a:rPr>
              <a:t> 流中读取直到 </a:t>
            </a:r>
            <a:r>
              <a:rPr dirty="0" sz="1050">
                <a:latin typeface="Consolas"/>
                <a:cs typeface="Consolas"/>
              </a:rPr>
              <a:t>\n</a:t>
            </a:r>
            <a:r>
              <a:rPr dirty="0" sz="1200" spc="40" b="0">
                <a:latin typeface="Microsoft YaHei Light"/>
                <a:cs typeface="Microsoft YaHei Light"/>
              </a:rPr>
              <a:t>，得到一行文本 以 </a:t>
            </a:r>
            <a:r>
              <a:rPr dirty="0" sz="1050">
                <a:latin typeface="Consolas"/>
                <a:cs typeface="Consolas"/>
              </a:rPr>
              <a:t>| </a:t>
            </a:r>
            <a:r>
              <a:rPr dirty="0" sz="1200" spc="35" b="0">
                <a:latin typeface="Microsoft YaHei Light"/>
                <a:cs typeface="Microsoft YaHei Light"/>
              </a:rPr>
              <a:t>分割，取第 </a:t>
            </a:r>
            <a:r>
              <a:rPr dirty="0" sz="1200" spc="130" b="0">
                <a:latin typeface="Microsoft YaHei Light"/>
                <a:cs typeface="Microsoft YaHei Light"/>
              </a:rPr>
              <a:t>1</a:t>
            </a:r>
            <a:r>
              <a:rPr dirty="0" sz="1200" spc="105" b="0">
                <a:latin typeface="Microsoft YaHei Light"/>
                <a:cs typeface="Microsoft YaHei Light"/>
              </a:rPr>
              <a:t> 段为 </a:t>
            </a:r>
            <a:r>
              <a:rPr dirty="0" sz="1050">
                <a:latin typeface="Consolas"/>
                <a:cs typeface="Consolas"/>
              </a:rPr>
              <a:t>msgType </a:t>
            </a:r>
            <a:r>
              <a:rPr dirty="0" sz="1200" spc="110" b="0">
                <a:latin typeface="Microsoft YaHei Light"/>
                <a:cs typeface="Microsoft YaHei Light"/>
              </a:rPr>
              <a:t>以 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200" spc="35" b="0">
                <a:latin typeface="Microsoft YaHei Light"/>
                <a:cs typeface="Microsoft YaHei Light"/>
              </a:rPr>
              <a:t>分割，取第 </a:t>
            </a:r>
            <a:r>
              <a:rPr dirty="0" sz="1200" b="0">
                <a:latin typeface="Microsoft YaHei Light"/>
                <a:cs typeface="Microsoft YaHei Light"/>
              </a:rPr>
              <a:t>2</a:t>
            </a:r>
            <a:r>
              <a:rPr dirty="0" sz="1200" spc="105" b="0">
                <a:latin typeface="Microsoft YaHei Light"/>
                <a:cs typeface="Microsoft YaHei Light"/>
              </a:rPr>
              <a:t> 段为 </a:t>
            </a:r>
            <a:r>
              <a:rPr dirty="0" sz="1050">
                <a:latin typeface="Consolas"/>
                <a:cs typeface="Consolas"/>
              </a:rPr>
              <a:t>payloadByteLength </a:t>
            </a:r>
            <a:r>
              <a:rPr dirty="0" sz="1200" b="0">
                <a:latin typeface="Microsoft YaHei Light"/>
                <a:cs typeface="Microsoft YaHei Light"/>
              </a:rPr>
              <a:t>剩余部分（</a:t>
            </a:r>
            <a:r>
              <a:rPr dirty="0" sz="1200" spc="110" b="0">
                <a:latin typeface="Microsoft YaHei Light"/>
                <a:cs typeface="Microsoft YaHei Light"/>
              </a:rPr>
              <a:t>第 </a:t>
            </a:r>
            <a:r>
              <a:rPr dirty="0" sz="1200" b="0">
                <a:latin typeface="Microsoft YaHei Light"/>
                <a:cs typeface="Microsoft YaHei Light"/>
              </a:rPr>
              <a:t>3</a:t>
            </a:r>
            <a:r>
              <a:rPr dirty="0" sz="1200" spc="70" b="0">
                <a:latin typeface="Microsoft YaHei Light"/>
                <a:cs typeface="Microsoft YaHei Light"/>
              </a:rPr>
              <a:t> 段起，用 </a:t>
            </a:r>
            <a:r>
              <a:rPr dirty="0" sz="1050">
                <a:latin typeface="Consolas"/>
                <a:cs typeface="Consolas"/>
              </a:rPr>
              <a:t>| </a:t>
            </a:r>
            <a:r>
              <a:rPr dirty="0" sz="1200" b="0">
                <a:latin typeface="Microsoft YaHei Light"/>
                <a:cs typeface="Microsoft YaHei Light"/>
              </a:rPr>
              <a:t>连接还原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r>
              <a:rPr dirty="0" sz="1200" spc="114" b="0">
                <a:latin typeface="Microsoft YaHei Light"/>
                <a:cs typeface="Microsoft YaHei Light"/>
              </a:rPr>
              <a:t>为 </a:t>
            </a:r>
            <a:r>
              <a:rPr dirty="0" sz="1050">
                <a:latin typeface="Consolas"/>
                <a:cs typeface="Consolas"/>
              </a:rPr>
              <a:t>payload </a:t>
            </a:r>
            <a:r>
              <a:rPr dirty="0" sz="1200" b="0">
                <a:latin typeface="Microsoft YaHei Light"/>
                <a:cs typeface="Microsoft YaHei Light"/>
              </a:rPr>
              <a:t>校验：</a:t>
            </a:r>
            <a:r>
              <a:rPr dirty="0" sz="1050">
                <a:latin typeface="Consolas"/>
                <a:cs typeface="Consolas"/>
              </a:rPr>
              <a:t>payload </a:t>
            </a:r>
            <a:r>
              <a:rPr dirty="0" sz="1200" spc="114" b="0">
                <a:latin typeface="Microsoft YaHei Light"/>
                <a:cs typeface="Microsoft YaHei Light"/>
              </a:rPr>
              <a:t>的 </a:t>
            </a:r>
            <a:r>
              <a:rPr dirty="0" sz="1200" spc="-65" b="0">
                <a:latin typeface="Microsoft YaHei Light"/>
                <a:cs typeface="Microsoft YaHei Light"/>
              </a:rPr>
              <a:t>UTF-</a:t>
            </a:r>
            <a:r>
              <a:rPr dirty="0" sz="1200" b="0">
                <a:latin typeface="Microsoft YaHei Light"/>
                <a:cs typeface="Microsoft YaHei Light"/>
              </a:rPr>
              <a:t>8</a:t>
            </a:r>
            <a:r>
              <a:rPr dirty="0" sz="1200" spc="40" b="0">
                <a:latin typeface="Microsoft YaHei Light"/>
                <a:cs typeface="Microsoft YaHei Light"/>
              </a:rPr>
              <a:t> 字节数必须等于 </a:t>
            </a:r>
            <a:r>
              <a:rPr dirty="0" sz="1050">
                <a:latin typeface="Consolas"/>
                <a:cs typeface="Consolas"/>
              </a:rPr>
              <a:t>payloadByteLength</a:t>
            </a:r>
            <a:r>
              <a:rPr dirty="0" sz="1200" spc="-20" b="0">
                <a:latin typeface="Microsoft YaHei Light"/>
                <a:cs typeface="Microsoft YaHei Light"/>
              </a:rPr>
              <a:t>，否则</a:t>
            </a:r>
            <a:r>
              <a:rPr dirty="0" sz="1200" spc="35" b="0">
                <a:latin typeface="Microsoft YaHei Light"/>
                <a:cs typeface="Microsoft YaHei Light"/>
              </a:rPr>
              <a:t>丢弃并返回 </a:t>
            </a:r>
            <a:r>
              <a:rPr dirty="0" sz="1200" spc="-10" b="0">
                <a:latin typeface="Microsoft YaHei Light"/>
                <a:cs typeface="Microsoft YaHei Light"/>
              </a:rPr>
              <a:t>ERROR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200" b="0">
                <a:latin typeface="Microsoft YaHei Light"/>
                <a:cs typeface="Microsoft YaHei Light"/>
              </a:rPr>
              <a:t>解析参考实现</a:t>
            </a:r>
            <a:r>
              <a:rPr dirty="0" sz="1200" spc="75" b="0">
                <a:latin typeface="Microsoft YaHei Light"/>
                <a:cs typeface="Microsoft YaHei Light"/>
              </a:rPr>
              <a:t>（Java</a:t>
            </a:r>
            <a:r>
              <a:rPr dirty="0" sz="1200" spc="-525" b="0">
                <a:latin typeface="Microsoft YaHei Light"/>
                <a:cs typeface="Microsoft YaHei Light"/>
              </a:rPr>
              <a:t>）</a:t>
            </a:r>
            <a:r>
              <a:rPr dirty="0" sz="1200" spc="75" b="0">
                <a:latin typeface="Microsoft YaHei Light"/>
                <a:cs typeface="Microsoft YaHei Light"/>
              </a:rPr>
              <a:t>：</a:t>
            </a:r>
            <a:endParaRPr sz="1200">
              <a:latin typeface="Microsoft YaHei Light"/>
              <a:cs typeface="Microsoft YaHei Light"/>
            </a:endParaRPr>
          </a:p>
          <a:p>
            <a:pPr marL="432434" marR="2003425" indent="-293370">
              <a:lnSpc>
                <a:spcPct val="107300"/>
              </a:lnSpc>
              <a:spcBef>
                <a:spcPts val="1065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public static int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parseMsgType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</a:t>
            </a:r>
            <a:r>
              <a:rPr dirty="0" sz="1050">
                <a:latin typeface="Consolas"/>
                <a:cs typeface="Consolas"/>
              </a:rPr>
              <a:t>line) </a:t>
            </a:r>
            <a:r>
              <a:rPr dirty="0" sz="1050" spc="-50">
                <a:latin typeface="Consolas"/>
                <a:cs typeface="Consolas"/>
              </a:rPr>
              <a:t>{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</a:t>
            </a:r>
            <a:r>
              <a:rPr dirty="0" sz="1050" spc="-10">
                <a:solidFill>
                  <a:srgbClr val="D73948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Integer</a:t>
            </a:r>
            <a:r>
              <a:rPr dirty="0" sz="1050" spc="-10"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parseInt</a:t>
            </a:r>
            <a:r>
              <a:rPr dirty="0" sz="1050" spc="-10">
                <a:latin typeface="Consolas"/>
                <a:cs typeface="Consolas"/>
              </a:rPr>
              <a:t>(line.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split</a:t>
            </a:r>
            <a:r>
              <a:rPr dirty="0" sz="1050" spc="-10"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198810"/>
                </a:solidFill>
                <a:latin typeface="Consolas"/>
                <a:cs typeface="Consolas"/>
              </a:rPr>
              <a:t>"</a:t>
            </a:r>
            <a:r>
              <a:rPr dirty="0" sz="1050" spc="-10">
                <a:solidFill>
                  <a:srgbClr val="1D6C76"/>
                </a:solidFill>
                <a:latin typeface="Consolas"/>
                <a:cs typeface="Consolas"/>
              </a:rPr>
              <a:t>\\</a:t>
            </a:r>
            <a:r>
              <a:rPr dirty="0" sz="1050" spc="-10">
                <a:solidFill>
                  <a:srgbClr val="198810"/>
                </a:solidFill>
                <a:latin typeface="Consolas"/>
                <a:cs typeface="Consolas"/>
              </a:rPr>
              <a:t>|"</a:t>
            </a:r>
            <a:r>
              <a:rPr dirty="0" sz="1050" spc="-10">
                <a:latin typeface="Consolas"/>
                <a:cs typeface="Consolas"/>
              </a:rPr>
              <a:t>)[</a:t>
            </a:r>
            <a:r>
              <a:rPr dirty="0" sz="1050" spc="-10">
                <a:solidFill>
                  <a:srgbClr val="B60157"/>
                </a:solidFill>
                <a:latin typeface="Consolas"/>
                <a:cs typeface="Consolas"/>
              </a:rPr>
              <a:t>0</a:t>
            </a:r>
            <a:r>
              <a:rPr dirty="0" sz="1050" spc="-10">
                <a:latin typeface="Consolas"/>
                <a:cs typeface="Consolas"/>
              </a:rPr>
              <a:t>]);</a:t>
            </a:r>
            <a:endParaRPr sz="1050">
              <a:latin typeface="Consolas"/>
              <a:cs typeface="Consolas"/>
            </a:endParaRPr>
          </a:p>
          <a:p>
            <a:pPr marL="139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Consolas"/>
              <a:cs typeface="Consolas"/>
            </a:endParaRPr>
          </a:p>
          <a:p>
            <a:pPr marL="432434" marR="2149475" indent="-293370">
              <a:lnSpc>
                <a:spcPct val="107300"/>
              </a:lnSpc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public static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parsePayload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</a:t>
            </a:r>
            <a:r>
              <a:rPr dirty="0" sz="1050">
                <a:latin typeface="Consolas"/>
                <a:cs typeface="Consolas"/>
              </a:rPr>
              <a:t>line) </a:t>
            </a:r>
            <a:r>
              <a:rPr dirty="0" sz="1050" spc="-50">
                <a:latin typeface="Consolas"/>
                <a:cs typeface="Consolas"/>
              </a:rPr>
              <a:t>{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[] </a:t>
            </a:r>
            <a:r>
              <a:rPr dirty="0" sz="1050">
                <a:latin typeface="Consolas"/>
                <a:cs typeface="Consolas"/>
              </a:rPr>
              <a:t>parts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= </a:t>
            </a:r>
            <a:r>
              <a:rPr dirty="0" sz="1050">
                <a:latin typeface="Consolas"/>
                <a:cs typeface="Consolas"/>
              </a:rPr>
              <a:t>line.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split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"</a:t>
            </a:r>
            <a:r>
              <a:rPr dirty="0" sz="1050">
                <a:solidFill>
                  <a:srgbClr val="1D6C76"/>
                </a:solidFill>
                <a:latin typeface="Consolas"/>
                <a:cs typeface="Consolas"/>
              </a:rPr>
              <a:t>\\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|"</a:t>
            </a:r>
            <a:r>
              <a:rPr dirty="0" sz="1050">
                <a:latin typeface="Consolas"/>
                <a:cs typeface="Consolas"/>
              </a:rPr>
              <a:t>, </a:t>
            </a:r>
            <a:r>
              <a:rPr dirty="0" sz="1050" spc="-25">
                <a:solidFill>
                  <a:srgbClr val="B60157"/>
                </a:solidFill>
                <a:latin typeface="Consolas"/>
                <a:cs typeface="Consolas"/>
              </a:rPr>
              <a:t>3</a:t>
            </a:r>
            <a:r>
              <a:rPr dirty="0" sz="1050" spc="-25"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432434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if </a:t>
            </a:r>
            <a:r>
              <a:rPr dirty="0" sz="1050">
                <a:latin typeface="Consolas"/>
                <a:cs typeface="Consolas"/>
              </a:rPr>
              <a:t>(parts.length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&lt; </a:t>
            </a:r>
            <a:r>
              <a:rPr dirty="0" sz="1050">
                <a:solidFill>
                  <a:srgbClr val="B60157"/>
                </a:solidFill>
                <a:latin typeface="Consolas"/>
                <a:cs typeface="Consolas"/>
              </a:rPr>
              <a:t>3</a:t>
            </a:r>
            <a:r>
              <a:rPr dirty="0" sz="1050">
                <a:latin typeface="Consolas"/>
                <a:cs typeface="Consolas"/>
              </a:rPr>
              <a:t>)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 </a:t>
            </a:r>
            <a:r>
              <a:rPr dirty="0" sz="1050" spc="-25">
                <a:solidFill>
                  <a:srgbClr val="198810"/>
                </a:solidFill>
                <a:latin typeface="Consolas"/>
                <a:cs typeface="Consolas"/>
              </a:rPr>
              <a:t>""</a:t>
            </a:r>
            <a:r>
              <a:rPr dirty="0" sz="1050" spc="-25"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432434" marR="2076450">
              <a:lnSpc>
                <a:spcPct val="107300"/>
              </a:lnSpc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int </a:t>
            </a:r>
            <a:r>
              <a:rPr dirty="0" sz="1050">
                <a:latin typeface="Consolas"/>
                <a:cs typeface="Consolas"/>
              </a:rPr>
              <a:t>declaredLen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= 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Integer</a:t>
            </a:r>
            <a:r>
              <a:rPr dirty="0" sz="1050" spc="-10"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4B69C6"/>
                </a:solidFill>
                <a:latin typeface="Consolas"/>
                <a:cs typeface="Consolas"/>
              </a:rPr>
              <a:t>parseInt</a:t>
            </a:r>
            <a:r>
              <a:rPr dirty="0" sz="1050" spc="-10">
                <a:latin typeface="Consolas"/>
                <a:cs typeface="Consolas"/>
              </a:rPr>
              <a:t>(parts[</a:t>
            </a:r>
            <a:r>
              <a:rPr dirty="0" sz="1050" spc="-10">
                <a:solidFill>
                  <a:srgbClr val="B60157"/>
                </a:solidFill>
                <a:latin typeface="Consolas"/>
                <a:cs typeface="Consolas"/>
              </a:rPr>
              <a:t>1</a:t>
            </a:r>
            <a:r>
              <a:rPr dirty="0" sz="1050" spc="-10">
                <a:latin typeface="Consolas"/>
                <a:cs typeface="Consolas"/>
              </a:rPr>
              <a:t>]); 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String </a:t>
            </a:r>
            <a:r>
              <a:rPr dirty="0" sz="1050">
                <a:latin typeface="Consolas"/>
                <a:cs typeface="Consolas"/>
              </a:rPr>
              <a:t>payload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= </a:t>
            </a:r>
            <a:r>
              <a:rPr dirty="0" sz="1050" spc="-10">
                <a:latin typeface="Consolas"/>
                <a:cs typeface="Consolas"/>
              </a:rPr>
              <a:t>parts[</a:t>
            </a:r>
            <a:r>
              <a:rPr dirty="0" sz="1050" spc="-10">
                <a:solidFill>
                  <a:srgbClr val="B60157"/>
                </a:solidFill>
                <a:latin typeface="Consolas"/>
                <a:cs typeface="Consolas"/>
              </a:rPr>
              <a:t>2</a:t>
            </a:r>
            <a:r>
              <a:rPr dirty="0" sz="1050" spc="-10">
                <a:latin typeface="Consolas"/>
                <a:cs typeface="Consolas"/>
              </a:rPr>
              <a:t>];</a:t>
            </a:r>
            <a:endParaRPr sz="1050">
              <a:latin typeface="Consolas"/>
              <a:cs typeface="Consolas"/>
            </a:endParaRPr>
          </a:p>
          <a:p>
            <a:pPr marL="432434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if </a:t>
            </a:r>
            <a:r>
              <a:rPr dirty="0" sz="1050">
                <a:latin typeface="Consolas"/>
                <a:cs typeface="Consolas"/>
              </a:rPr>
              <a:t>(payload.</a:t>
            </a:r>
            <a:r>
              <a:rPr dirty="0" sz="1050">
                <a:solidFill>
                  <a:srgbClr val="4B69C6"/>
                </a:solidFill>
                <a:latin typeface="Consolas"/>
                <a:cs typeface="Consolas"/>
              </a:rPr>
              <a:t>getBytes</a:t>
            </a:r>
            <a:r>
              <a:rPr dirty="0" sz="1050"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198810"/>
                </a:solidFill>
                <a:latin typeface="Consolas"/>
                <a:cs typeface="Consolas"/>
              </a:rPr>
              <a:t>"UTF-8"</a:t>
            </a:r>
            <a:r>
              <a:rPr dirty="0" sz="1050">
                <a:latin typeface="Consolas"/>
                <a:cs typeface="Consolas"/>
              </a:rPr>
              <a:t>).length </a:t>
            </a: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!= </a:t>
            </a:r>
            <a:r>
              <a:rPr dirty="0" sz="1050">
                <a:latin typeface="Consolas"/>
                <a:cs typeface="Consolas"/>
              </a:rPr>
              <a:t>declaredLen) </a:t>
            </a:r>
            <a:r>
              <a:rPr dirty="0" sz="1050" spc="-50"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725805">
              <a:lnSpc>
                <a:spcPct val="100000"/>
              </a:lnSpc>
              <a:spcBef>
                <a:spcPts val="325"/>
              </a:spcBef>
              <a:tabLst>
                <a:tab pos="1752600" algn="l"/>
              </a:tabLst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 </a:t>
            </a:r>
            <a:r>
              <a:rPr dirty="0" sz="1050" spc="-10">
                <a:solidFill>
                  <a:srgbClr val="D73948"/>
                </a:solidFill>
                <a:latin typeface="Consolas"/>
                <a:cs typeface="Consolas"/>
              </a:rPr>
              <a:t>null</a:t>
            </a:r>
            <a:r>
              <a:rPr dirty="0" sz="1050" spc="-10">
                <a:latin typeface="Consolas"/>
                <a:cs typeface="Consolas"/>
              </a:rPr>
              <a:t>;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74747C"/>
                </a:solidFill>
                <a:latin typeface="Consolas"/>
                <a:cs typeface="Consolas"/>
              </a:rPr>
              <a:t>// </a:t>
            </a:r>
            <a:r>
              <a:rPr dirty="0" sz="1050" spc="-20">
                <a:solidFill>
                  <a:srgbClr val="74747C"/>
                </a:solidFill>
                <a:latin typeface="Microsoft JhengHei"/>
                <a:cs typeface="Microsoft JhengHei"/>
              </a:rPr>
              <a:t>帧损坏</a:t>
            </a:r>
            <a:endParaRPr sz="1050">
              <a:latin typeface="Microsoft JhengHei"/>
              <a:cs typeface="Microsoft JhengHei"/>
            </a:endParaRPr>
          </a:p>
          <a:p>
            <a:pPr marL="432434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432434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D73948"/>
                </a:solidFill>
                <a:latin typeface="Consolas"/>
                <a:cs typeface="Consolas"/>
              </a:rPr>
              <a:t>return </a:t>
            </a:r>
            <a:r>
              <a:rPr dirty="0" sz="1050" spc="-10">
                <a:latin typeface="Consolas"/>
                <a:cs typeface="Consolas"/>
              </a:rPr>
              <a:t>payload;</a:t>
            </a:r>
            <a:endParaRPr sz="1050">
              <a:latin typeface="Consolas"/>
              <a:cs typeface="Consolas"/>
            </a:endParaRPr>
          </a:p>
          <a:p>
            <a:pPr marL="139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127800"/>
              </a:lnSpc>
              <a:spcBef>
                <a:spcPts val="790"/>
              </a:spcBef>
            </a:pPr>
            <a:r>
              <a:rPr dirty="0" sz="1200" b="0">
                <a:latin typeface="Microsoft YaHei Light"/>
                <a:cs typeface="Microsoft YaHei Light"/>
              </a:rPr>
              <a:t>设计理由：采用换行分隔而非纯长度前缀，是因为课程场景下可用 </a:t>
            </a:r>
            <a:r>
              <a:rPr dirty="0" sz="1200" spc="90" b="0">
                <a:latin typeface="Microsoft YaHei Light"/>
                <a:cs typeface="Microsoft YaHei Light"/>
              </a:rPr>
              <a:t>telnet</a:t>
            </a:r>
            <a:r>
              <a:rPr dirty="0" sz="1200" b="0">
                <a:latin typeface="Microsoft YaHei Light"/>
                <a:cs typeface="Microsoft YaHei Light"/>
              </a:rPr>
              <a:t> 手动调试，</a:t>
            </a:r>
            <a:r>
              <a:rPr dirty="0" sz="1200" spc="105" b="0">
                <a:latin typeface="Microsoft YaHei Light"/>
                <a:cs typeface="Microsoft YaHei Light"/>
              </a:rPr>
              <a:t>且 </a:t>
            </a:r>
            <a:r>
              <a:rPr dirty="0" sz="1200" b="0">
                <a:latin typeface="Microsoft YaHei Light"/>
                <a:cs typeface="Microsoft YaHei Light"/>
              </a:rPr>
              <a:t>payload</a:t>
            </a:r>
            <a:r>
              <a:rPr dirty="0" sz="1200" spc="140" b="0">
                <a:latin typeface="Microsoft YaHei Light"/>
                <a:cs typeface="Microsoft YaHei Light"/>
              </a:rPr>
              <a:t> 内 </a:t>
            </a:r>
            <a:r>
              <a:rPr dirty="0" sz="1050">
                <a:latin typeface="Consolas"/>
                <a:cs typeface="Consolas"/>
              </a:rPr>
              <a:t>|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无需转义。</a:t>
            </a:r>
            <a:r>
              <a:rPr dirty="0" sz="1050">
                <a:latin typeface="Consolas"/>
                <a:cs typeface="Consolas"/>
              </a:rPr>
              <a:t>payloadByteLength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的首要作用是校验帧完整性，次要作</a:t>
            </a:r>
            <a:r>
              <a:rPr dirty="0" sz="1200" spc="35" b="0">
                <a:latin typeface="Microsoft YaHei Light"/>
                <a:cs typeface="Microsoft YaHei Light"/>
              </a:rPr>
              <a:t>用是允许 </a:t>
            </a:r>
            <a:r>
              <a:rPr dirty="0" sz="1200" b="0">
                <a:latin typeface="Microsoft YaHei Light"/>
                <a:cs typeface="Microsoft YaHei Light"/>
              </a:rPr>
              <a:t>payload</a:t>
            </a:r>
            <a:r>
              <a:rPr dirty="0" sz="1200" spc="25" b="0">
                <a:latin typeface="Microsoft YaHei Light"/>
                <a:cs typeface="Microsoft YaHei Light"/>
              </a:rPr>
              <a:t> 包含换行符</a:t>
            </a:r>
            <a:r>
              <a:rPr dirty="0" sz="1200" b="0">
                <a:latin typeface="Microsoft YaHei Light"/>
                <a:cs typeface="Microsoft YaHei Light"/>
              </a:rPr>
              <a:t>（当前未使用此特性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16.3.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B.3</a:t>
            </a:r>
            <a:r>
              <a:rPr dirty="0" sz="1500" spc="35" b="0">
                <a:solidFill>
                  <a:srgbClr val="1E40AF"/>
                </a:solidFill>
                <a:latin typeface="Microsoft YaHei Light"/>
                <a:cs typeface="Microsoft YaHei Light"/>
              </a:rPr>
              <a:t> 消息类型目录</a:t>
            </a:r>
            <a:endParaRPr sz="1500">
              <a:latin typeface="Microsoft YaHei Light"/>
              <a:cs typeface="Microsoft YaHei Ligh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00000" y="8437274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896825" y="8640101"/>
          <a:ext cx="5182235" cy="107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1353820"/>
                <a:gridCol w="799465"/>
                <a:gridCol w="2466975"/>
              </a:tblGrid>
              <a:tr h="23241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常量名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84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MSG_LOGIN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客户端登录 / 加入游戏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MSG_MOVE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走子提交与广播确认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</a:tr>
              <a:tr h="220979">
                <a:tc>
                  <a:txBody>
                    <a:bodyPr/>
                    <a:lstStyle/>
                    <a:p>
                      <a:pPr algn="ctr" marL="2540">
                        <a:lnSpc>
                          <a:spcPts val="1270"/>
                        </a:lnSpc>
                        <a:spcBef>
                          <a:spcPts val="37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MSG_GAME_STATE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ctr" marL="73025">
                        <a:lnSpc>
                          <a:spcPts val="1270"/>
                        </a:lnSpc>
                        <a:spcBef>
                          <a:spcPts val="37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7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游戏状态变更通知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6990"/>
                </a:tc>
              </a:tr>
            </a:tbl>
          </a:graphicData>
        </a:graphic>
      </p:graphicFrame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182235" cy="2087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875"/>
                <a:gridCol w="1464945"/>
                <a:gridCol w="725805"/>
                <a:gridCol w="2466340"/>
              </a:tblGrid>
              <a:tr h="304165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MSG_ERROR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错误消息（含错误码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MSG_QUIT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客户端主动退出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MSG_GAME_OVER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游戏结束通知（含结果与原因码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8702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MSG_BOARD_STATE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→</a:t>
                      </a:r>
                      <a:r>
                        <a:rPr dirty="0" sz="1200" spc="22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完整棋盘同步（含当前走子方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15595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MSG_DRAW_REQUEST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提和 / 和棋响应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</a:tr>
              <a:tr h="30734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MSG_RESIGN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认输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</a:tr>
              <a:tr h="258445">
                <a:tc>
                  <a:txBody>
                    <a:bodyPr/>
                    <a:lstStyle/>
                    <a:p>
                      <a:pPr marL="206375">
                        <a:lnSpc>
                          <a:spcPts val="1405"/>
                        </a:lnSpc>
                        <a:spcBef>
                          <a:spcPts val="53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MSG_CHAT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405"/>
                        </a:lnSpc>
                        <a:spcBef>
                          <a:spcPts val="53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405"/>
                        </a:lnSpc>
                        <a:spcBef>
                          <a:spcPts val="53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文本聊天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1041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865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编</a:t>
            </a:r>
            <a:r>
              <a:rPr dirty="0" sz="1200" spc="-50" b="0">
                <a:latin typeface="Microsoft YaHei Light"/>
                <a:cs typeface="Microsoft YaHei Light"/>
              </a:rPr>
              <a:t>号</a:t>
            </a:r>
            <a:r>
              <a:rPr dirty="0" sz="1200" b="0">
                <a:latin typeface="Microsoft YaHei Light"/>
                <a:cs typeface="Microsoft YaHei Light"/>
              </a:rPr>
              <a:t>	常量</a:t>
            </a:r>
            <a:r>
              <a:rPr dirty="0" sz="1200" spc="-50" b="0">
                <a:latin typeface="Microsoft YaHei Light"/>
                <a:cs typeface="Microsoft YaHei Light"/>
              </a:rPr>
              <a:t>名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8383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方向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26298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说明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00000" y="4788584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87300" y="3238341"/>
            <a:ext cx="4749800" cy="206248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实现要求：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210" b="0">
                <a:latin typeface="Microsoft YaHei Light"/>
                <a:cs typeface="Microsoft YaHei Light"/>
              </a:rPr>
              <a:t>1–7</a:t>
            </a:r>
            <a:r>
              <a:rPr dirty="0" sz="1200" b="0">
                <a:latin typeface="Microsoft YaHei Light"/>
                <a:cs typeface="Microsoft YaHei Light"/>
              </a:rPr>
              <a:t> 为必须实现的核心消息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130" b="0">
                <a:latin typeface="Microsoft YaHei Light"/>
                <a:cs typeface="Microsoft YaHei Light"/>
              </a:rPr>
              <a:t>8–10</a:t>
            </a:r>
            <a:r>
              <a:rPr dirty="0" sz="1200" b="0">
                <a:latin typeface="Microsoft YaHei Light"/>
                <a:cs typeface="Microsoft YaHei Light"/>
              </a:rPr>
              <a:t> 为可选扩展，但必须能收到未知消息不崩溃（静默忽略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10" b="0">
                <a:latin typeface="Microsoft YaHei Light"/>
                <a:cs typeface="Microsoft YaHei Light"/>
              </a:rPr>
              <a:t>各组可在本地协议中使用 </a:t>
            </a:r>
            <a:r>
              <a:rPr dirty="0" sz="1200" spc="-20" b="0">
                <a:latin typeface="Microsoft YaHei Light"/>
                <a:cs typeface="Microsoft YaHei Light"/>
              </a:rPr>
              <a:t>100+</a:t>
            </a:r>
            <a:r>
              <a:rPr dirty="0" sz="1200" spc="-5" b="0">
                <a:latin typeface="Microsoft YaHei Light"/>
                <a:cs typeface="Microsoft YaHei Light"/>
              </a:rPr>
              <a:t> 的私有消息号，组间通信时不得发送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lvl="1" marL="546100" indent="-533400">
              <a:lnSpc>
                <a:spcPct val="100000"/>
              </a:lnSpc>
              <a:buClr>
                <a:srgbClr val="1E40AF"/>
              </a:buClr>
              <a:buFont typeface="Microsoft YaHei Light"/>
              <a:buAutoNum type="arabicPeriod" startAt="4"/>
              <a:tabLst>
                <a:tab pos="546100" algn="l"/>
              </a:tabLst>
            </a:pPr>
            <a:r>
              <a:rPr dirty="0" sz="1500" b="0">
                <a:solidFill>
                  <a:srgbClr val="1E40AF"/>
                </a:solidFill>
                <a:latin typeface="Microsoft YaHei Light"/>
                <a:cs typeface="Microsoft YaHei Light"/>
              </a:rPr>
              <a:t>B.4</a:t>
            </a:r>
            <a:r>
              <a:rPr dirty="0" sz="1500" spc="40" b="0">
                <a:solidFill>
                  <a:srgbClr val="1E40AF"/>
                </a:solidFill>
                <a:latin typeface="Microsoft YaHei Light"/>
                <a:cs typeface="Microsoft YaHei Light"/>
              </a:rPr>
              <a:t> 各消息详细格式</a:t>
            </a:r>
            <a:endParaRPr sz="1500">
              <a:latin typeface="Microsoft YaHei Light"/>
              <a:cs typeface="Microsoft YaHei Ligh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1E40AF"/>
              </a:buClr>
              <a:buFont typeface="Microsoft YaHei Light"/>
              <a:buAutoNum type="arabicPeriod" startAt="4"/>
            </a:pPr>
            <a:endParaRPr sz="1400">
              <a:latin typeface="Microsoft YaHei Light"/>
              <a:cs typeface="Microsoft YaHei Light"/>
            </a:endParaRPr>
          </a:p>
          <a:p>
            <a:pPr lvl="2" marL="640080" indent="-627380">
              <a:lnSpc>
                <a:spcPct val="100000"/>
              </a:lnSpc>
              <a:buClr>
                <a:srgbClr val="334155"/>
              </a:buClr>
              <a:buFont typeface="Microsoft YaHei Light"/>
              <a:buAutoNum type="arabicPeriod"/>
              <a:tabLst>
                <a:tab pos="640080" algn="l"/>
              </a:tabLst>
            </a:pP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1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10" b="0">
                <a:solidFill>
                  <a:srgbClr val="334155"/>
                </a:solidFill>
                <a:latin typeface="Microsoft YaHei Light"/>
                <a:cs typeface="Microsoft YaHei Light"/>
              </a:rPr>
              <a:t>MSG_LOGIN（1）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— 客户端登录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50" b="0">
                <a:latin typeface="Microsoft YaHei Light"/>
                <a:cs typeface="Microsoft YaHei Light"/>
              </a:rPr>
              <a:t>客户端 → 服务器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34</a:t>
            </a: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5430956"/>
          <a:ext cx="421894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506729"/>
                <a:gridCol w="772794"/>
                <a:gridCol w="1244600"/>
                <a:gridCol w="1081405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ts val="1270"/>
                        </a:lnSpc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playerName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858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gameId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&lt;playerName&gt;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858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&lt;gameId&gt;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896825" y="6197697"/>
          <a:ext cx="4481830" cy="107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694055"/>
                <a:gridCol w="558800"/>
                <a:gridCol w="2238374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必填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color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= 红方，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= 黑方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playerName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玩家昵称（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建议不含 </a:t>
                      </a:r>
                      <a:r>
                        <a:rPr dirty="0" sz="1050" spc="-25">
                          <a:latin typeface="Consolas"/>
                          <a:cs typeface="Consolas"/>
                        </a:rPr>
                        <a:t>|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2288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  <a:spcBef>
                          <a:spcPts val="39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指定游戏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ID；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空 = 自动匹配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887300" y="7390545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0">
                <a:latin typeface="Microsoft YaHei Light"/>
                <a:cs typeface="Microsoft YaHei Light"/>
              </a:rPr>
              <a:t>示例：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98094" y="7652799"/>
          <a:ext cx="4216400" cy="942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2434"/>
                <a:gridCol w="864235"/>
                <a:gridCol w="1152525"/>
                <a:gridCol w="1152525"/>
              </a:tblGrid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playerName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gameId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12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050" spc="-25">
                          <a:latin typeface="Microsoft JhengHei"/>
                          <a:cs typeface="Microsoft JhengHei"/>
                        </a:rPr>
                        <a:t>张三</a:t>
                      </a:r>
                      <a:endParaRPr sz="10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8255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8419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20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050" spc="-25">
                          <a:latin typeface="Microsoft JhengHei"/>
                          <a:cs typeface="Microsoft JhengHei"/>
                        </a:rPr>
                        <a:t>李四</a:t>
                      </a:r>
                      <a:endParaRPr sz="105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8255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a1b2c3d4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887300" y="8584979"/>
            <a:ext cx="4656455" cy="96075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行为约定：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为空时，服务器将客户端放入匹配池，凑齐双方后自动开局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gameId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spc="10" b="0">
                <a:latin typeface="Microsoft YaHei Light"/>
                <a:cs typeface="Microsoft YaHei Light"/>
              </a:rPr>
              <a:t>非空时，服务器查找指定游戏；若不存在则返回 </a:t>
            </a:r>
            <a:r>
              <a:rPr dirty="0" sz="1200" spc="-10" b="0">
                <a:latin typeface="Microsoft YaHei Light"/>
                <a:cs typeface="Microsoft YaHei Light"/>
              </a:rPr>
              <a:t>ERROR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SzPct val="114285"/>
              <a:buFont typeface="Microsoft YaHei Light"/>
              <a:buChar char="•"/>
              <a:tabLst>
                <a:tab pos="165100" algn="l"/>
              </a:tabLst>
            </a:pPr>
            <a:r>
              <a:rPr dirty="0" sz="1050">
                <a:latin typeface="Consolas"/>
                <a:cs typeface="Consolas"/>
              </a:rPr>
              <a:t>color</a:t>
            </a:r>
            <a:r>
              <a:rPr dirty="0" sz="1050" spc="20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为客户端偏好，服务器可覆盖（如先到先得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6825" y="1499303"/>
            <a:ext cx="4614545" cy="0"/>
          </a:xfrm>
          <a:custGeom>
            <a:avLst/>
            <a:gdLst/>
            <a:ahLst/>
            <a:cxnLst/>
            <a:rect l="l" t="t" r="r" b="b"/>
            <a:pathLst>
              <a:path w="4614545" h="0">
                <a:moveTo>
                  <a:pt x="0" y="0"/>
                </a:moveTo>
                <a:lnTo>
                  <a:pt x="46143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87300" y="727064"/>
            <a:ext cx="4713605" cy="2445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16.4.2.</a:t>
            </a:r>
            <a:r>
              <a:rPr dirty="0" sz="1300" spc="-2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75" b="0">
                <a:solidFill>
                  <a:srgbClr val="334155"/>
                </a:solidFill>
                <a:latin typeface="Microsoft YaHei Light"/>
                <a:cs typeface="Microsoft YaHei Light"/>
              </a:rPr>
              <a:t>MSG_MOVE（2）</a:t>
            </a:r>
            <a:r>
              <a:rPr dirty="0" sz="1300" spc="-5" b="0">
                <a:solidFill>
                  <a:srgbClr val="334155"/>
                </a:solidFill>
                <a:latin typeface="Microsoft YaHei Light"/>
                <a:cs typeface="Microsoft YaHei Light"/>
              </a:rPr>
              <a:t>— 走子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55" b="0">
                <a:latin typeface="Microsoft YaHei Light"/>
                <a:cs typeface="Microsoft YaHei Light"/>
              </a:rPr>
              <a:t>客户端 → 服务器</a:t>
            </a:r>
            <a:r>
              <a:rPr dirty="0" sz="1200" b="0">
                <a:latin typeface="Microsoft YaHei Light"/>
                <a:cs typeface="Microsoft YaHei Light"/>
              </a:rPr>
              <a:t>（走子请求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51435">
              <a:lnSpc>
                <a:spcPct val="100000"/>
              </a:lnSpc>
              <a:spcBef>
                <a:spcPts val="960"/>
              </a:spcBef>
              <a:tabLst>
                <a:tab pos="725805" algn="l"/>
                <a:tab pos="1187450" algn="l"/>
              </a:tabLst>
            </a:pPr>
            <a:r>
              <a:rPr dirty="0" sz="1200" spc="-10" b="0">
                <a:latin typeface="Microsoft YaHei Light"/>
                <a:cs typeface="Microsoft YaHei Light"/>
              </a:rPr>
              <a:t>msgType</a:t>
            </a:r>
            <a:r>
              <a:rPr dirty="0" sz="1200" b="0">
                <a:latin typeface="Microsoft YaHei Light"/>
                <a:cs typeface="Microsoft YaHei Light"/>
              </a:rPr>
              <a:t>	</a:t>
            </a:r>
            <a:r>
              <a:rPr dirty="0" sz="1200" spc="30" b="0">
                <a:latin typeface="Microsoft YaHei Light"/>
                <a:cs typeface="Microsoft YaHei Light"/>
              </a:rPr>
              <a:t>len</a:t>
            </a:r>
            <a:r>
              <a:rPr dirty="0" sz="1200" b="0">
                <a:latin typeface="Microsoft YaHei Light"/>
                <a:cs typeface="Microsoft YaHei Light"/>
              </a:rPr>
              <a:t>	source</a:t>
            </a:r>
            <a:r>
              <a:rPr dirty="0" sz="1200" spc="245" b="0">
                <a:latin typeface="Microsoft YaHei Light"/>
                <a:cs typeface="Microsoft YaHei Light"/>
              </a:rPr>
              <a:t> </a:t>
            </a:r>
            <a:r>
              <a:rPr dirty="0" sz="1200" spc="55" b="0">
                <a:latin typeface="Microsoft YaHei Light"/>
                <a:cs typeface="Microsoft YaHei Light"/>
              </a:rPr>
              <a:t>destination</a:t>
            </a:r>
            <a:r>
              <a:rPr dirty="0" sz="1200" spc="135" b="0">
                <a:latin typeface="Microsoft YaHei Light"/>
                <a:cs typeface="Microsoft YaHei Light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type</a:t>
            </a:r>
            <a:r>
              <a:rPr dirty="0" sz="1200" spc="100" b="0">
                <a:latin typeface="Microsoft YaHei Light"/>
                <a:cs typeface="Microsoft YaHei Light"/>
              </a:rPr>
              <a:t> </a:t>
            </a:r>
            <a:r>
              <a:rPr dirty="0" sz="1200" spc="-10" b="0">
                <a:latin typeface="Microsoft YaHei Light"/>
                <a:cs typeface="Microsoft YaHei Light"/>
              </a:rPr>
              <a:t>turnStartTimiesFlipOnly</a:t>
            </a:r>
            <a:endParaRPr sz="1200">
              <a:latin typeface="Microsoft YaHei Light"/>
              <a:cs typeface="Microsoft YaHei Light"/>
            </a:endParaRPr>
          </a:p>
          <a:p>
            <a:pPr marL="281940">
              <a:lnSpc>
                <a:spcPct val="100000"/>
              </a:lnSpc>
              <a:spcBef>
                <a:spcPts val="980"/>
              </a:spcBef>
              <a:tabLst>
                <a:tab pos="657225" algn="l"/>
              </a:tabLst>
            </a:pPr>
            <a:r>
              <a:rPr dirty="0" sz="1050" spc="-50">
                <a:latin typeface="Consolas"/>
                <a:cs typeface="Consolas"/>
              </a:rPr>
              <a:t>2</a:t>
            </a:r>
            <a:r>
              <a:rPr dirty="0" sz="1050">
                <a:latin typeface="Consolas"/>
                <a:cs typeface="Consolas"/>
              </a:rPr>
              <a:t>	&lt;len&gt;</a:t>
            </a:r>
            <a:r>
              <a:rPr dirty="0" sz="1050" spc="195">
                <a:latin typeface="Consolas"/>
                <a:cs typeface="Consolas"/>
              </a:rPr>
              <a:t> </a:t>
            </a:r>
            <a:r>
              <a:rPr dirty="0" sz="1050" spc="-5">
                <a:latin typeface="Consolas"/>
                <a:cs typeface="Consolas"/>
              </a:rPr>
              <a:t>&lt;source</a:t>
            </a:r>
            <a:r>
              <a:rPr dirty="0" sz="1050" spc="-400">
                <a:latin typeface="Consolas"/>
                <a:cs typeface="Consolas"/>
              </a:rPr>
              <a:t>&gt;</a:t>
            </a:r>
            <a:r>
              <a:rPr dirty="0" sz="1050" spc="-5">
                <a:latin typeface="Consolas"/>
                <a:cs typeface="Consolas"/>
              </a:rPr>
              <a:t>&lt;destination</a:t>
            </a:r>
            <a:r>
              <a:rPr dirty="0" sz="1050" spc="-530">
                <a:latin typeface="Consolas"/>
                <a:cs typeface="Consolas"/>
              </a:rPr>
              <a:t>&gt;</a:t>
            </a:r>
            <a:r>
              <a:rPr dirty="0" sz="1050" spc="-5">
                <a:latin typeface="Consolas"/>
                <a:cs typeface="Consolas"/>
              </a:rPr>
              <a:t>&lt;type</a:t>
            </a:r>
            <a:r>
              <a:rPr dirty="0" sz="1050" spc="-540">
                <a:latin typeface="Consolas"/>
                <a:cs typeface="Consolas"/>
              </a:rPr>
              <a:t>&gt;</a:t>
            </a:r>
            <a:r>
              <a:rPr dirty="0" sz="1050" spc="-5">
                <a:latin typeface="Consolas"/>
                <a:cs typeface="Consolas"/>
              </a:rPr>
              <a:t>&lt;turnStartTi</a:t>
            </a:r>
            <a:r>
              <a:rPr dirty="0" sz="1050" spc="-409">
                <a:latin typeface="Consolas"/>
                <a:cs typeface="Consolas"/>
              </a:rPr>
              <a:t>m</a:t>
            </a:r>
            <a:r>
              <a:rPr dirty="0" sz="1050" spc="-180">
                <a:latin typeface="Consolas"/>
                <a:cs typeface="Consolas"/>
              </a:rPr>
              <a:t>&lt;</a:t>
            </a:r>
            <a:r>
              <a:rPr dirty="0" sz="1050" spc="-409">
                <a:latin typeface="Consolas"/>
                <a:cs typeface="Consolas"/>
              </a:rPr>
              <a:t>e</a:t>
            </a:r>
            <a:r>
              <a:rPr dirty="0" sz="1050" spc="-180">
                <a:latin typeface="Consolas"/>
                <a:cs typeface="Consolas"/>
              </a:rPr>
              <a:t>i</a:t>
            </a:r>
            <a:r>
              <a:rPr dirty="0" sz="1050" spc="-409">
                <a:latin typeface="Consolas"/>
                <a:cs typeface="Consolas"/>
              </a:rPr>
              <a:t>&gt;</a:t>
            </a:r>
            <a:r>
              <a:rPr dirty="0" sz="1050" spc="-5">
                <a:latin typeface="Consolas"/>
                <a:cs typeface="Consolas"/>
              </a:rPr>
              <a:t>sFlipOnly&gt;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65" b="0">
                <a:latin typeface="Microsoft YaHei Light"/>
                <a:cs typeface="Microsoft YaHei Light"/>
              </a:rPr>
              <a:t>服务器 → 双方</a:t>
            </a:r>
            <a:r>
              <a:rPr dirty="0" sz="1200" b="0">
                <a:latin typeface="Microsoft YaHei Light"/>
                <a:cs typeface="Microsoft YaHei Light"/>
              </a:rPr>
              <a:t>（广播确认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格式同上，服务器在广播前完成：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合法性校验（着法规则 + 路径有效性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将军检测（走子后己方不能处于被将状态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spc="10" b="0">
                <a:latin typeface="Microsoft YaHei Light"/>
                <a:cs typeface="Microsoft YaHei Light"/>
              </a:rPr>
              <a:t>若暗子首次翻开，用服务器预生成类型覆盖 </a:t>
            </a:r>
            <a:r>
              <a:rPr dirty="0" sz="1050" spc="-20">
                <a:latin typeface="Consolas"/>
                <a:cs typeface="Consolas"/>
              </a:rPr>
              <a:t>type</a:t>
            </a:r>
            <a:endParaRPr sz="1050"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41300" algn="l"/>
              </a:tabLst>
            </a:pPr>
            <a:r>
              <a:rPr dirty="0" sz="1200" spc="20" b="0">
                <a:latin typeface="Microsoft YaHei Light"/>
                <a:cs typeface="Microsoft YaHei Light"/>
              </a:rPr>
              <a:t>用服务器当前时间覆盖 </a:t>
            </a:r>
            <a:r>
              <a:rPr dirty="0" sz="1050" spc="-10">
                <a:latin typeface="Consolas"/>
                <a:cs typeface="Consolas"/>
              </a:rPr>
              <a:t>turnStartTime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3302834"/>
          <a:ext cx="5766435" cy="1934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774700"/>
                <a:gridCol w="639444"/>
                <a:gridCol w="314261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必填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source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原坐标，如 </a:t>
                      </a:r>
                      <a:r>
                        <a:rPr dirty="0" sz="1050" spc="-20">
                          <a:latin typeface="Consolas"/>
                          <a:cs typeface="Consolas"/>
                        </a:rPr>
                        <a:t>"b3"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destination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目标坐标，如 </a:t>
                      </a:r>
                      <a:r>
                        <a:rPr dirty="0" sz="1050" spc="-20">
                          <a:latin typeface="Consolas"/>
                          <a:cs typeface="Consolas"/>
                        </a:rPr>
                        <a:t>"b4"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53403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type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int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或空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条件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7000" marR="187960">
                        <a:lnSpc>
                          <a:spcPts val="1839"/>
                        </a:lnSpc>
                        <a:spcBef>
                          <a:spcPts val="114"/>
                        </a:spcBef>
                      </a:pP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暗子翻开时由服务器填入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0–6；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否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则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为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空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字符串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4604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turnStartTime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long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否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客户端时间戳，服务器忽略并覆盖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425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isFlipOnly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370"/>
                        </a:lnSpc>
                        <a:spcBef>
                          <a:spcPts val="4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5" b="0">
                          <a:latin typeface="Microsoft YaHei Light"/>
                          <a:cs typeface="Microsoft YaHei Light"/>
                        </a:rPr>
                        <a:t>= 原地翻子，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= 普通移动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5344161"/>
            <a:ext cx="406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85" b="0">
                <a:latin typeface="Microsoft YaHei Light"/>
                <a:cs typeface="Microsoft YaHei Light"/>
              </a:rPr>
              <a:t>示例: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8094" y="5606416"/>
          <a:ext cx="6048375" cy="2631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2434"/>
                <a:gridCol w="821690"/>
                <a:gridCol w="784860"/>
                <a:gridCol w="632460"/>
                <a:gridCol w="864869"/>
                <a:gridCol w="748665"/>
                <a:gridCol w="1152525"/>
              </a:tblGrid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source</a:t>
                      </a:r>
                      <a:r>
                        <a:rPr dirty="0" sz="1200" spc="21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75" b="0">
                          <a:latin typeface="Microsoft YaHei Light"/>
                          <a:cs typeface="Microsoft YaHei Light"/>
                        </a:rPr>
                        <a:t>de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stination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</a:t>
                      </a:r>
                      <a:r>
                        <a:rPr dirty="0" sz="1200" spc="114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tu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rnStartTim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iesFlipOnly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2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9461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946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9461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b1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778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5778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b3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2159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正常走子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algn="ctr" marL="80645" marR="73025">
                        <a:lnSpc>
                          <a:spcPct val="1278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（type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 为空，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turnStartTime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占位 =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0）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2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9461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a0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778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a0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2159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149225" indent="-3810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原地翻子 </a:t>
                      </a:r>
                      <a:r>
                        <a:rPr dirty="0" sz="1200" spc="-75" b="0">
                          <a:latin typeface="Microsoft YaHei Light"/>
                          <a:cs typeface="Microsoft YaHei Light"/>
                        </a:rPr>
                        <a:t>a0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位置的暗子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2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20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946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9461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c4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77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57785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e4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850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8509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1700000000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1590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翻出类型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algn="r" marL="194945" marR="187325" indent="-76200">
                        <a:lnSpc>
                          <a:spcPct val="1278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（炮</a:t>
                      </a:r>
                      <a:r>
                        <a:rPr dirty="0" sz="1200" spc="-6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，时间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戳会被覆盖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896825" y="9318338"/>
            <a:ext cx="4542790" cy="0"/>
          </a:xfrm>
          <a:custGeom>
            <a:avLst/>
            <a:gdLst/>
            <a:ahLst/>
            <a:cxnLst/>
            <a:rect l="l" t="t" r="r" b="b"/>
            <a:pathLst>
              <a:path w="4542790" h="0">
                <a:moveTo>
                  <a:pt x="0" y="0"/>
                </a:moveTo>
                <a:lnTo>
                  <a:pt x="454234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87300" y="8342859"/>
            <a:ext cx="4458970" cy="1202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16.4.3.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6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40" b="0">
                <a:solidFill>
                  <a:srgbClr val="334155"/>
                </a:solidFill>
                <a:latin typeface="Microsoft YaHei Light"/>
                <a:cs typeface="Microsoft YaHei Light"/>
              </a:rPr>
              <a:t>MSG_GAME_STATE（3）</a:t>
            </a:r>
            <a:r>
              <a:rPr dirty="0" sz="1300" spc="5" b="0">
                <a:solidFill>
                  <a:srgbClr val="334155"/>
                </a:solidFill>
                <a:latin typeface="Microsoft YaHei Light"/>
                <a:cs typeface="Microsoft YaHei Light"/>
              </a:rPr>
              <a:t>— 游戏状态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仅服务器 → 客户端，通过首个字段区分子类型。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85" b="0">
                <a:latin typeface="Microsoft YaHei Light"/>
                <a:cs typeface="Microsoft YaHei Light"/>
              </a:rPr>
              <a:t>子类型 </a:t>
            </a:r>
            <a:r>
              <a:rPr dirty="0" sz="1200" spc="-95" b="0">
                <a:latin typeface="Microsoft YaHei Light"/>
                <a:cs typeface="Microsoft YaHei Light"/>
              </a:rPr>
              <a:t>1：LOGIN_ACK（</a:t>
            </a:r>
            <a:r>
              <a:rPr dirty="0" sz="1200" b="0">
                <a:latin typeface="Microsoft YaHei Light"/>
                <a:cs typeface="Microsoft YaHei Light"/>
              </a:rPr>
              <a:t>登录确认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51435">
              <a:lnSpc>
                <a:spcPct val="100000"/>
              </a:lnSpc>
              <a:spcBef>
                <a:spcPts val="960"/>
              </a:spcBef>
              <a:tabLst>
                <a:tab pos="725805" algn="l"/>
                <a:tab pos="1293495" algn="l"/>
                <a:tab pos="2286000" algn="l"/>
              </a:tabLst>
            </a:pPr>
            <a:r>
              <a:rPr dirty="0" sz="1200" spc="-10" b="0">
                <a:latin typeface="Microsoft YaHei Light"/>
                <a:cs typeface="Microsoft YaHei Light"/>
              </a:rPr>
              <a:t>msgType</a:t>
            </a:r>
            <a:r>
              <a:rPr dirty="0" sz="1200" b="0">
                <a:latin typeface="Microsoft YaHei Light"/>
                <a:cs typeface="Microsoft YaHei Light"/>
              </a:rPr>
              <a:t>	</a:t>
            </a:r>
            <a:r>
              <a:rPr dirty="0" sz="1200" spc="30" b="0">
                <a:latin typeface="Microsoft YaHei Light"/>
                <a:cs typeface="Microsoft YaHei Light"/>
              </a:rPr>
              <a:t>len</a:t>
            </a:r>
            <a:r>
              <a:rPr dirty="0" sz="1200" b="0">
                <a:latin typeface="Microsoft YaHei Light"/>
                <a:cs typeface="Microsoft YaHei Light"/>
              </a:rPr>
              <a:t>	</a:t>
            </a:r>
            <a:r>
              <a:rPr dirty="0" sz="1200" spc="-10" b="0">
                <a:latin typeface="Microsoft YaHei Light"/>
                <a:cs typeface="Microsoft YaHei Light"/>
              </a:rPr>
              <a:t>subType</a:t>
            </a:r>
            <a:r>
              <a:rPr dirty="0" sz="1200" b="0">
                <a:latin typeface="Microsoft YaHei Light"/>
                <a:cs typeface="Microsoft YaHei Light"/>
              </a:rPr>
              <a:t>	</a:t>
            </a:r>
            <a:r>
              <a:rPr dirty="0" sz="1200" spc="-40" b="0">
                <a:latin typeface="Microsoft YaHei Light"/>
                <a:cs typeface="Microsoft YaHei Light"/>
              </a:rPr>
              <a:t>gameId</a:t>
            </a:r>
            <a:r>
              <a:rPr dirty="0" sz="1200" spc="465" b="0">
                <a:latin typeface="Microsoft YaHei Light"/>
                <a:cs typeface="Microsoft YaHei Light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assignedColor</a:t>
            </a:r>
            <a:r>
              <a:rPr dirty="0" sz="1200" spc="100" b="0">
                <a:latin typeface="Microsoft YaHei Light"/>
                <a:cs typeface="Microsoft YaHei Light"/>
              </a:rPr>
              <a:t> </a:t>
            </a:r>
            <a:r>
              <a:rPr dirty="0" sz="1200" spc="65" b="0">
                <a:latin typeface="Microsoft YaHei Light"/>
                <a:cs typeface="Microsoft YaHei Light"/>
              </a:rPr>
              <a:t>status</a:t>
            </a:r>
            <a:endParaRPr sz="1200">
              <a:latin typeface="Microsoft YaHei Light"/>
              <a:cs typeface="Microsoft YaHei Light"/>
            </a:endParaRPr>
          </a:p>
          <a:p>
            <a:pPr marL="281940">
              <a:lnSpc>
                <a:spcPct val="100000"/>
              </a:lnSpc>
              <a:spcBef>
                <a:spcPts val="980"/>
              </a:spcBef>
              <a:tabLst>
                <a:tab pos="657225" algn="l"/>
                <a:tab pos="1230630" algn="l"/>
                <a:tab pos="2221230" algn="l"/>
              </a:tabLst>
            </a:pPr>
            <a:r>
              <a:rPr dirty="0" sz="1050" spc="-50">
                <a:latin typeface="Consolas"/>
                <a:cs typeface="Consolas"/>
              </a:rPr>
              <a:t>3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&lt;len&gt;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LOGIN_ACK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20">
                <a:latin typeface="Consolas"/>
                <a:cs typeface="Consolas"/>
              </a:rPr>
              <a:t>&lt;gameId&gt;&lt;assignedColor&gt;&lt;status&gt;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36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866813"/>
          <a:ext cx="3976370" cy="1393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310"/>
                <a:gridCol w="276606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LOGIN_ACK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固定字面量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分配的游戏 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ID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200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assignedColor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服务器分配的阵营（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= 红，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= 黑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status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4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WAITING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或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PLAYING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318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887300" y="2346681"/>
            <a:ext cx="2463800" cy="432434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200" spc="25" b="0">
                <a:latin typeface="Microsoft YaHei Light"/>
                <a:cs typeface="Microsoft YaHei Light"/>
              </a:rPr>
              <a:t>服务器收到 </a:t>
            </a:r>
            <a:r>
              <a:rPr dirty="0" sz="1200" spc="-105" b="0">
                <a:latin typeface="Microsoft YaHei Light"/>
                <a:cs typeface="Microsoft YaHei Light"/>
              </a:rPr>
              <a:t>LOGIN</a:t>
            </a:r>
            <a:r>
              <a:rPr dirty="0" sz="1200" spc="10" b="0">
                <a:latin typeface="Microsoft YaHei Light"/>
                <a:cs typeface="Microsoft YaHei Light"/>
              </a:rPr>
              <a:t> 后立即回复。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75" b="0">
                <a:latin typeface="Microsoft YaHei Light"/>
                <a:cs typeface="Microsoft YaHei Light"/>
              </a:rPr>
              <a:t>子类型 </a:t>
            </a:r>
            <a:r>
              <a:rPr dirty="0" sz="1200" spc="-125" b="0">
                <a:latin typeface="Microsoft YaHei Light"/>
                <a:cs typeface="Microsoft YaHei Light"/>
              </a:rPr>
              <a:t>2：GAME_START（</a:t>
            </a:r>
            <a:r>
              <a:rPr dirty="0" sz="1200" b="0">
                <a:latin typeface="Microsoft YaHei Light"/>
                <a:cs typeface="Microsoft YaHei Light"/>
              </a:rPr>
              <a:t>开局广播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2909251"/>
          <a:ext cx="328549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506095"/>
                <a:gridCol w="900430"/>
                <a:gridCol w="1268730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937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subType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firstMoveColor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937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GAME_START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&lt;firstMoveColor&gt;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6825" y="3603993"/>
          <a:ext cx="2452370" cy="779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335"/>
                <a:gridCol w="1168400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GAME_START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固定字面量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firstMoveColor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= 红方先手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87300" y="4469101"/>
            <a:ext cx="4140200" cy="4324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双方到齐且棋盘初始化后广播。客户端收到后进入对弈状态。</a:t>
            </a:r>
            <a:r>
              <a:rPr dirty="0" sz="1200" spc="85" b="0">
                <a:latin typeface="Microsoft YaHei Light"/>
                <a:cs typeface="Microsoft YaHei Light"/>
              </a:rPr>
              <a:t>子类型 </a:t>
            </a:r>
            <a:r>
              <a:rPr dirty="0" sz="1200" spc="-160" b="0">
                <a:latin typeface="Microsoft YaHei Light"/>
                <a:cs typeface="Microsoft YaHei Light"/>
              </a:rPr>
              <a:t>3：TURN_CHANGE（</a:t>
            </a:r>
            <a:r>
              <a:rPr dirty="0" sz="1200" b="0">
                <a:latin typeface="Microsoft YaHei Light"/>
                <a:cs typeface="Microsoft YaHei Light"/>
              </a:rPr>
              <a:t>回合切换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5031671"/>
          <a:ext cx="335915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87679"/>
                <a:gridCol w="899794"/>
                <a:gridCol w="1360169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subType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currentTurnColor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TURN_CHANGE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&lt;currentTurnColor&gt;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5570322"/>
            <a:ext cx="2921000" cy="4324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每次合法走子后广播，通知当前轮到谁走。</a:t>
            </a:r>
            <a:r>
              <a:rPr dirty="0" sz="1200" spc="-10" b="0">
                <a:latin typeface="Microsoft YaHei Light"/>
                <a:cs typeface="Microsoft YaHei Light"/>
              </a:rPr>
              <a:t>状态值枚举：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995250" y="6132892"/>
          <a:ext cx="189230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/>
                <a:gridCol w="1073149"/>
              </a:tblGrid>
              <a:tr h="229870">
                <a:tc>
                  <a:txBody>
                    <a:bodyPr/>
                    <a:lstStyle/>
                    <a:p>
                      <a:pPr marL="31750">
                        <a:lnSpc>
                          <a:spcPts val="109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WAITING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等待对手加入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PLAYING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对弈进行中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RED_WIN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红方获胜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BLACK_WIN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黑方获胜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20">
                          <a:latin typeface="Consolas"/>
                          <a:cs typeface="Consolas"/>
                        </a:rPr>
                        <a:t>DRAW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TIMEOUT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超时判负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887300" y="8005060"/>
            <a:ext cx="321183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16.4.4.</a:t>
            </a:r>
            <a:r>
              <a:rPr dirty="0" sz="1300" spc="-2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1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40" b="0">
                <a:solidFill>
                  <a:srgbClr val="334155"/>
                </a:solidFill>
                <a:latin typeface="Microsoft YaHei Light"/>
                <a:cs typeface="Microsoft YaHei Light"/>
              </a:rPr>
              <a:t>MSG_ERROR（4）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— 错误消息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40" b="0">
                <a:latin typeface="Microsoft YaHei Light"/>
                <a:cs typeface="Microsoft YaHei Light"/>
              </a:rPr>
              <a:t>仅服务器 → 客户端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896825" y="8544731"/>
          <a:ext cx="371475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3704"/>
                <a:gridCol w="972184"/>
                <a:gridCol w="1697989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588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errorCode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errorDescription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588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&lt;errorCode&gt;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&lt;errorDescription&gt;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896825" y="9239473"/>
          <a:ext cx="3364229" cy="459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3480"/>
                <a:gridCol w="219011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errorCode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3540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整数错误码（见下表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37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3364229" cy="22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/>
                <a:gridCol w="1933575"/>
              </a:tblGrid>
              <a:tr h="22669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errorDescription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人类可读的中文错误描述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143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字段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41363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说明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7300" y="1444902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错误码表：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6825" y="1783873"/>
          <a:ext cx="2876550" cy="5069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2314575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含义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未知错误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101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非法着法（棋子移动规则违反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移动路径被阻挡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同色吃子（目标为己方棋子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蹩马腿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塞象眼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走子后己方被将军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不是你的回合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游戏未在进行中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109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暗子已翻开，不可重复翻子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110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源位置无棋子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111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消息格式错误（帧解析失败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112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重复登录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游戏房间不存在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游戏房间已满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marL="16827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所选颜色已被占用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87300" y="7037218"/>
            <a:ext cx="279908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16.4.5.</a:t>
            </a: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29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10" b="0">
                <a:solidFill>
                  <a:srgbClr val="334155"/>
                </a:solidFill>
                <a:latin typeface="Microsoft YaHei Light"/>
                <a:cs typeface="Microsoft YaHei Light"/>
              </a:rPr>
              <a:t>MSG_QUIT（5）</a:t>
            </a:r>
            <a:r>
              <a:rPr dirty="0" sz="1300" spc="10" b="0">
                <a:solidFill>
                  <a:srgbClr val="334155"/>
                </a:solidFill>
                <a:latin typeface="Microsoft YaHei Light"/>
                <a:cs typeface="Microsoft YaHei Light"/>
              </a:rPr>
              <a:t>— 退出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50" b="0">
                <a:latin typeface="Microsoft YaHei Light"/>
                <a:cs typeface="Microsoft YaHei Light"/>
              </a:rPr>
              <a:t>客户端 → 服务器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7576888"/>
          <a:ext cx="10509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8784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5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887300" y="8057509"/>
            <a:ext cx="4292600" cy="7556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200" spc="25" b="0">
                <a:latin typeface="Microsoft YaHei Light"/>
                <a:cs typeface="Microsoft YaHei Light"/>
              </a:rPr>
              <a:t>服务器收到后：退出方判负 → 广播 </a:t>
            </a:r>
            <a:r>
              <a:rPr dirty="0" sz="1200" spc="-175" b="0">
                <a:latin typeface="Microsoft YaHei Light"/>
                <a:cs typeface="Microsoft YaHei Light"/>
              </a:rPr>
              <a:t>GAME_OVER</a:t>
            </a:r>
            <a:r>
              <a:rPr dirty="0" sz="1200" spc="45" b="0">
                <a:latin typeface="Microsoft YaHei Light"/>
                <a:cs typeface="Microsoft YaHei Light"/>
              </a:rPr>
              <a:t> → 关闭连接。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16.4.6.</a:t>
            </a: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3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60" b="0">
                <a:solidFill>
                  <a:srgbClr val="334155"/>
                </a:solidFill>
                <a:latin typeface="Microsoft YaHei Light"/>
                <a:cs typeface="Microsoft YaHei Light"/>
              </a:rPr>
              <a:t>MSG_GAME_OVER（6）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— 游戏结束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40" b="0">
                <a:latin typeface="Microsoft YaHei Light"/>
                <a:cs typeface="Microsoft YaHei Light"/>
              </a:rPr>
              <a:t>仅服务器 → 客户端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96825" y="8943371"/>
          <a:ext cx="407479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52754"/>
                <a:gridCol w="666115"/>
                <a:gridCol w="917575"/>
                <a:gridCol w="1428114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winner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reasonCode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reasonDescription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&lt;winner&gt;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&lt;reasonCode&gt;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&lt;reasonDescription&gt;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38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866813"/>
          <a:ext cx="4653280" cy="107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3680"/>
                <a:gridCol w="694055"/>
                <a:gridCol w="2455544"/>
              </a:tblGrid>
              <a:tr h="232410">
                <a:tc>
                  <a:txBody>
                    <a:bodyPr/>
                    <a:lstStyle/>
                    <a:p>
                      <a:pPr marL="130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字段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winner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= 红胜，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= 黑胜，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-1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= 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reasonCode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int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结束原因码（见下表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2987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reasonDescription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String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人类可读的原因描述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887300" y="2059661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0">
                <a:latin typeface="Microsoft YaHei Light"/>
                <a:cs typeface="Microsoft YaHei Light"/>
              </a:rPr>
              <a:t>示例：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8094" y="2321916"/>
          <a:ext cx="4072254" cy="193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2434"/>
                <a:gridCol w="720725"/>
                <a:gridCol w="864869"/>
                <a:gridCol w="1440815"/>
              </a:tblGrid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winner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reasonCode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reasonDescription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27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3255" marR="178435" indent="-45720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红方将死黑方获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-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7055" marR="121285" indent="-36195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 回合无吃子，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44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3255" marR="178435" indent="-457200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黑方认输，红方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4292639"/>
            <a:ext cx="1244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游戏结束原因码：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6825" y="4631609"/>
          <a:ext cx="5766435" cy="3458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/>
                <a:gridCol w="1549400"/>
                <a:gridCol w="939800"/>
                <a:gridCol w="2715260"/>
              </a:tblGrid>
              <a:tr h="232410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编码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原因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胜方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将死 (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Checkmate)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被将军且无任何合法着法可解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困毙 (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Stalemate)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未被将军但无任何合法着法可走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超时 (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Timeout)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单步超过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65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秒未走子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65" b="0">
                          <a:latin typeface="Microsoft YaHei Light"/>
                          <a:cs typeface="Microsoft YaHei Light"/>
                        </a:rPr>
                        <a:t>认输 (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Resign)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主动认输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断线 (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Disconnect)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对手断开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连接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吃将获胜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吃将方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对方未应将，己方直接吃掉将/帅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（作业明确允许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 回合无吃子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无（和棋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连续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80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个半步无吃子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将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长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捉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判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对方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同局面重复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15" b="0">
                          <a:latin typeface="Microsoft YaHei Light"/>
                          <a:cs typeface="Microsoft YaHei Light"/>
                        </a:rPr>
                        <a:t> 次，且非兵卒长捉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兵卒长捉和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无（和棋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兵卒长捉导致局面重复 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≥6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次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229870">
                <a:tc>
                  <a:txBody>
                    <a:bodyPr/>
                    <a:lstStyle/>
                    <a:p>
                      <a:pPr algn="ctr" marL="254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协议和棋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4318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无（和棋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双方同意和棋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87300" y="8274396"/>
            <a:ext cx="3707129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30" b="0">
                <a:solidFill>
                  <a:srgbClr val="334155"/>
                </a:solidFill>
                <a:latin typeface="Microsoft YaHei Light"/>
                <a:cs typeface="Microsoft YaHei Light"/>
              </a:rPr>
              <a:t>16.4.7.</a:t>
            </a: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2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35" b="0">
                <a:solidFill>
                  <a:srgbClr val="334155"/>
                </a:solidFill>
                <a:latin typeface="Microsoft YaHei Light"/>
                <a:cs typeface="Microsoft YaHei Light"/>
              </a:rPr>
              <a:t>MSG_BOARD_STATE（7）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— 棋盘同步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40" b="0">
                <a:latin typeface="Microsoft YaHei Light"/>
                <a:cs typeface="Microsoft YaHei Light"/>
              </a:rPr>
              <a:t>仅服务器 → 客户端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8814067"/>
          <a:ext cx="408432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06400"/>
                <a:gridCol w="1025524"/>
                <a:gridCol w="2041525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 marR="317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556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currentTurn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7475">
                        <a:lnSpc>
                          <a:spcPts val="1270"/>
                        </a:lnSpc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rows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7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&lt;currentTurn&gt;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1747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&lt;row0&gt;|&lt;row1&gt;|...|&lt;row9&gt;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887300" y="9322237"/>
            <a:ext cx="5245735" cy="4933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棋盘行编码：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120" b="0">
                <a:latin typeface="Microsoft YaHei Light"/>
                <a:cs typeface="Microsoft YaHei Light"/>
              </a:rPr>
              <a:t>共 </a:t>
            </a:r>
            <a:r>
              <a:rPr dirty="0" sz="1200" b="0">
                <a:latin typeface="Microsoft YaHei Light"/>
                <a:cs typeface="Microsoft YaHei Light"/>
              </a:rPr>
              <a:t>10</a:t>
            </a:r>
            <a:r>
              <a:rPr dirty="0" sz="1200" spc="95" b="0">
                <a:latin typeface="Microsoft YaHei Light"/>
                <a:cs typeface="Microsoft YaHei Light"/>
              </a:rPr>
              <a:t> 行，以 </a:t>
            </a:r>
            <a:r>
              <a:rPr dirty="0" sz="1050">
                <a:latin typeface="Consolas"/>
                <a:cs typeface="Consolas"/>
              </a:rPr>
              <a:t>|</a:t>
            </a:r>
            <a:r>
              <a:rPr dirty="0" sz="1050" spc="25">
                <a:latin typeface="Consolas"/>
                <a:cs typeface="Consolas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分隔（</a:t>
            </a:r>
            <a:r>
              <a:rPr dirty="0" sz="1200" spc="120" b="0">
                <a:latin typeface="Microsoft YaHei Light"/>
                <a:cs typeface="Microsoft YaHei Light"/>
              </a:rPr>
              <a:t>与 </a:t>
            </a:r>
            <a:r>
              <a:rPr dirty="0" sz="1050">
                <a:latin typeface="Consolas"/>
                <a:cs typeface="Consolas"/>
              </a:rPr>
              <a:t>currentTurn</a:t>
            </a:r>
            <a:r>
              <a:rPr dirty="0" sz="1050" spc="30">
                <a:latin typeface="Consolas"/>
                <a:cs typeface="Consolas"/>
              </a:rPr>
              <a:t> </a:t>
            </a:r>
            <a:r>
              <a:rPr dirty="0" sz="1200" spc="80" b="0">
                <a:latin typeface="Microsoft YaHei Light"/>
                <a:cs typeface="Microsoft YaHei Light"/>
              </a:rPr>
              <a:t>组成 </a:t>
            </a:r>
            <a:r>
              <a:rPr dirty="0" sz="1200" spc="130" b="0">
                <a:latin typeface="Microsoft YaHei Light"/>
                <a:cs typeface="Microsoft YaHei Light"/>
              </a:rPr>
              <a:t>11</a:t>
            </a:r>
            <a:r>
              <a:rPr dirty="0" sz="1200" spc="95" b="0">
                <a:latin typeface="Microsoft YaHei Light"/>
                <a:cs typeface="Microsoft YaHei Light"/>
              </a:rPr>
              <a:t> 段，以 </a:t>
            </a:r>
            <a:r>
              <a:rPr dirty="0" sz="1050">
                <a:latin typeface="Consolas"/>
                <a:cs typeface="Consolas"/>
              </a:rPr>
              <a:t>|</a:t>
            </a:r>
            <a:r>
              <a:rPr dirty="0" sz="1050" spc="25">
                <a:latin typeface="Consolas"/>
                <a:cs typeface="Consolas"/>
              </a:rPr>
              <a:t> </a:t>
            </a:r>
            <a:r>
              <a:rPr dirty="0" sz="1200" spc="80" b="0">
                <a:latin typeface="Microsoft YaHei Light"/>
                <a:cs typeface="Microsoft YaHei Light"/>
              </a:rPr>
              <a:t>切分 </a:t>
            </a:r>
            <a:r>
              <a:rPr dirty="0" sz="1200" spc="-10" b="0">
                <a:latin typeface="Microsoft YaHei Light"/>
                <a:cs typeface="Microsoft YaHei Light"/>
              </a:rPr>
              <a:t>payload）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39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87300" y="680242"/>
            <a:ext cx="3302000" cy="93027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500"/>
              </a:spcBef>
              <a:buChar char="•"/>
              <a:tabLst>
                <a:tab pos="165100" algn="l"/>
              </a:tabLst>
            </a:pPr>
            <a:r>
              <a:rPr dirty="0" sz="1200" spc="-35" b="0">
                <a:latin typeface="Microsoft YaHei Light"/>
                <a:cs typeface="Microsoft YaHei Light"/>
              </a:rPr>
              <a:t>row0</a:t>
            </a:r>
            <a:r>
              <a:rPr dirty="0" sz="1200" spc="15" b="0">
                <a:latin typeface="Microsoft YaHei Light"/>
                <a:cs typeface="Microsoft YaHei Light"/>
              </a:rPr>
              <a:t> = 棋盘最顶行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25" b="0">
                <a:latin typeface="Microsoft YaHei Light"/>
                <a:cs typeface="Microsoft YaHei Light"/>
              </a:rPr>
              <a:t>显示行号 </a:t>
            </a:r>
            <a:r>
              <a:rPr dirty="0" sz="1200" spc="-10" b="0">
                <a:latin typeface="Microsoft YaHei Light"/>
                <a:cs typeface="Microsoft YaHei Light"/>
              </a:rPr>
              <a:t>9，</a:t>
            </a:r>
            <a:r>
              <a:rPr dirty="0" sz="1200" spc="-20" b="0">
                <a:latin typeface="Microsoft YaHei Light"/>
                <a:cs typeface="Microsoft YaHei Light"/>
              </a:rPr>
              <a:t>黑</a:t>
            </a:r>
            <a:r>
              <a:rPr dirty="0" sz="1200" spc="-20" b="0">
                <a:latin typeface="Microsoft YaHei Light"/>
                <a:cs typeface="Microsoft YaHei Light"/>
              </a:rPr>
              <a:t>方</a:t>
            </a:r>
            <a:r>
              <a:rPr dirty="0" sz="1200" spc="-20" b="0">
                <a:latin typeface="Microsoft YaHei Light"/>
                <a:cs typeface="Microsoft YaHei Light"/>
              </a:rPr>
              <a:t>底</a:t>
            </a:r>
            <a:r>
              <a:rPr dirty="0" sz="1200" spc="-20" b="0">
                <a:latin typeface="Microsoft YaHei Light"/>
                <a:cs typeface="Microsoft YaHei Light"/>
              </a:rPr>
              <a:t>线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65100" indent="-152400">
              <a:lnSpc>
                <a:spcPct val="100000"/>
              </a:lnSpc>
              <a:spcBef>
                <a:spcPts val="400"/>
              </a:spcBef>
              <a:buChar char="•"/>
              <a:tabLst>
                <a:tab pos="165100" algn="l"/>
              </a:tabLst>
            </a:pPr>
            <a:r>
              <a:rPr dirty="0" sz="1200" spc="-35" b="0">
                <a:latin typeface="Microsoft YaHei Light"/>
                <a:cs typeface="Microsoft YaHei Light"/>
              </a:rPr>
              <a:t>row9</a:t>
            </a:r>
            <a:r>
              <a:rPr dirty="0" sz="1200" spc="15" b="0">
                <a:latin typeface="Microsoft YaHei Light"/>
                <a:cs typeface="Microsoft YaHei Light"/>
              </a:rPr>
              <a:t> = 棋盘最底行</a:t>
            </a:r>
            <a:r>
              <a:rPr dirty="0" sz="1200" b="0">
                <a:latin typeface="Microsoft YaHei Light"/>
                <a:cs typeface="Microsoft YaHei Light"/>
              </a:rPr>
              <a:t>（</a:t>
            </a:r>
            <a:r>
              <a:rPr dirty="0" sz="1200" spc="25" b="0">
                <a:latin typeface="Microsoft YaHei Light"/>
                <a:cs typeface="Microsoft YaHei Light"/>
              </a:rPr>
              <a:t>显示行号 </a:t>
            </a:r>
            <a:r>
              <a:rPr dirty="0" sz="1200" spc="-10" b="0">
                <a:latin typeface="Microsoft YaHei Light"/>
                <a:cs typeface="Microsoft YaHei Light"/>
              </a:rPr>
              <a:t>0，</a:t>
            </a:r>
            <a:r>
              <a:rPr dirty="0" sz="1200" spc="-20" b="0">
                <a:latin typeface="Microsoft YaHei Light"/>
                <a:cs typeface="Microsoft YaHei Light"/>
              </a:rPr>
              <a:t>红</a:t>
            </a:r>
            <a:r>
              <a:rPr dirty="0" sz="1200" spc="-20" b="0">
                <a:latin typeface="Microsoft YaHei Light"/>
                <a:cs typeface="Microsoft YaHei Light"/>
              </a:rPr>
              <a:t>方</a:t>
            </a:r>
            <a:r>
              <a:rPr dirty="0" sz="1200" spc="-20" b="0">
                <a:latin typeface="Microsoft YaHei Light"/>
                <a:cs typeface="Microsoft YaHei Light"/>
              </a:rPr>
              <a:t>底</a:t>
            </a:r>
            <a:r>
              <a:rPr dirty="0" sz="1200" spc="-20" b="0">
                <a:latin typeface="Microsoft YaHei Light"/>
                <a:cs typeface="Microsoft YaHei Light"/>
              </a:rPr>
              <a:t>线</a:t>
            </a:r>
            <a:r>
              <a:rPr dirty="0" sz="1200" spc="-50" b="0">
                <a:latin typeface="Microsoft YaHei Light"/>
                <a:cs typeface="Microsoft YaHei Light"/>
              </a:rPr>
              <a:t>）</a:t>
            </a:r>
            <a:endParaRPr sz="1200">
              <a:latin typeface="Microsoft YaHei Light"/>
              <a:cs typeface="Microsoft YaHei Light"/>
            </a:endParaRPr>
          </a:p>
          <a:p>
            <a:pPr marL="12700" marR="1226820">
              <a:lnSpc>
                <a:spcPct val="111100"/>
              </a:lnSpc>
              <a:spcBef>
                <a:spcPts val="240"/>
              </a:spcBef>
              <a:buChar char="•"/>
              <a:tabLst>
                <a:tab pos="165100" algn="l"/>
              </a:tabLst>
            </a:pPr>
            <a:r>
              <a:rPr dirty="0" sz="1200" spc="75" b="0">
                <a:latin typeface="Microsoft YaHei Light"/>
                <a:cs typeface="Microsoft YaHei Light"/>
              </a:rPr>
              <a:t>每行 </a:t>
            </a:r>
            <a:r>
              <a:rPr dirty="0" sz="1200" b="0">
                <a:latin typeface="Microsoft YaHei Light"/>
                <a:cs typeface="Microsoft YaHei Light"/>
              </a:rPr>
              <a:t>9</a:t>
            </a:r>
            <a:r>
              <a:rPr dirty="0" sz="1200" spc="150" b="0">
                <a:latin typeface="Microsoft YaHei Light"/>
                <a:cs typeface="Microsoft YaHei Light"/>
              </a:rPr>
              <a:t> 个 </a:t>
            </a:r>
            <a:r>
              <a:rPr dirty="0" sz="1200" spc="120" b="0">
                <a:latin typeface="Microsoft YaHei Light"/>
                <a:cs typeface="Microsoft YaHei Light"/>
              </a:rPr>
              <a:t>cell，</a:t>
            </a:r>
            <a:r>
              <a:rPr dirty="0" sz="1200" spc="114" b="0">
                <a:latin typeface="Microsoft YaHei Light"/>
                <a:cs typeface="Microsoft YaHei Light"/>
              </a:rPr>
              <a:t>以 </a:t>
            </a:r>
            <a:r>
              <a:rPr dirty="0" sz="1050" spc="5">
                <a:latin typeface="Consolas"/>
                <a:cs typeface="Consolas"/>
              </a:rPr>
              <a:t>, </a:t>
            </a:r>
            <a:r>
              <a:rPr dirty="0" sz="1200" spc="-25" b="0">
                <a:latin typeface="Microsoft YaHei Light"/>
                <a:cs typeface="Microsoft YaHei Light"/>
              </a:rPr>
              <a:t>分隔</a:t>
            </a:r>
            <a:r>
              <a:rPr dirty="0" sz="1200" spc="-50" b="0">
                <a:latin typeface="Microsoft YaHei Light"/>
                <a:cs typeface="Microsoft YaHei Light"/>
              </a:rPr>
              <a:t> </a:t>
            </a:r>
            <a:r>
              <a:rPr dirty="0" sz="1200" spc="95" b="0">
                <a:latin typeface="Microsoft YaHei Light"/>
                <a:cs typeface="Microsoft YaHei Light"/>
              </a:rPr>
              <a:t>Cell</a:t>
            </a:r>
            <a:r>
              <a:rPr dirty="0" sz="1200" spc="25" b="0">
                <a:latin typeface="Microsoft YaHei Light"/>
                <a:cs typeface="Microsoft YaHei Light"/>
              </a:rPr>
              <a:t> 编码规则：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96825" y="1740732"/>
          <a:ext cx="4468495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819"/>
                <a:gridCol w="3622675"/>
              </a:tblGrid>
              <a:tr h="232410">
                <a:tc>
                  <a:txBody>
                    <a:bodyPr/>
                    <a:lstStyle/>
                    <a:p>
                      <a:pPr algn="ctr" marL="20955">
                        <a:lnSpc>
                          <a:spcPts val="1270"/>
                        </a:lnSpc>
                      </a:pP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Cell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值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27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含义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.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空位（该格无棋子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0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+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红方已翻开棋子，type</a:t>
                      </a:r>
                      <a:r>
                        <a:rPr dirty="0" sz="1200" spc="145" b="0">
                          <a:latin typeface="Microsoft YaHei Light"/>
                          <a:cs typeface="Microsoft YaHei Light"/>
                        </a:rPr>
                        <a:t> 为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0–6（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例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：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01</a:t>
                      </a:r>
                      <a:r>
                        <a:rPr dirty="0" sz="1050" spc="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= 红车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</a:tr>
              <a:tr h="307340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1</a:t>
                      </a:r>
                      <a:r>
                        <a:rPr dirty="0" sz="1050" spc="-8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+</a:t>
                      </a:r>
                      <a:r>
                        <a:rPr dirty="0" sz="1200" spc="1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黑方已翻开棋子，type</a:t>
                      </a:r>
                      <a:r>
                        <a:rPr dirty="0" sz="1200" spc="145" b="0">
                          <a:latin typeface="Microsoft YaHei Light"/>
                          <a:cs typeface="Microsoft YaHei Light"/>
                        </a:rPr>
                        <a:t> 为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0–6（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例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：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13</a:t>
                      </a:r>
                      <a:r>
                        <a:rPr dirty="0" sz="1050" spc="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= 黑炮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302260"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红方暗子（未翻开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</a:tr>
              <a:tr h="231140">
                <a:tc>
                  <a:txBody>
                    <a:bodyPr/>
                    <a:lstStyle/>
                    <a:p>
                      <a:pPr algn="ctr" marL="20955">
                        <a:lnSpc>
                          <a:spcPts val="1220"/>
                        </a:lnSpc>
                        <a:spcBef>
                          <a:spcPts val="50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295"/>
                        </a:lnSpc>
                        <a:spcBef>
                          <a:spcPts val="425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黑方暗子（未翻开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975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887300" y="3497500"/>
            <a:ext cx="5343525" cy="4933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b="0">
                <a:latin typeface="Microsoft YaHei Light"/>
                <a:cs typeface="Microsoft YaHei Light"/>
              </a:rPr>
              <a:t>完整示例（开局棋盘，</a:t>
            </a:r>
            <a:r>
              <a:rPr dirty="0" sz="1050">
                <a:latin typeface="Consolas"/>
                <a:cs typeface="Consolas"/>
              </a:rPr>
              <a:t>currentTurn=0</a:t>
            </a:r>
            <a:r>
              <a:rPr dirty="0" sz="1050" spc="10">
                <a:latin typeface="Consolas"/>
                <a:cs typeface="Consolas"/>
              </a:rPr>
              <a:t> </a:t>
            </a:r>
            <a:r>
              <a:rPr dirty="0" sz="1200" spc="-5" b="0">
                <a:latin typeface="Microsoft YaHei Light"/>
                <a:cs typeface="Microsoft YaHei Light"/>
              </a:rPr>
              <a:t>红方行棋。帧格式：</a:t>
            </a:r>
            <a:r>
              <a:rPr dirty="0" sz="1050" spc="-10">
                <a:latin typeface="Consolas"/>
                <a:cs typeface="Consolas"/>
              </a:rPr>
              <a:t>7|len|0|&lt;row0&gt;|...|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 spc="65">
                <a:latin typeface="Consolas"/>
                <a:cs typeface="Consolas"/>
              </a:rPr>
              <a:t>&lt;row9&gt;</a:t>
            </a:r>
            <a:r>
              <a:rPr dirty="0" sz="1200" spc="-535" b="0">
                <a:latin typeface="Microsoft YaHei Light"/>
                <a:cs typeface="Microsoft YaHei Light"/>
              </a:rPr>
              <a:t>）</a:t>
            </a:r>
            <a:r>
              <a:rPr dirty="0" sz="1200" spc="65" b="0">
                <a:latin typeface="Microsoft YaHei Light"/>
                <a:cs typeface="Microsoft YaHei Light"/>
              </a:rPr>
              <a:t>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474095" y="4152314"/>
          <a:ext cx="4612005" cy="3380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240"/>
                <a:gridCol w="467994"/>
                <a:gridCol w="467995"/>
                <a:gridCol w="467994"/>
                <a:gridCol w="467994"/>
                <a:gridCol w="467994"/>
                <a:gridCol w="467994"/>
                <a:gridCol w="467994"/>
                <a:gridCol w="467995"/>
                <a:gridCol w="467995"/>
              </a:tblGrid>
              <a:tr h="307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a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d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f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g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7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h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i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9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·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303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0?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2865">
                    <a:lnL w="6350">
                      <a:solidFill>
                        <a:srgbClr val="CBD5E1"/>
                      </a:solidFill>
                      <a:prstDash val="solid"/>
                    </a:lnL>
                    <a:lnR w="6350">
                      <a:solidFill>
                        <a:srgbClr val="CBD5E1"/>
                      </a:solidFill>
                      <a:prstDash val="solid"/>
                    </a:lnR>
                    <a:lnT w="6350">
                      <a:solidFill>
                        <a:srgbClr val="CBD5E1"/>
                      </a:solidFill>
                      <a:prstDash val="solid"/>
                    </a:lnT>
                    <a:lnB w="6350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87300" y="7530950"/>
            <a:ext cx="5817870" cy="1128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685" marR="5080" indent="-1367155">
              <a:lnSpc>
                <a:spcPct val="127800"/>
              </a:lnSpc>
              <a:spcBef>
                <a:spcPts val="100"/>
              </a:spcBef>
            </a:pPr>
            <a:r>
              <a:rPr dirty="0" sz="1100" b="0">
                <a:latin typeface="Microsoft YaHei Light"/>
                <a:cs typeface="Microsoft YaHei Light"/>
              </a:rPr>
              <a:t>Table</a:t>
            </a:r>
            <a:r>
              <a:rPr dirty="0" sz="1100" spc="105" b="0">
                <a:latin typeface="Microsoft YaHei Light"/>
                <a:cs typeface="Microsoft YaHei Light"/>
              </a:rPr>
              <a:t> 3: </a:t>
            </a:r>
            <a:r>
              <a:rPr dirty="0" sz="1100" spc="-120" b="0">
                <a:latin typeface="Microsoft YaHei Light"/>
                <a:cs typeface="Microsoft YaHei Light"/>
              </a:rPr>
              <a:t>BOARD_STATE</a:t>
            </a:r>
            <a:r>
              <a:rPr dirty="0" sz="1100" spc="50" b="0">
                <a:latin typeface="Microsoft YaHei Light"/>
                <a:cs typeface="Microsoft YaHei Light"/>
              </a:rPr>
              <a:t> 开局帧</a:t>
            </a:r>
            <a:r>
              <a:rPr dirty="0" sz="1100" b="0">
                <a:latin typeface="Microsoft YaHei Light"/>
                <a:cs typeface="Microsoft YaHei Light"/>
              </a:rPr>
              <a:t>（</a:t>
            </a:r>
            <a:r>
              <a:rPr dirty="0" sz="1050">
                <a:latin typeface="Consolas"/>
                <a:cs typeface="Consolas"/>
              </a:rPr>
              <a:t>len=211</a:t>
            </a:r>
            <a:r>
              <a:rPr dirty="0" sz="1100" b="0">
                <a:latin typeface="Microsoft YaHei Light"/>
                <a:cs typeface="Microsoft YaHei Light"/>
              </a:rPr>
              <a:t>，</a:t>
            </a:r>
            <a:r>
              <a:rPr dirty="0" sz="1050">
                <a:latin typeface="Consolas"/>
                <a:cs typeface="Consolas"/>
              </a:rPr>
              <a:t>currentTurn=0</a:t>
            </a:r>
            <a:r>
              <a:rPr dirty="0" sz="1100" spc="-550" b="0">
                <a:latin typeface="Microsoft YaHei Light"/>
                <a:cs typeface="Microsoft YaHei Light"/>
              </a:rPr>
              <a:t>）</a:t>
            </a:r>
            <a:r>
              <a:rPr dirty="0" sz="1100" b="0">
                <a:latin typeface="Microsoft YaHei Light"/>
                <a:cs typeface="Microsoft YaHei Light"/>
              </a:rPr>
              <a:t>。</a:t>
            </a:r>
            <a:r>
              <a:rPr dirty="0" sz="1050" spc="-45">
                <a:latin typeface="Consolas"/>
                <a:cs typeface="Consolas"/>
              </a:rPr>
              <a:t>e9</a:t>
            </a:r>
            <a:r>
              <a:rPr dirty="0" sz="1100" spc="-45" b="0">
                <a:latin typeface="Microsoft YaHei Light"/>
                <a:cs typeface="Microsoft YaHei Light"/>
              </a:rPr>
              <a:t>=</a:t>
            </a:r>
            <a:r>
              <a:rPr dirty="0" sz="1050" spc="-45">
                <a:latin typeface="Consolas"/>
                <a:cs typeface="Consolas"/>
              </a:rPr>
              <a:t>10</a:t>
            </a:r>
            <a:r>
              <a:rPr dirty="0" sz="1100" spc="-45" b="0">
                <a:latin typeface="Microsoft YaHei Light"/>
                <a:cs typeface="Microsoft YaHei Light"/>
              </a:rPr>
              <a:t>（</a:t>
            </a:r>
            <a:r>
              <a:rPr dirty="0" sz="1100" b="0">
                <a:latin typeface="Microsoft YaHei Light"/>
                <a:cs typeface="Microsoft YaHei Light"/>
              </a:rPr>
              <a:t>黑将</a:t>
            </a:r>
            <a:r>
              <a:rPr dirty="0" sz="1100" spc="-550" b="0">
                <a:latin typeface="Microsoft YaHei Light"/>
                <a:cs typeface="Microsoft YaHei Light"/>
              </a:rPr>
              <a:t>）</a:t>
            </a:r>
            <a:r>
              <a:rPr dirty="0" sz="1100" b="0">
                <a:latin typeface="Microsoft YaHei Light"/>
                <a:cs typeface="Microsoft YaHei Light"/>
              </a:rPr>
              <a:t>、</a:t>
            </a:r>
            <a:r>
              <a:rPr dirty="0" sz="1050" spc="-45">
                <a:latin typeface="Consolas"/>
                <a:cs typeface="Consolas"/>
              </a:rPr>
              <a:t>e0</a:t>
            </a:r>
            <a:r>
              <a:rPr dirty="0" sz="1100" spc="-45" b="0">
                <a:latin typeface="Microsoft YaHei Light"/>
                <a:cs typeface="Microsoft YaHei Light"/>
              </a:rPr>
              <a:t>=</a:t>
            </a:r>
            <a:r>
              <a:rPr dirty="0" sz="1050" spc="-45">
                <a:latin typeface="Consolas"/>
                <a:cs typeface="Consolas"/>
              </a:rPr>
              <a:t>00</a:t>
            </a:r>
            <a:r>
              <a:rPr dirty="0" sz="1100" spc="-45" b="0">
                <a:latin typeface="Microsoft YaHei Light"/>
                <a:cs typeface="Microsoft YaHei Light"/>
              </a:rPr>
              <a:t>（</a:t>
            </a:r>
            <a:r>
              <a:rPr dirty="0" sz="1100" b="0">
                <a:latin typeface="Microsoft YaHei Light"/>
                <a:cs typeface="Microsoft YaHei Light"/>
              </a:rPr>
              <a:t>红帅</a:t>
            </a:r>
            <a:r>
              <a:rPr dirty="0" sz="1100" spc="-50" b="0">
                <a:latin typeface="Microsoft YaHei Light"/>
                <a:cs typeface="Microsoft YaHei Light"/>
              </a:rPr>
              <a:t>）</a:t>
            </a:r>
            <a:r>
              <a:rPr dirty="0" sz="1100" spc="-5" b="0">
                <a:latin typeface="Microsoft YaHei Light"/>
                <a:cs typeface="Microsoft YaHei Light"/>
              </a:rPr>
              <a:t>开局即明；</a:t>
            </a:r>
            <a:r>
              <a:rPr dirty="0" sz="1050" spc="-10">
                <a:latin typeface="Consolas"/>
                <a:cs typeface="Consolas"/>
              </a:rPr>
              <a:t>0?</a:t>
            </a:r>
            <a:r>
              <a:rPr dirty="0" sz="1100" spc="-10" b="0">
                <a:latin typeface="Microsoft YaHei Light"/>
                <a:cs typeface="Microsoft YaHei Light"/>
              </a:rPr>
              <a:t>=</a:t>
            </a:r>
            <a:r>
              <a:rPr dirty="0" sz="1100" spc="-50" b="0">
                <a:latin typeface="Microsoft YaHei Light"/>
                <a:cs typeface="Microsoft YaHei Light"/>
              </a:rPr>
              <a:t>红</a:t>
            </a:r>
            <a:r>
              <a:rPr dirty="0" sz="1100" spc="-50" b="0">
                <a:latin typeface="Microsoft YaHei Light"/>
                <a:cs typeface="Microsoft YaHei Light"/>
              </a:rPr>
              <a:t>方</a:t>
            </a:r>
            <a:r>
              <a:rPr dirty="0" sz="1100" spc="-50" b="0">
                <a:latin typeface="Microsoft YaHei Light"/>
                <a:cs typeface="Microsoft YaHei Light"/>
              </a:rPr>
              <a:t>暗</a:t>
            </a:r>
            <a:r>
              <a:rPr dirty="0" sz="1100" spc="-50" b="0">
                <a:latin typeface="Microsoft YaHei Light"/>
                <a:cs typeface="Microsoft YaHei Light"/>
              </a:rPr>
              <a:t>子</a:t>
            </a:r>
            <a:r>
              <a:rPr dirty="0" sz="1100" spc="-25" b="0">
                <a:latin typeface="Microsoft YaHei Light"/>
                <a:cs typeface="Microsoft YaHei Light"/>
              </a:rPr>
              <a:t>，</a:t>
            </a:r>
            <a:r>
              <a:rPr dirty="0" sz="1050" spc="-25">
                <a:latin typeface="Consolas"/>
                <a:cs typeface="Consolas"/>
              </a:rPr>
              <a:t>1?</a:t>
            </a:r>
            <a:r>
              <a:rPr dirty="0" sz="1100" spc="-25" b="0">
                <a:latin typeface="Microsoft YaHei Light"/>
                <a:cs typeface="Microsoft YaHei Light"/>
              </a:rPr>
              <a:t>=</a:t>
            </a:r>
            <a:r>
              <a:rPr dirty="0" sz="1100" spc="-50" b="0">
                <a:latin typeface="Microsoft YaHei Light"/>
                <a:cs typeface="Microsoft YaHei Light"/>
              </a:rPr>
              <a:t>黑</a:t>
            </a:r>
            <a:r>
              <a:rPr dirty="0" sz="1100" spc="-50" b="0">
                <a:latin typeface="Microsoft YaHei Light"/>
                <a:cs typeface="Microsoft YaHei Light"/>
              </a:rPr>
              <a:t>方</a:t>
            </a:r>
            <a:r>
              <a:rPr dirty="0" sz="1100" spc="-50" b="0">
                <a:latin typeface="Microsoft YaHei Light"/>
                <a:cs typeface="Microsoft YaHei Light"/>
              </a:rPr>
              <a:t>暗</a:t>
            </a:r>
            <a:r>
              <a:rPr dirty="0" sz="1100" spc="-50" b="0">
                <a:latin typeface="Microsoft YaHei Light"/>
                <a:cs typeface="Microsoft YaHei Light"/>
              </a:rPr>
              <a:t>子</a:t>
            </a:r>
            <a:r>
              <a:rPr dirty="0" sz="1100" spc="-45" b="0">
                <a:latin typeface="Microsoft YaHei Light"/>
                <a:cs typeface="Microsoft YaHei Light"/>
              </a:rPr>
              <a:t>，</a:t>
            </a:r>
            <a:r>
              <a:rPr dirty="0" sz="1050" spc="-45">
                <a:latin typeface="Consolas"/>
                <a:cs typeface="Consolas"/>
              </a:rPr>
              <a:t>·</a:t>
            </a:r>
            <a:r>
              <a:rPr dirty="0" sz="1100" spc="-45" b="0">
                <a:latin typeface="Microsoft YaHei Light"/>
                <a:cs typeface="Microsoft YaHei Light"/>
              </a:rPr>
              <a:t>=</a:t>
            </a:r>
            <a:r>
              <a:rPr dirty="0" sz="1100" spc="-95" b="0">
                <a:latin typeface="Microsoft YaHei Light"/>
                <a:cs typeface="Microsoft YaHei Light"/>
              </a:rPr>
              <a:t>空</a:t>
            </a:r>
            <a:r>
              <a:rPr dirty="0" sz="1100" spc="-50" b="0">
                <a:latin typeface="Microsoft YaHei Light"/>
                <a:cs typeface="Microsoft YaHei Light"/>
              </a:rPr>
              <a:t>位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16.4.8.</a:t>
            </a:r>
            <a:r>
              <a:rPr dirty="0" sz="130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54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60" b="0">
                <a:solidFill>
                  <a:srgbClr val="334155"/>
                </a:solidFill>
                <a:latin typeface="Microsoft YaHei Light"/>
                <a:cs typeface="Microsoft YaHei Light"/>
              </a:rPr>
              <a:t>MSG_DRAW_REQUEST（8）</a:t>
            </a:r>
            <a:r>
              <a:rPr dirty="0" sz="1300" spc="10" b="0">
                <a:solidFill>
                  <a:srgbClr val="334155"/>
                </a:solidFill>
                <a:latin typeface="Microsoft YaHei Light"/>
                <a:cs typeface="Microsoft YaHei Light"/>
              </a:rPr>
              <a:t>— 提和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b="0">
                <a:latin typeface="Microsoft YaHei Light"/>
                <a:cs typeface="Microsoft YaHei Light"/>
              </a:rPr>
              <a:t>双向</a:t>
            </a:r>
            <a:r>
              <a:rPr dirty="0" sz="1200" spc="-10" b="0">
                <a:latin typeface="Microsoft YaHei Light"/>
                <a:cs typeface="Microsoft YaHei Light"/>
              </a:rPr>
              <a:t>（C</a:t>
            </a:r>
            <a:r>
              <a:rPr dirty="0" sz="1200" spc="150" b="0">
                <a:latin typeface="Microsoft YaHei Light"/>
                <a:cs typeface="Microsoft YaHei Light"/>
              </a:rPr>
              <a:t> → </a:t>
            </a:r>
            <a:r>
              <a:rPr dirty="0" sz="1200" b="0">
                <a:latin typeface="Microsoft YaHei Light"/>
                <a:cs typeface="Microsoft YaHei Light"/>
              </a:rPr>
              <a:t>S</a:t>
            </a:r>
            <a:r>
              <a:rPr dirty="0" sz="1200" spc="125" b="0">
                <a:latin typeface="Microsoft YaHei Light"/>
                <a:cs typeface="Microsoft YaHei Light"/>
              </a:rPr>
              <a:t> 或 </a:t>
            </a:r>
            <a:r>
              <a:rPr dirty="0" sz="1200" b="0">
                <a:latin typeface="Microsoft YaHei Light"/>
                <a:cs typeface="Microsoft YaHei Light"/>
              </a:rPr>
              <a:t>S</a:t>
            </a:r>
            <a:r>
              <a:rPr dirty="0" sz="1200" spc="150" b="0">
                <a:latin typeface="Microsoft YaHei Light"/>
                <a:cs typeface="Microsoft YaHei Light"/>
              </a:rPr>
              <a:t> → </a:t>
            </a:r>
            <a:r>
              <a:rPr dirty="0" sz="1200" spc="-25" b="0">
                <a:latin typeface="Microsoft YaHei Light"/>
                <a:cs typeface="Microsoft YaHei Light"/>
              </a:rPr>
              <a:t>C）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客户端提和：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96825" y="8789808"/>
          <a:ext cx="19145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520700"/>
                <a:gridCol w="781685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064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action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8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064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OFFER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887300" y="9348818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对方同意：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866813"/>
          <a:ext cx="19145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520700"/>
                <a:gridCol w="781685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action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8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429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ACCEPT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887300" y="1425824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对方拒绝：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96825" y="1764795"/>
          <a:ext cx="19145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506729"/>
                <a:gridCol w="795655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action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8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032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DECLINE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887300" y="2272965"/>
            <a:ext cx="5664200" cy="96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25" b="0">
                <a:latin typeface="Microsoft YaHei Light"/>
                <a:cs typeface="Microsoft YaHei Light"/>
              </a:rPr>
              <a:t>服务器收到 </a:t>
            </a:r>
            <a:r>
              <a:rPr dirty="0" sz="1200" spc="-114" b="0">
                <a:latin typeface="Microsoft YaHei Light"/>
                <a:cs typeface="Microsoft YaHei Light"/>
              </a:rPr>
              <a:t>ACCEPT</a:t>
            </a:r>
            <a:r>
              <a:rPr dirty="0" sz="1200" spc="65" b="0">
                <a:latin typeface="Microsoft YaHei Light"/>
                <a:cs typeface="Microsoft YaHei Light"/>
              </a:rPr>
              <a:t> 后广播 </a:t>
            </a:r>
            <a:r>
              <a:rPr dirty="0" sz="1200" spc="-180" b="0">
                <a:latin typeface="Microsoft YaHei Light"/>
                <a:cs typeface="Microsoft YaHei Light"/>
              </a:rPr>
              <a:t>GAME_OVER（</a:t>
            </a:r>
            <a:r>
              <a:rPr dirty="0" sz="1200" spc="45" b="0">
                <a:latin typeface="Microsoft YaHei Light"/>
                <a:cs typeface="Microsoft YaHei Light"/>
              </a:rPr>
              <a:t>原因码 = </a:t>
            </a:r>
            <a:r>
              <a:rPr dirty="0" sz="1200" spc="-25" b="0">
                <a:latin typeface="Microsoft YaHei Light"/>
                <a:cs typeface="Microsoft YaHei Light"/>
              </a:rPr>
              <a:t>9，</a:t>
            </a:r>
            <a:r>
              <a:rPr dirty="0" sz="1200" spc="-30" b="0">
                <a:latin typeface="Microsoft YaHei Light"/>
                <a:cs typeface="Microsoft YaHei Light"/>
              </a:rPr>
              <a:t>协</a:t>
            </a:r>
            <a:r>
              <a:rPr dirty="0" sz="1200" spc="-30" b="0">
                <a:latin typeface="Microsoft YaHei Light"/>
                <a:cs typeface="Microsoft YaHei Light"/>
              </a:rPr>
              <a:t>议</a:t>
            </a:r>
            <a:r>
              <a:rPr dirty="0" sz="1200" spc="-30" b="0">
                <a:latin typeface="Microsoft YaHei Light"/>
                <a:cs typeface="Microsoft YaHei Light"/>
              </a:rPr>
              <a:t>和</a:t>
            </a:r>
            <a:r>
              <a:rPr dirty="0" sz="1200" spc="-30" b="0">
                <a:latin typeface="Microsoft YaHei Light"/>
                <a:cs typeface="Microsoft YaHei Light"/>
              </a:rPr>
              <a:t>棋</a:t>
            </a:r>
            <a:r>
              <a:rPr dirty="0" sz="1200" spc="-600" b="0">
                <a:latin typeface="Microsoft YaHei Light"/>
                <a:cs typeface="Microsoft YaHei Light"/>
              </a:rPr>
              <a:t>）</a:t>
            </a:r>
            <a:r>
              <a:rPr dirty="0" sz="1200" spc="40" b="0">
                <a:latin typeface="Microsoft YaHei Light"/>
                <a:cs typeface="Microsoft YaHei Light"/>
              </a:rPr>
              <a:t>。收到 </a:t>
            </a:r>
            <a:r>
              <a:rPr dirty="0" sz="1200" spc="-65" b="0">
                <a:latin typeface="Microsoft YaHei Light"/>
                <a:cs typeface="Microsoft YaHei Light"/>
              </a:rPr>
              <a:t>DECLINE</a:t>
            </a:r>
            <a:r>
              <a:rPr dirty="0" sz="1200" spc="60" b="0">
                <a:latin typeface="Microsoft YaHei Light"/>
                <a:cs typeface="Microsoft YaHei Light"/>
              </a:rPr>
              <a:t> 后</a:t>
            </a:r>
            <a:r>
              <a:rPr dirty="0" sz="1200" spc="-10" b="0">
                <a:latin typeface="Microsoft YaHei Light"/>
                <a:cs typeface="Microsoft YaHei Light"/>
              </a:rPr>
              <a:t>仅转发，棋局继续。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16.4.9.</a:t>
            </a:r>
            <a:r>
              <a:rPr dirty="0" sz="1300" spc="-1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4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00" b="0">
                <a:solidFill>
                  <a:srgbClr val="334155"/>
                </a:solidFill>
                <a:latin typeface="Microsoft YaHei Light"/>
                <a:cs typeface="Microsoft YaHei Light"/>
              </a:rPr>
              <a:t>MSG_RESIGN（9）</a:t>
            </a:r>
            <a:r>
              <a:rPr dirty="0" sz="1300" spc="15" b="0">
                <a:solidFill>
                  <a:srgbClr val="334155"/>
                </a:solidFill>
                <a:latin typeface="Microsoft YaHei Light"/>
                <a:cs typeface="Microsoft YaHei Light"/>
              </a:rPr>
              <a:t>— 认输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客户端认输：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96825" y="3364997"/>
          <a:ext cx="10509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38784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9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87300" y="3924006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latin typeface="Microsoft YaHei Light"/>
                <a:cs typeface="Microsoft YaHei Light"/>
              </a:rPr>
              <a:t>服务器通知：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896825" y="4262978"/>
          <a:ext cx="1770380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71170"/>
                <a:gridCol w="688339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270"/>
                        </a:lnSpc>
                      </a:pP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9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887300" y="4743599"/>
            <a:ext cx="3759200" cy="7556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200" spc="15" b="0">
                <a:latin typeface="Microsoft YaHei Light"/>
                <a:cs typeface="Microsoft YaHei Light"/>
              </a:rPr>
              <a:t>服务器收到认输后立即广播 </a:t>
            </a:r>
            <a:r>
              <a:rPr dirty="0" sz="1200" spc="-180" b="0">
                <a:latin typeface="Microsoft YaHei Light"/>
                <a:cs typeface="Microsoft YaHei Light"/>
              </a:rPr>
              <a:t>GAME_OVER（</a:t>
            </a:r>
            <a:r>
              <a:rPr dirty="0" sz="1200" spc="50" b="0">
                <a:latin typeface="Microsoft YaHei Light"/>
                <a:cs typeface="Microsoft YaHei Light"/>
              </a:rPr>
              <a:t>原因码 = </a:t>
            </a:r>
            <a:r>
              <a:rPr dirty="0" sz="1200" spc="-40" b="0">
                <a:latin typeface="Microsoft YaHei Light"/>
                <a:cs typeface="Microsoft YaHei Light"/>
              </a:rPr>
              <a:t>3</a:t>
            </a:r>
            <a:r>
              <a:rPr dirty="0" sz="1200" spc="-640" b="0">
                <a:latin typeface="Microsoft YaHei Light"/>
                <a:cs typeface="Microsoft YaHei Light"/>
              </a:rPr>
              <a:t>）</a:t>
            </a:r>
            <a:r>
              <a:rPr dirty="0" sz="1200" spc="-50" b="0">
                <a:latin typeface="Microsoft YaHei Light"/>
                <a:cs typeface="Microsoft YaHei Light"/>
              </a:rPr>
              <a:t>。</a:t>
            </a:r>
            <a:endParaRPr sz="12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300" spc="130" b="0">
                <a:solidFill>
                  <a:srgbClr val="334155"/>
                </a:solidFill>
                <a:latin typeface="Microsoft YaHei Light"/>
                <a:cs typeface="Microsoft YaHei Light"/>
              </a:rPr>
              <a:t>16.4.10.</a:t>
            </a:r>
            <a:r>
              <a:rPr dirty="0" sz="1300" spc="-1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00" b="0">
                <a:solidFill>
                  <a:srgbClr val="334155"/>
                </a:solidFill>
                <a:latin typeface="Microsoft YaHei Light"/>
                <a:cs typeface="Microsoft YaHei Light"/>
              </a:rPr>
              <a:t>B.4.x</a:t>
            </a:r>
            <a:r>
              <a:rPr dirty="0" sz="1300" spc="229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-120" b="0">
                <a:solidFill>
                  <a:srgbClr val="334155"/>
                </a:solidFill>
                <a:latin typeface="Microsoft YaHei Light"/>
                <a:cs typeface="Microsoft YaHei Light"/>
              </a:rPr>
              <a:t>MSG_CHAT（10）</a:t>
            </a:r>
            <a:r>
              <a:rPr dirty="0" sz="1300" spc="10" b="0">
                <a:solidFill>
                  <a:srgbClr val="334155"/>
                </a:solidFill>
                <a:latin typeface="Microsoft YaHei Light"/>
                <a:cs typeface="Microsoft YaHei Light"/>
              </a:rPr>
              <a:t>— 聊天</a:t>
            </a:r>
            <a:endParaRPr sz="13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双向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96825" y="5629460"/>
          <a:ext cx="426402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/>
                <a:gridCol w="406400"/>
                <a:gridCol w="975360"/>
                <a:gridCol w="1108075"/>
                <a:gridCol w="1163320"/>
              </a:tblGrid>
              <a:tr h="232410">
                <a:tc>
                  <a:txBody>
                    <a:bodyPr/>
                    <a:lstStyle/>
                    <a:p>
                      <a:pPr algn="ctr" marL="6350">
                        <a:lnSpc>
                          <a:spcPts val="1270"/>
                        </a:lnSpc>
                      </a:pP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msgType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 marR="3175">
                        <a:lnSpc>
                          <a:spcPts val="1270"/>
                        </a:lnSpc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len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034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playerColor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playerName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5250">
                        <a:lnSpc>
                          <a:spcPts val="1270"/>
                        </a:lnSpc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message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 marL="63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25">
                          <a:latin typeface="Consolas"/>
                          <a:cs typeface="Consolas"/>
                        </a:rPr>
                        <a:t>10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556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&lt;len&gt;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&lt;playerColor&gt;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&lt;playerName&gt;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5250">
                        <a:lnSpc>
                          <a:spcPts val="122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&lt;message&gt;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 descr=""/>
          <p:cNvSpPr/>
          <p:nvPr/>
        </p:nvSpPr>
        <p:spPr>
          <a:xfrm>
            <a:off x="900000" y="6986715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4" h="0">
                <a:moveTo>
                  <a:pt x="0" y="0"/>
                </a:moveTo>
                <a:lnTo>
                  <a:pt x="5759999" y="0"/>
                </a:lnTo>
              </a:path>
            </a:pathLst>
          </a:custGeom>
          <a:ln w="6350">
            <a:solidFill>
              <a:srgbClr val="BFDBF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87300" y="6188470"/>
            <a:ext cx="5708015" cy="1134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0">
                <a:latin typeface="Microsoft YaHei Light"/>
                <a:cs typeface="Microsoft YaHei Light"/>
              </a:rPr>
              <a:t>不影响棋局状态，服务器仅负责转发。</a:t>
            </a:r>
            <a:endParaRPr sz="12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16.5.</a:t>
            </a:r>
            <a:r>
              <a:rPr dirty="0" sz="1500" spc="-4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60" b="0">
                <a:solidFill>
                  <a:srgbClr val="1E40AF"/>
                </a:solidFill>
                <a:latin typeface="Microsoft YaHei Light"/>
                <a:cs typeface="Microsoft YaHei Light"/>
              </a:rPr>
              <a:t>B.7</a:t>
            </a:r>
            <a:r>
              <a:rPr dirty="0" sz="1500" spc="220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85" b="0">
                <a:solidFill>
                  <a:srgbClr val="1E40AF"/>
                </a:solidFill>
                <a:latin typeface="Microsoft YaHei Light"/>
                <a:cs typeface="Microsoft YaHei Light"/>
              </a:rPr>
              <a:t>TCP</a:t>
            </a:r>
            <a:r>
              <a:rPr dirty="0" sz="1500" spc="15" b="0">
                <a:solidFill>
                  <a:srgbClr val="1E40AF"/>
                </a:solidFill>
                <a:latin typeface="Microsoft YaHei Light"/>
                <a:cs typeface="Microsoft YaHei Light"/>
              </a:rPr>
              <a:t> 典型通信时序图</a:t>
            </a:r>
            <a:endParaRPr sz="15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5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100" spc="35" b="0">
                <a:solidFill>
                  <a:srgbClr val="AAAAAA"/>
                </a:solidFill>
                <a:latin typeface="Microsoft YaHei Light"/>
                <a:cs typeface="Microsoft YaHei Light"/>
              </a:rPr>
              <a:t>时序图竖线 </a:t>
            </a:r>
            <a:r>
              <a:rPr dirty="0" sz="1050">
                <a:solidFill>
                  <a:srgbClr val="AAAAAA"/>
                </a:solidFill>
                <a:latin typeface="Consolas"/>
                <a:cs typeface="Consolas"/>
              </a:rPr>
              <a:t>|</a:t>
            </a:r>
            <a:r>
              <a:rPr dirty="0" sz="1050" spc="-30">
                <a:solidFill>
                  <a:srgbClr val="AAAAAA"/>
                </a:solidFill>
                <a:latin typeface="Consolas"/>
                <a:cs typeface="Consolas"/>
              </a:rPr>
              <a:t> </a:t>
            </a:r>
            <a:r>
              <a:rPr dirty="0" sz="1100" b="0">
                <a:solidFill>
                  <a:srgbClr val="AAAAAA"/>
                </a:solidFill>
                <a:latin typeface="Microsoft YaHei Light"/>
                <a:cs typeface="Microsoft YaHei Light"/>
              </a:rPr>
              <a:t>表示各方连接；</a:t>
            </a:r>
            <a:r>
              <a:rPr dirty="0" sz="1050" spc="-10">
                <a:solidFill>
                  <a:srgbClr val="AAAAAA"/>
                </a:solidFill>
                <a:latin typeface="Consolas"/>
                <a:cs typeface="Consolas"/>
              </a:rPr>
              <a:t>--&gt; </a:t>
            </a:r>
            <a:r>
              <a:rPr dirty="0" sz="1100" spc="165" b="0">
                <a:solidFill>
                  <a:srgbClr val="AAAAAA"/>
                </a:solidFill>
                <a:latin typeface="Microsoft YaHei Light"/>
                <a:cs typeface="Microsoft YaHei Light"/>
              </a:rPr>
              <a:t>/ </a:t>
            </a:r>
            <a:r>
              <a:rPr dirty="0" sz="1050" spc="-10">
                <a:solidFill>
                  <a:srgbClr val="AAAAAA"/>
                </a:solidFill>
                <a:latin typeface="Consolas"/>
                <a:cs typeface="Consolas"/>
              </a:rPr>
              <a:t>&lt;-- </a:t>
            </a:r>
            <a:r>
              <a:rPr dirty="0" sz="1100" spc="-5" b="0">
                <a:solidFill>
                  <a:srgbClr val="AAAAAA"/>
                </a:solidFill>
                <a:latin typeface="Microsoft YaHei Light"/>
                <a:cs typeface="Microsoft YaHei Light"/>
              </a:rPr>
              <a:t>表示消息方向。图内为等宽英文标签以保证对齐。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27064"/>
            <a:ext cx="21386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60" b="0">
                <a:solidFill>
                  <a:srgbClr val="334155"/>
                </a:solidFill>
                <a:latin typeface="Microsoft YaHei Light"/>
                <a:cs typeface="Microsoft YaHei Light"/>
              </a:rPr>
              <a:t>16.5.1.</a:t>
            </a:r>
            <a:r>
              <a:rPr dirty="0" sz="1300" spc="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B.7.1</a:t>
            </a:r>
            <a:r>
              <a:rPr dirty="0" sz="1300" spc="30" b="0">
                <a:solidFill>
                  <a:srgbClr val="334155"/>
                </a:solidFill>
                <a:latin typeface="Microsoft YaHei Light"/>
                <a:cs typeface="Microsoft YaHei Light"/>
              </a:rPr>
              <a:t> 正常对弈时序</a:t>
            </a:r>
            <a:endParaRPr sz="1300">
              <a:latin typeface="Microsoft YaHei Light"/>
              <a:cs typeface="Microsoft YaHe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96825" y="985509"/>
            <a:ext cx="5766435" cy="5111750"/>
            <a:chOff x="896825" y="985509"/>
            <a:chExt cx="5766435" cy="5111750"/>
          </a:xfrm>
        </p:grpSpPr>
        <p:sp>
          <p:nvSpPr>
            <p:cNvPr id="4" name="object 4" descr=""/>
            <p:cNvSpPr/>
            <p:nvPr/>
          </p:nvSpPr>
          <p:spPr>
            <a:xfrm>
              <a:off x="900000" y="988684"/>
              <a:ext cx="5760085" cy="5105400"/>
            </a:xfrm>
            <a:custGeom>
              <a:avLst/>
              <a:gdLst/>
              <a:ahLst/>
              <a:cxnLst/>
              <a:rect l="l" t="t" r="r" b="b"/>
              <a:pathLst>
                <a:path w="5760084" h="5105400">
                  <a:moveTo>
                    <a:pt x="5712374" y="5105307"/>
                  </a:moveTo>
                  <a:lnTo>
                    <a:pt x="47625" y="5105307"/>
                  </a:lnTo>
                  <a:lnTo>
                    <a:pt x="29087" y="5101565"/>
                  </a:lnTo>
                  <a:lnTo>
                    <a:pt x="13949" y="5091358"/>
                  </a:lnTo>
                  <a:lnTo>
                    <a:pt x="3742" y="5076220"/>
                  </a:lnTo>
                  <a:lnTo>
                    <a:pt x="0" y="5057682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5057682"/>
                  </a:lnTo>
                  <a:lnTo>
                    <a:pt x="5756257" y="5076220"/>
                  </a:lnTo>
                  <a:lnTo>
                    <a:pt x="5746050" y="5091358"/>
                  </a:lnTo>
                  <a:lnTo>
                    <a:pt x="5730912" y="5101565"/>
                  </a:lnTo>
                  <a:lnTo>
                    <a:pt x="5712374" y="5105307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0000" y="988684"/>
              <a:ext cx="5760085" cy="5105400"/>
            </a:xfrm>
            <a:custGeom>
              <a:avLst/>
              <a:gdLst/>
              <a:ahLst/>
              <a:cxnLst/>
              <a:rect l="l" t="t" r="r" b="b"/>
              <a:pathLst>
                <a:path w="5760084" h="510540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5057682"/>
                  </a:lnTo>
                  <a:lnTo>
                    <a:pt x="5756257" y="5076220"/>
                  </a:lnTo>
                  <a:lnTo>
                    <a:pt x="5746050" y="5091358"/>
                  </a:lnTo>
                  <a:lnTo>
                    <a:pt x="5730912" y="5101565"/>
                  </a:lnTo>
                  <a:lnTo>
                    <a:pt x="5712374" y="5105307"/>
                  </a:lnTo>
                  <a:lnTo>
                    <a:pt x="47625" y="5105307"/>
                  </a:lnTo>
                  <a:lnTo>
                    <a:pt x="29087" y="5101565"/>
                  </a:lnTo>
                  <a:lnTo>
                    <a:pt x="13949" y="5091358"/>
                  </a:lnTo>
                  <a:lnTo>
                    <a:pt x="3742" y="5076220"/>
                  </a:lnTo>
                  <a:lnTo>
                    <a:pt x="0" y="5057682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41958" y="1109582"/>
            <a:ext cx="11430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10" b="0">
                <a:solidFill>
                  <a:srgbClr val="334155"/>
                </a:solidFill>
                <a:latin typeface="Microsoft YaHei Light"/>
                <a:cs typeface="Microsoft YaHei Light"/>
              </a:rPr>
              <a:t>A（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红方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57749" y="1109582"/>
            <a:ext cx="444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44891" y="1109582"/>
            <a:ext cx="11430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60" b="0">
                <a:solidFill>
                  <a:srgbClr val="334155"/>
                </a:solidFill>
                <a:latin typeface="Microsoft YaHei Light"/>
                <a:cs typeface="Microsoft YaHei Light"/>
              </a:rPr>
              <a:t>B（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黑方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74625" y="1451212"/>
            <a:ext cx="5410835" cy="4468495"/>
            <a:chOff x="1074625" y="1451212"/>
            <a:chExt cx="5410835" cy="4468495"/>
          </a:xfrm>
        </p:grpSpPr>
        <p:sp>
          <p:nvSpPr>
            <p:cNvPr id="10" name="object 10" descr=""/>
            <p:cNvSpPr/>
            <p:nvPr/>
          </p:nvSpPr>
          <p:spPr>
            <a:xfrm>
              <a:off x="1077800" y="1454387"/>
              <a:ext cx="5404485" cy="4462145"/>
            </a:xfrm>
            <a:custGeom>
              <a:avLst/>
              <a:gdLst/>
              <a:ahLst/>
              <a:cxnLst/>
              <a:rect l="l" t="t" r="r" b="b"/>
              <a:pathLst>
                <a:path w="5404485" h="4462145">
                  <a:moveTo>
                    <a:pt x="5369474" y="4461804"/>
                  </a:moveTo>
                  <a:lnTo>
                    <a:pt x="34925" y="4461804"/>
                  </a:lnTo>
                  <a:lnTo>
                    <a:pt x="21330" y="4459059"/>
                  </a:lnTo>
                  <a:lnTo>
                    <a:pt x="10229" y="4451575"/>
                  </a:lnTo>
                  <a:lnTo>
                    <a:pt x="2744" y="4440473"/>
                  </a:lnTo>
                  <a:lnTo>
                    <a:pt x="0" y="4426879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4426879"/>
                  </a:lnTo>
                  <a:lnTo>
                    <a:pt x="5401655" y="4440473"/>
                  </a:lnTo>
                  <a:lnTo>
                    <a:pt x="5394170" y="4451575"/>
                  </a:lnTo>
                  <a:lnTo>
                    <a:pt x="5383069" y="4459059"/>
                  </a:lnTo>
                  <a:lnTo>
                    <a:pt x="5369474" y="4461804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77800" y="1454387"/>
              <a:ext cx="5404485" cy="4462145"/>
            </a:xfrm>
            <a:custGeom>
              <a:avLst/>
              <a:gdLst/>
              <a:ahLst/>
              <a:cxnLst/>
              <a:rect l="l" t="t" r="r" b="b"/>
              <a:pathLst>
                <a:path w="5404485" h="446214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4426879"/>
                  </a:lnTo>
                  <a:lnTo>
                    <a:pt x="5401655" y="4440473"/>
                  </a:lnTo>
                  <a:lnTo>
                    <a:pt x="5394170" y="4451575"/>
                  </a:lnTo>
                  <a:lnTo>
                    <a:pt x="5383069" y="4459059"/>
                  </a:lnTo>
                  <a:lnTo>
                    <a:pt x="5369474" y="4461804"/>
                  </a:lnTo>
                  <a:lnTo>
                    <a:pt x="34925" y="4461804"/>
                  </a:lnTo>
                  <a:lnTo>
                    <a:pt x="21330" y="4459059"/>
                  </a:lnTo>
                  <a:lnTo>
                    <a:pt x="10229" y="4451575"/>
                  </a:lnTo>
                  <a:lnTo>
                    <a:pt x="2744" y="4440473"/>
                  </a:lnTo>
                  <a:lnTo>
                    <a:pt x="0" y="4426879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830391" y="1508679"/>
            <a:ext cx="1271905" cy="5410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Client B </a:t>
            </a:r>
            <a:r>
              <a:rPr dirty="0" sz="1050" spc="-10">
                <a:latin typeface="Consolas"/>
                <a:cs typeface="Consolas"/>
              </a:rPr>
              <a:t>(Black)</a:t>
            </a:r>
            <a:endParaRPr sz="1050">
              <a:latin typeface="Consolas"/>
              <a:cs typeface="Consolas"/>
            </a:endParaRPr>
          </a:p>
          <a:p>
            <a:pPr marL="1185545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18554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1198" y="1508679"/>
            <a:ext cx="2958465" cy="7131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2065020" algn="l"/>
              </a:tabLst>
            </a:pPr>
            <a:r>
              <a:rPr dirty="0" sz="1050">
                <a:latin typeface="Consolas"/>
                <a:cs typeface="Consolas"/>
              </a:rPr>
              <a:t>Client A </a:t>
            </a:r>
            <a:r>
              <a:rPr dirty="0" sz="1050" spc="-10">
                <a:latin typeface="Consolas"/>
                <a:cs typeface="Consolas"/>
              </a:rPr>
              <a:t>(Red)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  <a:p>
            <a:pPr marL="892175">
              <a:lnSpc>
                <a:spcPct val="100000"/>
              </a:lnSpc>
              <a:spcBef>
                <a:spcPts val="95"/>
              </a:spcBef>
              <a:tabLst>
                <a:tab pos="279844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89217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|------ LOGIN(c=0)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892175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|&lt;----- LOGIN_ACK ---------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76772" y="2035777"/>
            <a:ext cx="990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2171946" y="2254570"/>
          <a:ext cx="4022725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120"/>
                <a:gridCol w="1246505"/>
                <a:gridCol w="989964"/>
                <a:gridCol w="1461769"/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99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990"/>
                        </a:lnSpc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(WAITING)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99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99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ts val="11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|&lt;-----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-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00"/>
                        </a:lnSpc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LOGIN(c=1) -------</a:t>
                      </a:r>
                      <a:r>
                        <a:rPr dirty="0" sz="1050" spc="-50">
                          <a:latin typeface="Consolas"/>
                          <a:cs typeface="Consolas"/>
                        </a:rPr>
                        <a:t>|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 descr=""/>
          <p:cNvSpPr txBox="1"/>
          <p:nvPr/>
        </p:nvSpPr>
        <p:spPr>
          <a:xfrm>
            <a:off x="2190996" y="2539355"/>
            <a:ext cx="4058285" cy="105664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19183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|----- LOGIN_ACK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18335" algn="l"/>
                <a:tab pos="2505075" algn="l"/>
                <a:tab pos="38246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(PLAYING)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 GAME_START ---------|&lt;---- GAME_START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 BOARD_STATE --------|&lt;---- BOARD_STATE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18335" algn="l"/>
                <a:tab pos="38246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8265" algn="l"/>
              </a:tabLst>
            </a:pPr>
            <a:r>
              <a:rPr dirty="0" sz="1050">
                <a:latin typeface="Consolas"/>
                <a:cs typeface="Consolas"/>
              </a:rPr>
              <a:t>|------ MOVE(b1-b3)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190996" y="3570031"/>
            <a:ext cx="9906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57579" y="3570031"/>
            <a:ext cx="2958465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ctr" marL="21971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[server: validate + fill type on </a:t>
            </a:r>
            <a:r>
              <a:rPr dirty="0" sz="1050" spc="-10">
                <a:latin typeface="Consolas"/>
                <a:cs typeface="Consolas"/>
              </a:rPr>
              <a:t>reveal]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03454" y="3570031"/>
            <a:ext cx="9906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90996" y="3913590"/>
            <a:ext cx="4058285" cy="5410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|&lt;---- MOVE (broadcast) ---|&lt;---- MOVE (broadcast) 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 BOARD_STATE --------|&lt;---- BOARD_STATE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 TURN_CHANGE ---------|&lt;---- TURN_CHANGE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097225" y="4428927"/>
            <a:ext cx="2152015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19183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|&lt;------ MOVE(c7-c5) -------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190996" y="4428927"/>
            <a:ext cx="99060" cy="5410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097225" y="4784245"/>
            <a:ext cx="20053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183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20">
                <a:latin typeface="Consolas"/>
                <a:cs typeface="Consolas"/>
              </a:rPr>
              <a:t>[ok]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190996" y="4944266"/>
            <a:ext cx="3984625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|&lt;---- MOVE (broadcast) ---|&lt;---- MOVE (broadcast) 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|&lt;---- BOARD_STATE --------|&lt;---- BOARD_STATE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190996" y="5287824"/>
            <a:ext cx="9906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777528" y="5287824"/>
            <a:ext cx="222504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ctr" marL="51308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... repeat until game over </a:t>
            </a:r>
            <a:r>
              <a:rPr dirty="0" sz="1050" spc="-25">
                <a:latin typeface="Consolas"/>
                <a:cs typeface="Consolas"/>
              </a:rPr>
              <a:t>...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003454" y="5287824"/>
            <a:ext cx="99060" cy="3695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96825" y="6649696"/>
            <a:ext cx="5766435" cy="1847850"/>
            <a:chOff x="896825" y="6649696"/>
            <a:chExt cx="5766435" cy="1847850"/>
          </a:xfrm>
        </p:grpSpPr>
        <p:sp>
          <p:nvSpPr>
            <p:cNvPr id="29" name="object 29" descr=""/>
            <p:cNvSpPr/>
            <p:nvPr/>
          </p:nvSpPr>
          <p:spPr>
            <a:xfrm>
              <a:off x="900000" y="6652871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5712374" y="1841501"/>
                  </a:move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00000" y="6652871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87300" y="5643141"/>
            <a:ext cx="5490210" cy="1323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635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|&lt;---- GAME_OVER ----------|&lt;---- GAME_OVER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377825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175" b="0">
                <a:latin typeface="Microsoft YaHei Light"/>
                <a:cs typeface="Microsoft YaHei Light"/>
              </a:rPr>
              <a:t> </a:t>
            </a:r>
            <a:r>
              <a:rPr dirty="0" sz="1100" spc="114" b="0">
                <a:latin typeface="Microsoft YaHei Light"/>
                <a:cs typeface="Microsoft YaHei Light"/>
              </a:rPr>
              <a:t>7:</a:t>
            </a:r>
            <a:r>
              <a:rPr dirty="0" sz="1100" b="0">
                <a:latin typeface="Microsoft YaHei Light"/>
                <a:cs typeface="Microsoft YaHei Light"/>
              </a:rPr>
              <a:t> 从登录到终局的消息序列（</a:t>
            </a:r>
            <a:r>
              <a:rPr dirty="0" sz="1100" spc="45" b="0">
                <a:latin typeface="Microsoft YaHei Light"/>
                <a:cs typeface="Microsoft YaHei Light"/>
              </a:rPr>
              <a:t>客户端 </a:t>
            </a:r>
            <a:r>
              <a:rPr dirty="0" sz="1100" spc="-20" b="0">
                <a:latin typeface="Microsoft YaHei Light"/>
                <a:cs typeface="Microsoft YaHei Light"/>
              </a:rPr>
              <a:t>A</a:t>
            </a:r>
            <a:r>
              <a:rPr dirty="0" sz="1100" spc="15" b="0">
                <a:latin typeface="Microsoft YaHei Light"/>
                <a:cs typeface="Microsoft YaHei Light"/>
              </a:rPr>
              <a:t> 红方、服务器、客户端 </a:t>
            </a:r>
            <a:r>
              <a:rPr dirty="0" sz="1100" b="0">
                <a:latin typeface="Microsoft YaHei Light"/>
                <a:cs typeface="Microsoft YaHei Light"/>
              </a:rPr>
              <a:t>B</a:t>
            </a:r>
            <a:r>
              <a:rPr dirty="0" sz="1100" spc="60" b="0">
                <a:latin typeface="Microsoft YaHei Light"/>
                <a:cs typeface="Microsoft YaHei Light"/>
              </a:rPr>
              <a:t> 黑方</a:t>
            </a:r>
            <a:r>
              <a:rPr dirty="0" sz="1100" spc="-50" b="0"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300" spc="130" b="0">
                <a:solidFill>
                  <a:srgbClr val="334155"/>
                </a:solidFill>
                <a:latin typeface="Microsoft YaHei Light"/>
                <a:cs typeface="Microsoft YaHei Light"/>
              </a:rPr>
              <a:t>16.5.2.</a:t>
            </a:r>
            <a:r>
              <a:rPr dirty="0" sz="1300" spc="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80" b="0">
                <a:solidFill>
                  <a:srgbClr val="334155"/>
                </a:solidFill>
                <a:latin typeface="Microsoft YaHei Light"/>
                <a:cs typeface="Microsoft YaHei Light"/>
              </a:rPr>
              <a:t>B.7.2</a:t>
            </a:r>
            <a:r>
              <a:rPr dirty="0" sz="1300" spc="20" b="0">
                <a:solidFill>
                  <a:srgbClr val="334155"/>
                </a:solidFill>
                <a:latin typeface="Microsoft YaHei Light"/>
                <a:cs typeface="Microsoft YaHei Light"/>
              </a:rPr>
              <a:t> 非法着法被拒绝</a:t>
            </a:r>
            <a:endParaRPr sz="13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Microsoft YaHei Light"/>
              <a:cs typeface="Microsoft YaHei Light"/>
            </a:endParaRPr>
          </a:p>
          <a:p>
            <a:pPr marL="1261745">
              <a:lnSpc>
                <a:spcPct val="100000"/>
              </a:lnSpc>
              <a:tabLst>
                <a:tab pos="4034154" algn="l"/>
              </a:tabLst>
            </a:pP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</a:t>
            </a:r>
            <a:r>
              <a:rPr dirty="0" sz="1100" spc="2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	服务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器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074625" y="7115399"/>
            <a:ext cx="5410835" cy="1204595"/>
            <a:chOff x="1074625" y="7115399"/>
            <a:chExt cx="5410835" cy="1204595"/>
          </a:xfrm>
        </p:grpSpPr>
        <p:sp>
          <p:nvSpPr>
            <p:cNvPr id="33" name="object 33" descr=""/>
            <p:cNvSpPr/>
            <p:nvPr/>
          </p:nvSpPr>
          <p:spPr>
            <a:xfrm>
              <a:off x="1077800" y="7118574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5369474" y="1197998"/>
                  </a:move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77800" y="7118574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983746" y="7184626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41</a:t>
            </a:r>
          </a:p>
        </p:txBody>
      </p:sp>
      <p:sp>
        <p:nvSpPr>
          <p:cNvPr id="36" name="object 36" descr=""/>
          <p:cNvSpPr txBox="1"/>
          <p:nvPr/>
        </p:nvSpPr>
        <p:spPr>
          <a:xfrm>
            <a:off x="2863544" y="7172867"/>
            <a:ext cx="2725420" cy="88455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72845">
              <a:lnSpc>
                <a:spcPct val="100000"/>
              </a:lnSpc>
              <a:spcBef>
                <a:spcPts val="190"/>
              </a:spcBef>
            </a:pP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|------ MOVE(b1-b5)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  <a:tab pos="2125980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[reject]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 ERROR(102, blocked) 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846425" y="8043522"/>
            <a:ext cx="3867150" cy="68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635">
              <a:lnSpc>
                <a:spcPct val="100000"/>
              </a:lnSpc>
              <a:spcBef>
                <a:spcPts val="100"/>
              </a:spcBef>
              <a:tabLst>
                <a:tab pos="1310005" algn="l"/>
                <a:tab pos="292290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(state</a:t>
            </a:r>
            <a:r>
              <a:rPr dirty="0" sz="1050" spc="-10">
                <a:latin typeface="Consolas"/>
                <a:cs typeface="Consolas"/>
              </a:rPr>
              <a:t> unchanged)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29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8:</a:t>
            </a:r>
            <a:r>
              <a:rPr dirty="0" sz="1100" spc="10" b="0">
                <a:latin typeface="Microsoft YaHei Light"/>
                <a:cs typeface="Microsoft YaHei Light"/>
              </a:rPr>
              <a:t> 非法着法被拒绝：棋局状态不变，仍轮到客户端 </a:t>
            </a:r>
            <a:r>
              <a:rPr dirty="0" sz="1100" spc="-125" b="0"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87300" y="727064"/>
            <a:ext cx="18084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30" b="0">
                <a:solidFill>
                  <a:srgbClr val="334155"/>
                </a:solidFill>
                <a:latin typeface="Microsoft YaHei Light"/>
                <a:cs typeface="Microsoft YaHei Light"/>
              </a:rPr>
              <a:t>16.5.3.</a:t>
            </a:r>
            <a:r>
              <a:rPr dirty="0" sz="1300" spc="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80" b="0">
                <a:solidFill>
                  <a:srgbClr val="334155"/>
                </a:solidFill>
                <a:latin typeface="Microsoft YaHei Light"/>
                <a:cs typeface="Microsoft YaHei Light"/>
              </a:rPr>
              <a:t>B.7.3</a:t>
            </a:r>
            <a:r>
              <a:rPr dirty="0" sz="1300" spc="45" b="0">
                <a:solidFill>
                  <a:srgbClr val="334155"/>
                </a:solidFill>
                <a:latin typeface="Microsoft YaHei Light"/>
                <a:cs typeface="Microsoft YaHei Light"/>
              </a:rPr>
              <a:t> 超时判负</a:t>
            </a:r>
            <a:endParaRPr sz="1300">
              <a:latin typeface="Microsoft YaHei Light"/>
              <a:cs typeface="Microsoft YaHe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96825" y="985509"/>
            <a:ext cx="5766435" cy="1847850"/>
            <a:chOff x="896825" y="985509"/>
            <a:chExt cx="5766435" cy="1847850"/>
          </a:xfrm>
        </p:grpSpPr>
        <p:sp>
          <p:nvSpPr>
            <p:cNvPr id="4" name="object 4" descr=""/>
            <p:cNvSpPr/>
            <p:nvPr/>
          </p:nvSpPr>
          <p:spPr>
            <a:xfrm>
              <a:off x="900000" y="988684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5712374" y="1841501"/>
                  </a:move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0000" y="988684"/>
              <a:ext cx="5760085" cy="1841500"/>
            </a:xfrm>
            <a:custGeom>
              <a:avLst/>
              <a:gdLst/>
              <a:ahLst/>
              <a:cxnLst/>
              <a:rect l="l" t="t" r="r" b="b"/>
              <a:pathLst>
                <a:path w="5760084" h="184150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793876"/>
                  </a:lnTo>
                  <a:lnTo>
                    <a:pt x="5756257" y="1812414"/>
                  </a:lnTo>
                  <a:lnTo>
                    <a:pt x="5746050" y="1827552"/>
                  </a:lnTo>
                  <a:lnTo>
                    <a:pt x="5730912" y="1837758"/>
                  </a:lnTo>
                  <a:lnTo>
                    <a:pt x="5712374" y="1841501"/>
                  </a:lnTo>
                  <a:lnTo>
                    <a:pt x="47625" y="1841501"/>
                  </a:lnTo>
                  <a:lnTo>
                    <a:pt x="29087" y="1837758"/>
                  </a:lnTo>
                  <a:lnTo>
                    <a:pt x="13949" y="1827552"/>
                  </a:lnTo>
                  <a:lnTo>
                    <a:pt x="3742" y="1812414"/>
                  </a:lnTo>
                  <a:lnTo>
                    <a:pt x="0" y="179387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905024" y="1109582"/>
            <a:ext cx="11303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10" b="0">
                <a:solidFill>
                  <a:srgbClr val="334155"/>
                </a:solidFill>
                <a:latin typeface="Microsoft YaHei Light"/>
                <a:cs typeface="Microsoft YaHei Light"/>
              </a:rPr>
              <a:t>A（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红方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）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21549" y="1109582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74625" y="1451212"/>
            <a:ext cx="5410835" cy="1204595"/>
            <a:chOff x="1074625" y="1451212"/>
            <a:chExt cx="5410835" cy="1204595"/>
          </a:xfrm>
        </p:grpSpPr>
        <p:sp>
          <p:nvSpPr>
            <p:cNvPr id="9" name="object 9" descr=""/>
            <p:cNvSpPr/>
            <p:nvPr/>
          </p:nvSpPr>
          <p:spPr>
            <a:xfrm>
              <a:off x="1077800" y="1454387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5369474" y="1197998"/>
                  </a:move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77800" y="1454387"/>
              <a:ext cx="5404485" cy="1198245"/>
            </a:xfrm>
            <a:custGeom>
              <a:avLst/>
              <a:gdLst/>
              <a:ahLst/>
              <a:cxnLst/>
              <a:rect l="l" t="t" r="r" b="b"/>
              <a:pathLst>
                <a:path w="5404485" h="119824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163073"/>
                  </a:lnTo>
                  <a:lnTo>
                    <a:pt x="5401655" y="1176667"/>
                  </a:lnTo>
                  <a:lnTo>
                    <a:pt x="5394170" y="1187768"/>
                  </a:lnTo>
                  <a:lnTo>
                    <a:pt x="5383069" y="1195253"/>
                  </a:lnTo>
                  <a:lnTo>
                    <a:pt x="5369474" y="1197998"/>
                  </a:lnTo>
                  <a:lnTo>
                    <a:pt x="34925" y="1197998"/>
                  </a:lnTo>
                  <a:lnTo>
                    <a:pt x="21330" y="1195253"/>
                  </a:lnTo>
                  <a:lnTo>
                    <a:pt x="10229" y="1187768"/>
                  </a:lnTo>
                  <a:lnTo>
                    <a:pt x="2744" y="1176667"/>
                  </a:lnTo>
                  <a:lnTo>
                    <a:pt x="0" y="116307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853318" y="1520438"/>
            <a:ext cx="4527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Consolas"/>
                <a:cs typeface="Consolas"/>
              </a:rPr>
              <a:t>Server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00455" y="1508679"/>
            <a:ext cx="2652395" cy="88455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Client A </a:t>
            </a:r>
            <a:r>
              <a:rPr dirty="0" sz="1050" spc="-10">
                <a:latin typeface="Consolas"/>
                <a:cs typeface="Consolas"/>
              </a:rPr>
              <a:t>(Red)</a:t>
            </a:r>
            <a:endParaRPr sz="1050">
              <a:latin typeface="Consolas"/>
              <a:cs typeface="Consolas"/>
            </a:endParaRPr>
          </a:p>
          <a:p>
            <a:pPr marL="879475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879475">
              <a:lnSpc>
                <a:spcPct val="100000"/>
              </a:lnSpc>
              <a:spcBef>
                <a:spcPts val="90"/>
              </a:spcBef>
              <a:tabLst>
                <a:tab pos="117284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(no</a:t>
            </a:r>
            <a:r>
              <a:rPr dirty="0" sz="1050" spc="-10">
                <a:latin typeface="Consolas"/>
                <a:cs typeface="Consolas"/>
              </a:rPr>
              <a:t> </a:t>
            </a:r>
            <a:r>
              <a:rPr dirty="0" sz="1050">
                <a:latin typeface="Consolas"/>
                <a:cs typeface="Consolas"/>
              </a:rPr>
              <a:t>MOVE within </a:t>
            </a:r>
            <a:r>
              <a:rPr dirty="0" sz="1050" spc="-20">
                <a:latin typeface="Consolas"/>
                <a:cs typeface="Consolas"/>
              </a:rPr>
              <a:t>65s)</a:t>
            </a:r>
            <a:endParaRPr sz="1050">
              <a:latin typeface="Consolas"/>
              <a:cs typeface="Consolas"/>
            </a:endParaRPr>
          </a:p>
          <a:p>
            <a:pPr marL="879475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879475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86482" y="1680459"/>
            <a:ext cx="1186180" cy="7131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219710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[timer</a:t>
            </a:r>
            <a:r>
              <a:rPr dirty="0" sz="1050" spc="-10">
                <a:latin typeface="Consolas"/>
                <a:cs typeface="Consolas"/>
              </a:rPr>
              <a:t> fires]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96825" y="3385890"/>
            <a:ext cx="5766435" cy="2363470"/>
            <a:chOff x="896825" y="3385890"/>
            <a:chExt cx="5766435" cy="2363470"/>
          </a:xfrm>
        </p:grpSpPr>
        <p:sp>
          <p:nvSpPr>
            <p:cNvPr id="15" name="object 15" descr=""/>
            <p:cNvSpPr/>
            <p:nvPr/>
          </p:nvSpPr>
          <p:spPr>
            <a:xfrm>
              <a:off x="900000" y="3389065"/>
              <a:ext cx="5760085" cy="2357120"/>
            </a:xfrm>
            <a:custGeom>
              <a:avLst/>
              <a:gdLst/>
              <a:ahLst/>
              <a:cxnLst/>
              <a:rect l="l" t="t" r="r" b="b"/>
              <a:pathLst>
                <a:path w="5760084" h="2357120">
                  <a:moveTo>
                    <a:pt x="5712374" y="2356839"/>
                  </a:moveTo>
                  <a:lnTo>
                    <a:pt x="47625" y="2356839"/>
                  </a:lnTo>
                  <a:lnTo>
                    <a:pt x="29087" y="2353096"/>
                  </a:lnTo>
                  <a:lnTo>
                    <a:pt x="13949" y="2342890"/>
                  </a:lnTo>
                  <a:lnTo>
                    <a:pt x="3742" y="2327751"/>
                  </a:lnTo>
                  <a:lnTo>
                    <a:pt x="0" y="230921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2309214"/>
                  </a:lnTo>
                  <a:lnTo>
                    <a:pt x="5756257" y="2327751"/>
                  </a:lnTo>
                  <a:lnTo>
                    <a:pt x="5746050" y="2342890"/>
                  </a:lnTo>
                  <a:lnTo>
                    <a:pt x="5730912" y="2353096"/>
                  </a:lnTo>
                  <a:lnTo>
                    <a:pt x="5712374" y="2356839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0000" y="3389065"/>
              <a:ext cx="5760085" cy="2357120"/>
            </a:xfrm>
            <a:custGeom>
              <a:avLst/>
              <a:gdLst/>
              <a:ahLst/>
              <a:cxnLst/>
              <a:rect l="l" t="t" r="r" b="b"/>
              <a:pathLst>
                <a:path w="5760084" h="235712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2309214"/>
                  </a:lnTo>
                  <a:lnTo>
                    <a:pt x="5756257" y="2327751"/>
                  </a:lnTo>
                  <a:lnTo>
                    <a:pt x="5746050" y="2342890"/>
                  </a:lnTo>
                  <a:lnTo>
                    <a:pt x="5730912" y="2353096"/>
                  </a:lnTo>
                  <a:lnTo>
                    <a:pt x="5712374" y="2356839"/>
                  </a:lnTo>
                  <a:lnTo>
                    <a:pt x="47625" y="2356839"/>
                  </a:lnTo>
                  <a:lnTo>
                    <a:pt x="29087" y="2353096"/>
                  </a:lnTo>
                  <a:lnTo>
                    <a:pt x="13949" y="2342890"/>
                  </a:lnTo>
                  <a:lnTo>
                    <a:pt x="3742" y="2327751"/>
                  </a:lnTo>
                  <a:lnTo>
                    <a:pt x="0" y="2309214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77800" y="3854767"/>
              <a:ext cx="5404485" cy="1713864"/>
            </a:xfrm>
            <a:custGeom>
              <a:avLst/>
              <a:gdLst/>
              <a:ahLst/>
              <a:cxnLst/>
              <a:rect l="l" t="t" r="r" b="b"/>
              <a:pathLst>
                <a:path w="5404485" h="1713864">
                  <a:moveTo>
                    <a:pt x="5369474" y="1713336"/>
                  </a:moveTo>
                  <a:lnTo>
                    <a:pt x="34925" y="1713336"/>
                  </a:lnTo>
                  <a:lnTo>
                    <a:pt x="21330" y="1710591"/>
                  </a:lnTo>
                  <a:lnTo>
                    <a:pt x="10229" y="1703106"/>
                  </a:lnTo>
                  <a:lnTo>
                    <a:pt x="2744" y="1692005"/>
                  </a:lnTo>
                  <a:lnTo>
                    <a:pt x="0" y="1678411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678411"/>
                  </a:lnTo>
                  <a:lnTo>
                    <a:pt x="5401655" y="1692005"/>
                  </a:lnTo>
                  <a:lnTo>
                    <a:pt x="5394170" y="1703106"/>
                  </a:lnTo>
                  <a:lnTo>
                    <a:pt x="5383069" y="1710591"/>
                  </a:lnTo>
                  <a:lnTo>
                    <a:pt x="5369474" y="1713336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77800" y="3854767"/>
              <a:ext cx="5404485" cy="1713864"/>
            </a:xfrm>
            <a:custGeom>
              <a:avLst/>
              <a:gdLst/>
              <a:ahLst/>
              <a:cxnLst/>
              <a:rect l="l" t="t" r="r" b="b"/>
              <a:pathLst>
                <a:path w="5404485" h="1713864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1678411"/>
                  </a:lnTo>
                  <a:lnTo>
                    <a:pt x="5401655" y="1692005"/>
                  </a:lnTo>
                  <a:lnTo>
                    <a:pt x="5394170" y="1703106"/>
                  </a:lnTo>
                  <a:lnTo>
                    <a:pt x="5383069" y="1710591"/>
                  </a:lnTo>
                  <a:lnTo>
                    <a:pt x="5369474" y="1713336"/>
                  </a:lnTo>
                  <a:lnTo>
                    <a:pt x="34925" y="1713336"/>
                  </a:lnTo>
                  <a:lnTo>
                    <a:pt x="21330" y="1710591"/>
                  </a:lnTo>
                  <a:lnTo>
                    <a:pt x="10229" y="1703106"/>
                  </a:lnTo>
                  <a:lnTo>
                    <a:pt x="2744" y="1692005"/>
                  </a:lnTo>
                  <a:lnTo>
                    <a:pt x="0" y="1678411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49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87300" y="2379335"/>
            <a:ext cx="5455285" cy="207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351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|&lt;-- </a:t>
            </a:r>
            <a:r>
              <a:rPr dirty="0" sz="1050" spc="-10">
                <a:latin typeface="Consolas"/>
                <a:cs typeface="Consolas"/>
              </a:rPr>
              <a:t>GAME_OVER(1,2,timeout)|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00" b="0">
                <a:latin typeface="Microsoft YaHei Light"/>
                <a:cs typeface="Microsoft YaHei Light"/>
              </a:rPr>
              <a:t> </a:t>
            </a:r>
            <a:r>
              <a:rPr dirty="0" sz="1100" spc="105" b="0">
                <a:latin typeface="Microsoft YaHei Light"/>
                <a:cs typeface="Microsoft YaHei Light"/>
              </a:rPr>
              <a:t>9:</a:t>
            </a:r>
            <a:r>
              <a:rPr dirty="0" sz="1100" spc="35" b="0">
                <a:latin typeface="Microsoft YaHei Light"/>
                <a:cs typeface="Microsoft YaHei Light"/>
              </a:rPr>
              <a:t> 超时判负：红方 </a:t>
            </a:r>
            <a:r>
              <a:rPr dirty="0" sz="1100" b="0">
                <a:latin typeface="Microsoft YaHei Light"/>
                <a:cs typeface="Microsoft YaHei Light"/>
              </a:rPr>
              <a:t>65</a:t>
            </a:r>
            <a:r>
              <a:rPr dirty="0" sz="1100" spc="10" b="0">
                <a:latin typeface="Microsoft YaHei Light"/>
                <a:cs typeface="Microsoft YaHei Light"/>
              </a:rPr>
              <a:t> 秒内未走子，服务器定时器触发后广播 </a:t>
            </a:r>
            <a:r>
              <a:rPr dirty="0" sz="1100" spc="-165" b="0">
                <a:latin typeface="Microsoft YaHei Light"/>
                <a:cs typeface="Microsoft YaHei Light"/>
              </a:rPr>
              <a:t>GAME_OVER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300" spc="125" b="0">
                <a:solidFill>
                  <a:srgbClr val="334155"/>
                </a:solidFill>
                <a:latin typeface="Microsoft YaHei Light"/>
                <a:cs typeface="Microsoft YaHei Light"/>
              </a:rPr>
              <a:t>16.5.4.</a:t>
            </a:r>
            <a:r>
              <a:rPr dirty="0" sz="1300" spc="25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75" b="0">
                <a:solidFill>
                  <a:srgbClr val="334155"/>
                </a:solidFill>
                <a:latin typeface="Microsoft YaHei Light"/>
                <a:cs typeface="Microsoft YaHei Light"/>
              </a:rPr>
              <a:t>B.7.4</a:t>
            </a:r>
            <a:r>
              <a:rPr dirty="0" sz="1300" spc="45" b="0">
                <a:solidFill>
                  <a:srgbClr val="334155"/>
                </a:solidFill>
                <a:latin typeface="Microsoft YaHei Light"/>
                <a:cs typeface="Microsoft YaHei Light"/>
              </a:rPr>
              <a:t> 提和流程</a:t>
            </a:r>
            <a:endParaRPr sz="13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Microsoft YaHei Light"/>
              <a:cs typeface="Microsoft YaHei Light"/>
            </a:endParaRPr>
          </a:p>
          <a:p>
            <a:pPr marL="811530">
              <a:lnSpc>
                <a:spcPct val="100000"/>
              </a:lnSpc>
              <a:tabLst>
                <a:tab pos="2682875" algn="l"/>
                <a:tab pos="4414520" algn="l"/>
              </a:tabLst>
            </a:pP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</a:t>
            </a:r>
            <a:r>
              <a:rPr dirty="0" sz="1100" spc="2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	服务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器</a:t>
            </a:r>
            <a:r>
              <a:rPr dirty="0" sz="1100" b="0">
                <a:solidFill>
                  <a:srgbClr val="334155"/>
                </a:solidFill>
                <a:latin typeface="Microsoft YaHei Light"/>
                <a:cs typeface="Microsoft YaHei Light"/>
              </a:rPr>
              <a:t>	客户端</a:t>
            </a:r>
            <a:r>
              <a:rPr dirty="0" sz="1100" spc="21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Microsoft YaHei Light"/>
              <a:cs typeface="Microsoft YaHei Light"/>
            </a:endParaRPr>
          </a:p>
          <a:p>
            <a:pPr marL="399415">
              <a:lnSpc>
                <a:spcPct val="100000"/>
              </a:lnSpc>
              <a:tabLst>
                <a:tab pos="2452370" algn="l"/>
                <a:tab pos="4358640" algn="l"/>
              </a:tabLst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10">
                <a:latin typeface="Consolas"/>
                <a:cs typeface="Consolas"/>
              </a:rPr>
              <a:t>Server</a:t>
            </a:r>
            <a:r>
              <a:rPr dirty="0" sz="1050">
                <a:latin typeface="Consolas"/>
                <a:cs typeface="Consolas"/>
              </a:rPr>
              <a:t>	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  <a:p>
            <a:pPr marL="1279525">
              <a:lnSpc>
                <a:spcPct val="100000"/>
              </a:lnSpc>
              <a:spcBef>
                <a:spcPts val="90"/>
              </a:spcBef>
              <a:tabLst>
                <a:tab pos="3185795" algn="l"/>
                <a:tab pos="509206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 marL="1279525">
              <a:lnSpc>
                <a:spcPct val="100000"/>
              </a:lnSpc>
              <a:spcBef>
                <a:spcPts val="95"/>
              </a:spcBef>
              <a:tabLst>
                <a:tab pos="5238750" algn="l"/>
              </a:tabLst>
            </a:pPr>
            <a:r>
              <a:rPr dirty="0" sz="1050">
                <a:latin typeface="Consolas"/>
                <a:cs typeface="Consolas"/>
              </a:rPr>
              <a:t>|--- DRAW_REQUEST OFFER 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073267" y="4424398"/>
            <a:ext cx="1992630" cy="5410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|--- DRAW_REQUEST OFFER 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 DRAW_REQUEST ACCEPT --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167038" y="4424398"/>
            <a:ext cx="86360" cy="7131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073267" y="4951495"/>
            <a:ext cx="19926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87300" y="5111515"/>
            <a:ext cx="5420360" cy="11557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9525">
              <a:lnSpc>
                <a:spcPct val="100000"/>
              </a:lnSpc>
              <a:spcBef>
                <a:spcPts val="190"/>
              </a:spcBef>
            </a:pPr>
            <a:r>
              <a:rPr dirty="0" sz="1050">
                <a:latin typeface="Consolas"/>
                <a:cs typeface="Consolas"/>
              </a:rPr>
              <a:t>|&lt;------ GAME_OVER --------|&lt;------ GAME_OVER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 marL="1279525">
              <a:lnSpc>
                <a:spcPct val="100000"/>
              </a:lnSpc>
              <a:spcBef>
                <a:spcPts val="95"/>
              </a:spcBef>
              <a:tabLst>
                <a:tab pos="1645920" algn="l"/>
                <a:tab pos="3332479" algn="l"/>
                <a:tab pos="3698875" algn="l"/>
                <a:tab pos="531177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(-1,9, agreed </a:t>
            </a:r>
            <a:r>
              <a:rPr dirty="0" sz="1050" spc="-10">
                <a:latin typeface="Consolas"/>
                <a:cs typeface="Consolas"/>
              </a:rPr>
              <a:t>draw)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(-1,9, agreed </a:t>
            </a:r>
            <a:r>
              <a:rPr dirty="0" sz="1050" spc="-10">
                <a:latin typeface="Consolas"/>
                <a:cs typeface="Consolas"/>
              </a:rPr>
              <a:t>draw)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onsolas"/>
              <a:cs typeface="Consolas"/>
            </a:endParaRPr>
          </a:p>
          <a:p>
            <a:pPr marL="377825">
              <a:lnSpc>
                <a:spcPct val="100000"/>
              </a:lnSpc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210" b="0">
                <a:latin typeface="Microsoft YaHei Light"/>
                <a:cs typeface="Microsoft YaHei Light"/>
              </a:rPr>
              <a:t> </a:t>
            </a:r>
            <a:r>
              <a:rPr dirty="0" sz="1100" spc="114" b="0">
                <a:latin typeface="Microsoft YaHei Light"/>
                <a:cs typeface="Microsoft YaHei Light"/>
              </a:rPr>
              <a:t>10:</a:t>
            </a:r>
            <a:r>
              <a:rPr dirty="0" sz="1100" spc="40" b="0">
                <a:latin typeface="Microsoft YaHei Light"/>
                <a:cs typeface="Microsoft YaHei Light"/>
              </a:rPr>
              <a:t> 提和流程：双方 </a:t>
            </a:r>
            <a:r>
              <a:rPr dirty="0" sz="1100" spc="-75" b="0">
                <a:latin typeface="Microsoft YaHei Light"/>
                <a:cs typeface="Microsoft YaHei Light"/>
              </a:rPr>
              <a:t>OFFER</a:t>
            </a:r>
            <a:r>
              <a:rPr dirty="0" sz="1100" spc="80" b="0">
                <a:latin typeface="Microsoft YaHei Light"/>
                <a:cs typeface="Microsoft YaHei Light"/>
              </a:rPr>
              <a:t> 后一方 </a:t>
            </a:r>
            <a:r>
              <a:rPr dirty="0" sz="1100" spc="-120" b="0">
                <a:latin typeface="Microsoft YaHei Light"/>
                <a:cs typeface="Microsoft YaHei Light"/>
              </a:rPr>
              <a:t>ACCEPT，</a:t>
            </a:r>
            <a:r>
              <a:rPr dirty="0" sz="1100" spc="25" b="0">
                <a:latin typeface="Microsoft YaHei Light"/>
                <a:cs typeface="Microsoft YaHei Light"/>
              </a:rPr>
              <a:t>服务器广播和棋 </a:t>
            </a:r>
            <a:r>
              <a:rPr dirty="0" sz="1100" spc="-165" b="0">
                <a:latin typeface="Microsoft YaHei Light"/>
                <a:cs typeface="Microsoft YaHei Light"/>
              </a:rPr>
              <a:t>GAME_OVER</a:t>
            </a:r>
            <a:endParaRPr sz="11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300" spc="130" b="0">
                <a:solidFill>
                  <a:srgbClr val="334155"/>
                </a:solidFill>
                <a:latin typeface="Microsoft YaHei Light"/>
                <a:cs typeface="Microsoft YaHei Light"/>
              </a:rPr>
              <a:t>16.5.5.</a:t>
            </a:r>
            <a:r>
              <a:rPr dirty="0" sz="1300" spc="20" b="0">
                <a:solidFill>
                  <a:srgbClr val="334155"/>
                </a:solidFill>
                <a:latin typeface="Microsoft YaHei Light"/>
                <a:cs typeface="Microsoft YaHei Light"/>
              </a:rPr>
              <a:t> </a:t>
            </a:r>
            <a:r>
              <a:rPr dirty="0" sz="1300" spc="80" b="0">
                <a:solidFill>
                  <a:srgbClr val="334155"/>
                </a:solidFill>
                <a:latin typeface="Microsoft YaHei Light"/>
                <a:cs typeface="Microsoft YaHei Light"/>
              </a:rPr>
              <a:t>B.7.5</a:t>
            </a:r>
            <a:r>
              <a:rPr dirty="0" sz="1300" spc="45" b="0">
                <a:solidFill>
                  <a:srgbClr val="334155"/>
                </a:solidFill>
                <a:latin typeface="Microsoft YaHei Light"/>
                <a:cs typeface="Microsoft YaHei Light"/>
              </a:rPr>
              <a:t> 认输流程</a:t>
            </a:r>
            <a:endParaRPr sz="1300">
              <a:latin typeface="Microsoft YaHei Light"/>
              <a:cs typeface="Microsoft YaHei Light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96825" y="6301608"/>
            <a:ext cx="5766435" cy="1676400"/>
            <a:chOff x="896825" y="6301608"/>
            <a:chExt cx="5766435" cy="1676400"/>
          </a:xfrm>
        </p:grpSpPr>
        <p:sp>
          <p:nvSpPr>
            <p:cNvPr id="25" name="object 25" descr=""/>
            <p:cNvSpPr/>
            <p:nvPr/>
          </p:nvSpPr>
          <p:spPr>
            <a:xfrm>
              <a:off x="900000" y="6304783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5712374" y="1669721"/>
                  </a:move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0000" y="6304783"/>
              <a:ext cx="5760085" cy="1670050"/>
            </a:xfrm>
            <a:custGeom>
              <a:avLst/>
              <a:gdLst/>
              <a:ahLst/>
              <a:cxnLst/>
              <a:rect l="l" t="t" r="r" b="b"/>
              <a:pathLst>
                <a:path w="5760084" h="1670050">
                  <a:moveTo>
                    <a:pt x="47625" y="0"/>
                  </a:moveTo>
                  <a:lnTo>
                    <a:pt x="5712374" y="0"/>
                  </a:lnTo>
                  <a:lnTo>
                    <a:pt x="5730912" y="3742"/>
                  </a:lnTo>
                  <a:lnTo>
                    <a:pt x="5746050" y="13949"/>
                  </a:lnTo>
                  <a:lnTo>
                    <a:pt x="5756257" y="29087"/>
                  </a:lnTo>
                  <a:lnTo>
                    <a:pt x="5759999" y="47625"/>
                  </a:lnTo>
                  <a:lnTo>
                    <a:pt x="5759999" y="1622096"/>
                  </a:lnTo>
                  <a:lnTo>
                    <a:pt x="5756257" y="1640634"/>
                  </a:lnTo>
                  <a:lnTo>
                    <a:pt x="5746050" y="1655772"/>
                  </a:lnTo>
                  <a:lnTo>
                    <a:pt x="5730912" y="1665979"/>
                  </a:lnTo>
                  <a:lnTo>
                    <a:pt x="5712374" y="1669721"/>
                  </a:lnTo>
                  <a:lnTo>
                    <a:pt x="47625" y="1669721"/>
                  </a:lnTo>
                  <a:lnTo>
                    <a:pt x="29087" y="1665979"/>
                  </a:lnTo>
                  <a:lnTo>
                    <a:pt x="13949" y="1655772"/>
                  </a:lnTo>
                  <a:lnTo>
                    <a:pt x="3742" y="1640634"/>
                  </a:lnTo>
                  <a:lnTo>
                    <a:pt x="0" y="1622096"/>
                  </a:lnTo>
                  <a:lnTo>
                    <a:pt x="0" y="47625"/>
                  </a:lnTo>
                  <a:lnTo>
                    <a:pt x="3742" y="29087"/>
                  </a:lnTo>
                  <a:lnTo>
                    <a:pt x="13949" y="13949"/>
                  </a:lnTo>
                  <a:lnTo>
                    <a:pt x="29087" y="3742"/>
                  </a:lnTo>
                  <a:lnTo>
                    <a:pt x="476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699133" y="6425681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150" b="0">
                <a:solidFill>
                  <a:srgbClr val="334155"/>
                </a:solidFill>
                <a:latin typeface="Microsoft YaHei Light"/>
                <a:cs typeface="Microsoft YaHei Light"/>
              </a:rPr>
              <a:t>A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570449" y="6425681"/>
            <a:ext cx="4318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20" b="0">
                <a:solidFill>
                  <a:srgbClr val="334155"/>
                </a:solidFill>
                <a:latin typeface="Microsoft YaHei Light"/>
                <a:cs typeface="Microsoft YaHei Light"/>
              </a:rPr>
              <a:t>服务器</a:t>
            </a:r>
            <a:endParaRPr sz="1100">
              <a:latin typeface="Microsoft YaHei Light"/>
              <a:cs typeface="Microsoft YaHei Ligh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02066" y="6425681"/>
            <a:ext cx="571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55" b="0">
                <a:solidFill>
                  <a:srgbClr val="334155"/>
                </a:solidFill>
                <a:latin typeface="Microsoft YaHei Light"/>
                <a:cs typeface="Microsoft YaHei Light"/>
              </a:rPr>
              <a:t>客户端 </a:t>
            </a:r>
            <a:r>
              <a:rPr dirty="0" sz="1100" spc="-50" b="0">
                <a:solidFill>
                  <a:srgbClr val="334155"/>
                </a:solidFill>
                <a:latin typeface="Microsoft YaHei Light"/>
                <a:cs typeface="Microsoft YaHei Light"/>
              </a:rPr>
              <a:t>B</a:t>
            </a:r>
            <a:endParaRPr sz="1100">
              <a:latin typeface="Microsoft YaHei Light"/>
              <a:cs typeface="Microsoft YaHei Ligh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74625" y="6767311"/>
            <a:ext cx="5410835" cy="1033144"/>
            <a:chOff x="1074625" y="6767311"/>
            <a:chExt cx="5410835" cy="1033144"/>
          </a:xfrm>
        </p:grpSpPr>
        <p:sp>
          <p:nvSpPr>
            <p:cNvPr id="31" name="object 31" descr=""/>
            <p:cNvSpPr/>
            <p:nvPr/>
          </p:nvSpPr>
          <p:spPr>
            <a:xfrm>
              <a:off x="1077800" y="6770486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5">
                  <a:moveTo>
                    <a:pt x="5369474" y="1026218"/>
                  </a:move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77800" y="6770486"/>
              <a:ext cx="5404485" cy="1026794"/>
            </a:xfrm>
            <a:custGeom>
              <a:avLst/>
              <a:gdLst/>
              <a:ahLst/>
              <a:cxnLst/>
              <a:rect l="l" t="t" r="r" b="b"/>
              <a:pathLst>
                <a:path w="5404485" h="1026795">
                  <a:moveTo>
                    <a:pt x="34925" y="0"/>
                  </a:moveTo>
                  <a:lnTo>
                    <a:pt x="5369474" y="0"/>
                  </a:lnTo>
                  <a:lnTo>
                    <a:pt x="5383069" y="2744"/>
                  </a:lnTo>
                  <a:lnTo>
                    <a:pt x="5394170" y="10229"/>
                  </a:lnTo>
                  <a:lnTo>
                    <a:pt x="5401655" y="21330"/>
                  </a:lnTo>
                  <a:lnTo>
                    <a:pt x="5404399" y="34925"/>
                  </a:lnTo>
                  <a:lnTo>
                    <a:pt x="5404399" y="991293"/>
                  </a:lnTo>
                  <a:lnTo>
                    <a:pt x="5401655" y="1004888"/>
                  </a:lnTo>
                  <a:lnTo>
                    <a:pt x="5394170" y="1015989"/>
                  </a:lnTo>
                  <a:lnTo>
                    <a:pt x="5383069" y="1023474"/>
                  </a:lnTo>
                  <a:lnTo>
                    <a:pt x="5369474" y="1026218"/>
                  </a:lnTo>
                  <a:lnTo>
                    <a:pt x="34925" y="1026218"/>
                  </a:lnTo>
                  <a:lnTo>
                    <a:pt x="21330" y="1023474"/>
                  </a:lnTo>
                  <a:lnTo>
                    <a:pt x="10229" y="1015989"/>
                  </a:lnTo>
                  <a:lnTo>
                    <a:pt x="2744" y="1004888"/>
                  </a:lnTo>
                  <a:lnTo>
                    <a:pt x="0" y="991293"/>
                  </a:lnTo>
                  <a:lnTo>
                    <a:pt x="0" y="34925"/>
                  </a:lnTo>
                  <a:lnTo>
                    <a:pt x="2744" y="21330"/>
                  </a:lnTo>
                  <a:lnTo>
                    <a:pt x="10229" y="10229"/>
                  </a:lnTo>
                  <a:lnTo>
                    <a:pt x="21330" y="2744"/>
                  </a:lnTo>
                  <a:lnTo>
                    <a:pt x="34925" y="0"/>
                  </a:lnTo>
                </a:path>
              </a:pathLst>
            </a:custGeom>
            <a:ln w="6350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360556" y="6836538"/>
            <a:ext cx="5994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Consolas"/>
                <a:cs typeface="Consolas"/>
              </a:rPr>
              <a:t>Client </a:t>
            </a:r>
            <a:r>
              <a:rPr dirty="0" sz="1050" spc="-50"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42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2240354" y="6824778"/>
            <a:ext cx="3971925" cy="88455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72845">
              <a:lnSpc>
                <a:spcPct val="100000"/>
              </a:lnSpc>
              <a:spcBef>
                <a:spcPts val="190"/>
              </a:spcBef>
              <a:tabLst>
                <a:tab pos="3079115" algn="l"/>
              </a:tabLst>
            </a:pPr>
            <a:r>
              <a:rPr dirty="0" sz="1050" spc="-10">
                <a:latin typeface="Consolas"/>
                <a:cs typeface="Consolas"/>
              </a:rPr>
              <a:t>Server</a:t>
            </a:r>
            <a:r>
              <a:rPr dirty="0" sz="1050">
                <a:latin typeface="Consolas"/>
                <a:cs typeface="Consolas"/>
              </a:rPr>
              <a:t>	Client </a:t>
            </a:r>
            <a:r>
              <a:rPr dirty="0" sz="1050" spc="-50">
                <a:latin typeface="Consolas"/>
                <a:cs typeface="Consolas"/>
              </a:rPr>
              <a:t>B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  <a:tab pos="3811904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tabLst>
                <a:tab pos="3885565" algn="l"/>
              </a:tabLst>
            </a:pPr>
            <a:r>
              <a:rPr dirty="0" sz="1050">
                <a:latin typeface="Consolas"/>
                <a:cs typeface="Consolas"/>
              </a:rPr>
              <a:t>|-------- RESIGN ---------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r>
              <a:rPr dirty="0" sz="1050">
                <a:latin typeface="Consolas"/>
                <a:cs typeface="Consolas"/>
              </a:rPr>
              <a:t>	</a:t>
            </a:r>
            <a:r>
              <a:rPr dirty="0" sz="1050" spc="-50">
                <a:latin typeface="Consolas"/>
                <a:cs typeface="Consolas"/>
              </a:rPr>
              <a:t>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tabLst>
                <a:tab pos="1905635" algn="l"/>
              </a:tabLst>
            </a:pPr>
            <a:r>
              <a:rPr dirty="0" sz="1050" spc="-50">
                <a:latin typeface="Consolas"/>
                <a:cs typeface="Consolas"/>
              </a:rPr>
              <a:t>|</a:t>
            </a:r>
            <a:r>
              <a:rPr dirty="0" sz="1050">
                <a:latin typeface="Consolas"/>
                <a:cs typeface="Consolas"/>
              </a:rPr>
              <a:t>	|-------- RESIGN --------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latin typeface="Consolas"/>
                <a:cs typeface="Consolas"/>
              </a:rPr>
              <a:t>|&lt;------ GAME_OVER --------|&lt;------ GAME_OVER ------</a:t>
            </a:r>
            <a:r>
              <a:rPr dirty="0" sz="1050" spc="-25">
                <a:latin typeface="Consolas"/>
                <a:cs typeface="Consolas"/>
              </a:rPr>
              <a:t>&gt;|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87300" y="8016663"/>
            <a:ext cx="521081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7375">
              <a:lnSpc>
                <a:spcPct val="100000"/>
              </a:lnSpc>
              <a:spcBef>
                <a:spcPts val="100"/>
              </a:spcBef>
            </a:pPr>
            <a:r>
              <a:rPr dirty="0" sz="1100" spc="95" b="0">
                <a:latin typeface="Microsoft YaHei Light"/>
                <a:cs typeface="Microsoft YaHei Light"/>
              </a:rPr>
              <a:t>Listing</a:t>
            </a:r>
            <a:r>
              <a:rPr dirty="0" sz="1100" spc="185" b="0">
                <a:latin typeface="Microsoft YaHei Light"/>
                <a:cs typeface="Microsoft YaHei Light"/>
              </a:rPr>
              <a:t> </a:t>
            </a:r>
            <a:r>
              <a:rPr dirty="0" sz="1100" spc="175" b="0">
                <a:latin typeface="Microsoft YaHei Light"/>
                <a:cs typeface="Microsoft YaHei Light"/>
              </a:rPr>
              <a:t>11:</a:t>
            </a:r>
            <a:r>
              <a:rPr dirty="0" sz="1100" spc="25" b="0">
                <a:latin typeface="Microsoft YaHei Light"/>
                <a:cs typeface="Microsoft YaHei Light"/>
              </a:rPr>
              <a:t> 认输流程：客户端 </a:t>
            </a:r>
            <a:r>
              <a:rPr dirty="0" sz="1100" spc="-20" b="0">
                <a:latin typeface="Microsoft YaHei Light"/>
                <a:cs typeface="Microsoft YaHei Light"/>
              </a:rPr>
              <a:t>A</a:t>
            </a:r>
            <a:r>
              <a:rPr dirty="0" sz="1100" spc="25" b="0">
                <a:latin typeface="Microsoft YaHei Light"/>
                <a:cs typeface="Microsoft YaHei Light"/>
              </a:rPr>
              <a:t> 认输，服务器通知 </a:t>
            </a:r>
            <a:r>
              <a:rPr dirty="0" sz="1100" b="0">
                <a:latin typeface="Microsoft YaHei Light"/>
                <a:cs typeface="Microsoft YaHei Light"/>
              </a:rPr>
              <a:t>B</a:t>
            </a:r>
            <a:r>
              <a:rPr dirty="0" sz="1100" spc="70" b="0">
                <a:latin typeface="Microsoft YaHei Light"/>
                <a:cs typeface="Microsoft YaHei Light"/>
              </a:rPr>
              <a:t> 并广播 </a:t>
            </a:r>
            <a:r>
              <a:rPr dirty="0" sz="1100" spc="-165" b="0">
                <a:latin typeface="Microsoft YaHei Light"/>
                <a:cs typeface="Microsoft YaHei Light"/>
              </a:rPr>
              <a:t>GAME_OVER</a:t>
            </a:r>
            <a:endParaRPr sz="1100">
              <a:latin typeface="Microsoft YaHei Light"/>
              <a:cs typeface="Microsoft YaHe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Microsoft YaHei Light"/>
              <a:cs typeface="Microsoft YaHei Light"/>
            </a:endParaRPr>
          </a:p>
          <a:p>
            <a:pPr marL="12700">
              <a:lnSpc>
                <a:spcPct val="100000"/>
              </a:lnSpc>
            </a:pPr>
            <a:r>
              <a:rPr dirty="0" sz="1500" spc="150" b="0">
                <a:solidFill>
                  <a:srgbClr val="1E40AF"/>
                </a:solidFill>
                <a:latin typeface="Microsoft YaHei Light"/>
                <a:cs typeface="Microsoft YaHei Light"/>
              </a:rPr>
              <a:t>16.6.</a:t>
            </a:r>
            <a:r>
              <a:rPr dirty="0" sz="1500" spc="-4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55" b="0">
                <a:solidFill>
                  <a:srgbClr val="1E40AF"/>
                </a:solidFill>
                <a:latin typeface="Microsoft YaHei Light"/>
                <a:cs typeface="Microsoft YaHei Light"/>
              </a:rPr>
              <a:t>B.8</a:t>
            </a:r>
            <a:r>
              <a:rPr dirty="0" sz="1500" spc="215" b="0">
                <a:solidFill>
                  <a:srgbClr val="1E40AF"/>
                </a:solidFill>
                <a:latin typeface="Microsoft YaHei Light"/>
                <a:cs typeface="Microsoft YaHei Light"/>
              </a:rPr>
              <a:t> </a:t>
            </a:r>
            <a:r>
              <a:rPr dirty="0" sz="1500" spc="-85" b="0">
                <a:solidFill>
                  <a:srgbClr val="1E40AF"/>
                </a:solidFill>
                <a:latin typeface="Microsoft YaHei Light"/>
                <a:cs typeface="Microsoft YaHei Light"/>
              </a:rPr>
              <a:t>TCP</a:t>
            </a:r>
            <a:r>
              <a:rPr dirty="0" sz="1500" spc="10" b="0">
                <a:solidFill>
                  <a:srgbClr val="1E40AF"/>
                </a:solidFill>
                <a:latin typeface="Microsoft YaHei Light"/>
                <a:cs typeface="Microsoft YaHei Light"/>
              </a:rPr>
              <a:t> 消息快速参考卡片</a:t>
            </a:r>
            <a:endParaRPr sz="1500">
              <a:latin typeface="Microsoft YaHei Light"/>
              <a:cs typeface="Microsoft YaHei Light"/>
            </a:endParaRPr>
          </a:p>
        </p:txBody>
      </p:sp>
      <p:graphicFrame>
        <p:nvGraphicFramePr>
          <p:cNvPr id="36" name="object 36" descr=""/>
          <p:cNvGraphicFramePr>
            <a:graphicFrameLocks noGrp="1"/>
          </p:cNvGraphicFramePr>
          <p:nvPr/>
        </p:nvGraphicFramePr>
        <p:xfrm>
          <a:off x="898412" y="8799033"/>
          <a:ext cx="5763260" cy="969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319"/>
                <a:gridCol w="699134"/>
                <a:gridCol w="4026535"/>
              </a:tblGrid>
              <a:tr h="434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291465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类型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r" marR="126364">
                        <a:lnSpc>
                          <a:spcPct val="100000"/>
                        </a:lnSpc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方向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payload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格式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715">
                    <a:lnT w="6350">
                      <a:solidFill>
                        <a:srgbClr val="BFDBF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LOGIN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&lt;color&gt;\|&lt;name&gt;\|&lt;gameId&gt;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r" marR="291465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300" b="0">
                          <a:latin typeface="Microsoft YaHei Light"/>
                          <a:cs typeface="Microsoft YaHei Light"/>
                        </a:rPr>
                        <a:t>MOVE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127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双边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&lt;src&gt;\|&lt;dst&gt;\|&lt;type&gt;\|&lt;time&gt;\|&lt;flip&gt;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096207"/>
          <a:ext cx="5766435" cy="261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75"/>
                <a:gridCol w="535939"/>
                <a:gridCol w="4059554"/>
              </a:tblGrid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GAME_STATE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190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LOGIN_ACK\|&lt;id&gt;\|&lt;color&gt;\|&lt;status&gt;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70" b="0">
                          <a:latin typeface="Microsoft YaHei Light"/>
                          <a:cs typeface="Microsoft YaHei Light"/>
                        </a:rPr>
                        <a:t>/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GAME_START\|...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TURN_CHANGE\|...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ERROR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&lt;code&gt;\|&lt;msg&gt;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9530"/>
                </a:tc>
              </a:tr>
              <a:tr h="30734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QUIT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C→S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（空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）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</a:tr>
              <a:tr h="307340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GAME_OVER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&lt;winner&gt;\|&lt;reasonCode&gt;\|&lt;desc&gt;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28702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S→C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&lt;turn&gt;\|&lt;r0&gt;;...;&lt;r9&gt;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55880"/>
                </a:tc>
              </a:tr>
              <a:tr h="31559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0" b="0">
                          <a:latin typeface="Microsoft YaHei Light"/>
                          <a:cs typeface="Microsoft YaHei Light"/>
                        </a:rPr>
                        <a:t>DRAW_REQUEST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-25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7620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50">
                          <a:latin typeface="Consolas"/>
                          <a:cs typeface="Consolas"/>
                        </a:rPr>
                        <a:t>OFFER</a:t>
                      </a:r>
                      <a:r>
                        <a:rPr dirty="0" sz="105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ACCEPT</a:t>
                      </a:r>
                      <a:r>
                        <a:rPr dirty="0" sz="1050" spc="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spc="24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DECLINE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76200"/>
                </a:tc>
              </a:tr>
              <a:tr h="327025">
                <a:tc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RESIGN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algn="ctr" marL="374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C</a:t>
                      </a:r>
                      <a:r>
                        <a:rPr dirty="0" sz="1200" spc="-25">
                          <a:latin typeface="Lucida Sans Unicode"/>
                          <a:cs typeface="Lucida Sans Unicode"/>
                        </a:rPr>
                        <a:t>↔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S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（空）</a:t>
                      </a:r>
                      <a:r>
                        <a:rPr dirty="0" sz="1200" spc="120" b="0">
                          <a:latin typeface="Microsoft YaHei Light"/>
                          <a:cs typeface="Microsoft YaHei Light"/>
                        </a:rPr>
                        <a:t>或 </a:t>
                      </a:r>
                      <a:r>
                        <a:rPr dirty="0" sz="1050" spc="-10">
                          <a:latin typeface="Consolas"/>
                          <a:cs typeface="Consolas"/>
                        </a:rPr>
                        <a:t>&lt;color&gt;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67310"/>
                </a:tc>
              </a:tr>
              <a:tr h="220979">
                <a:tc>
                  <a:txBody>
                    <a:bodyPr/>
                    <a:lstStyle/>
                    <a:p>
                      <a:pPr algn="ctr" marL="3175">
                        <a:lnSpc>
                          <a:spcPts val="1270"/>
                        </a:lnSpc>
                        <a:spcBef>
                          <a:spcPts val="370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CHAT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ts val="1270"/>
                        </a:lnSpc>
                        <a:spcBef>
                          <a:spcPts val="37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双边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50" spc="-10">
                          <a:latin typeface="Consolas"/>
                          <a:cs typeface="Consolas"/>
                        </a:rPr>
                        <a:t>&lt;color&gt;\|&lt;name&gt;\|&lt;msg&gt;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4699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319100" y="83268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类型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82699" y="832682"/>
            <a:ext cx="1513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6105" algn="l"/>
              </a:tabLst>
            </a:pPr>
            <a:r>
              <a:rPr dirty="0" sz="1200" b="0">
                <a:latin typeface="Microsoft YaHei Light"/>
                <a:cs typeface="Microsoft YaHei Light"/>
              </a:rPr>
              <a:t>方</a:t>
            </a:r>
            <a:r>
              <a:rPr dirty="0" sz="1200" spc="-50" b="0">
                <a:latin typeface="Microsoft YaHei Light"/>
                <a:cs typeface="Microsoft YaHei Light"/>
              </a:rPr>
              <a:t>向</a:t>
            </a:r>
            <a:r>
              <a:rPr dirty="0" sz="1200" b="0">
                <a:latin typeface="Microsoft YaHei Light"/>
                <a:cs typeface="Microsoft YaHei Light"/>
              </a:rPr>
              <a:t>	payload</a:t>
            </a:r>
            <a:r>
              <a:rPr dirty="0" sz="1200" spc="110" b="0">
                <a:latin typeface="Microsoft YaHei Light"/>
                <a:cs typeface="Microsoft YaHei Light"/>
              </a:rPr>
              <a:t> </a:t>
            </a:r>
            <a:r>
              <a:rPr dirty="0" sz="1200" b="0">
                <a:latin typeface="Microsoft YaHei Light"/>
                <a:cs typeface="Microsoft YaHei Light"/>
              </a:rPr>
              <a:t>格</a:t>
            </a:r>
            <a:r>
              <a:rPr dirty="0" sz="1200" spc="-50" b="0">
                <a:latin typeface="Microsoft YaHei Light"/>
                <a:cs typeface="Microsoft YaHei Light"/>
              </a:rPr>
              <a:t>式</a:t>
            </a:r>
            <a:endParaRPr sz="1200">
              <a:latin typeface="Microsoft YaHei Light"/>
              <a:cs typeface="Microsoft YaHei Ligh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74600" y="4218859"/>
            <a:ext cx="5785485" cy="427990"/>
            <a:chOff x="874600" y="4218859"/>
            <a:chExt cx="5785485" cy="427990"/>
          </a:xfrm>
        </p:grpSpPr>
        <p:sp>
          <p:nvSpPr>
            <p:cNvPr id="6" name="object 6" descr=""/>
            <p:cNvSpPr/>
            <p:nvPr/>
          </p:nvSpPr>
          <p:spPr>
            <a:xfrm>
              <a:off x="900000" y="4218859"/>
              <a:ext cx="5760085" cy="427990"/>
            </a:xfrm>
            <a:custGeom>
              <a:avLst/>
              <a:gdLst/>
              <a:ahLst/>
              <a:cxnLst/>
              <a:rect l="l" t="t" r="r" b="b"/>
              <a:pathLst>
                <a:path w="5760084" h="427989">
                  <a:moveTo>
                    <a:pt x="5709199" y="427632"/>
                  </a:moveTo>
                  <a:lnTo>
                    <a:pt x="50800" y="427632"/>
                  </a:ln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709199" y="0"/>
                  </a:lnTo>
                  <a:lnTo>
                    <a:pt x="5728973" y="3992"/>
                  </a:lnTo>
                  <a:lnTo>
                    <a:pt x="5745120" y="14878"/>
                  </a:lnTo>
                  <a:lnTo>
                    <a:pt x="5756007" y="31026"/>
                  </a:lnTo>
                  <a:lnTo>
                    <a:pt x="5759999" y="50800"/>
                  </a:lnTo>
                  <a:lnTo>
                    <a:pt x="5759999" y="376832"/>
                  </a:lnTo>
                  <a:lnTo>
                    <a:pt x="5756007" y="396606"/>
                  </a:lnTo>
                  <a:lnTo>
                    <a:pt x="5745120" y="412753"/>
                  </a:lnTo>
                  <a:lnTo>
                    <a:pt x="5728973" y="423640"/>
                  </a:lnTo>
                  <a:lnTo>
                    <a:pt x="5709199" y="427632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74600" y="4218859"/>
              <a:ext cx="50800" cy="427990"/>
            </a:xfrm>
            <a:custGeom>
              <a:avLst/>
              <a:gdLst/>
              <a:ahLst/>
              <a:cxnLst/>
              <a:rect l="l" t="t" r="r" b="b"/>
              <a:pathLst>
                <a:path w="50800" h="427989">
                  <a:moveTo>
                    <a:pt x="50800" y="427632"/>
                  </a:moveTo>
                  <a:lnTo>
                    <a:pt x="31026" y="423640"/>
                  </a:lnTo>
                  <a:lnTo>
                    <a:pt x="14878" y="412753"/>
                  </a:lnTo>
                  <a:lnTo>
                    <a:pt x="3992" y="396606"/>
                  </a:lnTo>
                  <a:lnTo>
                    <a:pt x="0" y="376832"/>
                  </a:lnTo>
                  <a:lnTo>
                    <a:pt x="0" y="50800"/>
                  </a:lnTo>
                  <a:lnTo>
                    <a:pt x="3992" y="31026"/>
                  </a:lnTo>
                  <a:lnTo>
                    <a:pt x="14878" y="14878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50800" y="427632"/>
                  </a:lnTo>
                  <a:close/>
                </a:path>
              </a:pathLst>
            </a:custGeom>
            <a:solidFill>
              <a:srgbClr val="1E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14300" y="4252792"/>
            <a:ext cx="2514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5" b="0">
                <a:solidFill>
                  <a:srgbClr val="1E3A8A"/>
                </a:solidFill>
                <a:latin typeface="Microsoft YaHei Light"/>
                <a:cs typeface="Microsoft YaHei Light"/>
              </a:rPr>
              <a:t>17.</a:t>
            </a:r>
            <a:r>
              <a:rPr dirty="0" sz="2000" spc="100" b="0">
                <a:solidFill>
                  <a:srgbClr val="1E3A8A"/>
                </a:solidFill>
                <a:latin typeface="Microsoft YaHei Light"/>
                <a:cs typeface="Microsoft YaHei Light"/>
              </a:rPr>
              <a:t> 附录 </a:t>
            </a:r>
            <a:r>
              <a:rPr dirty="0" sz="2000" spc="-190" b="0">
                <a:solidFill>
                  <a:srgbClr val="1E3A8A"/>
                </a:solidFill>
                <a:latin typeface="Microsoft YaHei Light"/>
                <a:cs typeface="Microsoft YaHei Light"/>
              </a:rPr>
              <a:t>C：</a:t>
            </a:r>
            <a:r>
              <a:rPr dirty="0" sz="2000" spc="-15" b="0">
                <a:solidFill>
                  <a:srgbClr val="1E3A8A"/>
                </a:solidFill>
                <a:latin typeface="Microsoft YaHei Light"/>
                <a:cs typeface="Microsoft YaHei Light"/>
              </a:rPr>
              <a:t>版本历史</a:t>
            </a:r>
            <a:endParaRPr sz="2000">
              <a:latin typeface="Microsoft YaHei Light"/>
              <a:cs typeface="Microsoft YaHei Ligh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43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87300" y="4748093"/>
            <a:ext cx="54356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20" b="0">
                <a:latin typeface="Microsoft YaHei Light"/>
                <a:cs typeface="Microsoft YaHei Light"/>
              </a:rPr>
              <a:t>版本号方案：对外正式版本自 </a:t>
            </a:r>
            <a:r>
              <a:rPr dirty="0" sz="1200" b="0">
                <a:latin typeface="Microsoft YaHei Light"/>
                <a:cs typeface="Microsoft YaHei Light"/>
              </a:rPr>
              <a:t>v0.0.0（2026-05-15）</a:t>
            </a:r>
            <a:r>
              <a:rPr dirty="0" sz="1200" spc="90" b="0">
                <a:latin typeface="Microsoft YaHei Light"/>
                <a:cs typeface="Microsoft YaHei Light"/>
              </a:rPr>
              <a:t> 起算。此前 </a:t>
            </a:r>
            <a:r>
              <a:rPr dirty="0" sz="1200" spc="-40" b="0">
                <a:latin typeface="Microsoft YaHei Light"/>
                <a:cs typeface="Microsoft YaHei Light"/>
              </a:rPr>
              <a:t>2026-05-</a:t>
            </a:r>
            <a:r>
              <a:rPr dirty="0" sz="1200" spc="-45" b="0">
                <a:latin typeface="Microsoft YaHei Light"/>
                <a:cs typeface="Microsoft YaHei Light"/>
              </a:rPr>
              <a:t>08～ </a:t>
            </a:r>
            <a:r>
              <a:rPr dirty="0" sz="1200" b="0">
                <a:latin typeface="Microsoft YaHei Light"/>
                <a:cs typeface="Microsoft YaHei Light"/>
              </a:rPr>
              <a:t>05-12</a:t>
            </a:r>
            <a:r>
              <a:rPr dirty="0" sz="1200" spc="-5" b="0">
                <a:latin typeface="Microsoft YaHei Light"/>
                <a:cs typeface="Microsoft YaHei Light"/>
              </a:rPr>
              <a:t> 为项目组内部草案，不纳入对外版本序列。</a:t>
            </a:r>
            <a:endParaRPr sz="1200">
              <a:latin typeface="Microsoft YaHei Light"/>
              <a:cs typeface="Microsoft YaHei Ligh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869400" y="5371623"/>
          <a:ext cx="5794375" cy="4345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359"/>
                <a:gridCol w="822960"/>
                <a:gridCol w="4503420"/>
              </a:tblGrid>
              <a:tr h="466090">
                <a:tc>
                  <a:txBody>
                    <a:bodyPr/>
                    <a:lstStyle/>
                    <a:p>
                      <a:pPr marL="152400">
                        <a:lnSpc>
                          <a:spcPts val="127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本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302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日期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9525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1270"/>
                        </a:lnSpc>
                      </a:pPr>
                      <a:r>
                        <a:rPr dirty="0" sz="1200" spc="-15" b="0">
                          <a:latin typeface="Microsoft YaHei Light"/>
                          <a:cs typeface="Microsoft YaHei Light"/>
                        </a:rPr>
                        <a:t>主要变更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v0.0.0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2026-05-15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协议版本体系基线（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自本日起从 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0.0.0 起算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 marR="177165">
                        <a:lnSpc>
                          <a:spcPct val="127800"/>
                        </a:lnSpc>
                      </a:pP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文本帧、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UTF-8/LF</a:t>
                      </a: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坐标系（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行 </a:t>
                      </a: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9–0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列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204" b="0">
                          <a:latin typeface="Microsoft YaHei Light"/>
                          <a:cs typeface="Microsoft YaHei Light"/>
                        </a:rPr>
                        <a:t>a–i）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与 </a:t>
                      </a:r>
                      <a:r>
                        <a:rPr dirty="0" sz="1200" spc="-150" b="0">
                          <a:latin typeface="Microsoft YaHei Light"/>
                          <a:cs typeface="Microsoft YaHei Light"/>
                        </a:rPr>
                        <a:t>Move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字段；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 marR="558165">
                        <a:lnSpc>
                          <a:spcPct val="127800"/>
                        </a:lnSpc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7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种核心消息类型与组内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Reference</a:t>
                      </a:r>
                      <a:r>
                        <a:rPr dirty="0" sz="1200" spc="27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Server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联调通过；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BOARD_STATE/Cell</a:t>
                      </a:r>
                      <a:r>
                        <a:rPr dirty="0" sz="1200" spc="90" b="0">
                          <a:latin typeface="Microsoft YaHei Light"/>
                          <a:cs typeface="Microsoft YaHei Light"/>
                        </a:rPr>
                        <a:t> 编码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0?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050">
                          <a:latin typeface="Consolas"/>
                          <a:cs typeface="Consolas"/>
                        </a:rPr>
                        <a:t>1?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/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明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子</a:t>
                      </a:r>
                      <a:r>
                        <a:rPr dirty="0" sz="1200" spc="-70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100" b="0">
                          <a:latin typeface="Microsoft YaHei Light"/>
                          <a:cs typeface="Microsoft YaHei Light"/>
                        </a:rPr>
                        <a:t>；ERROR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 错误码表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（100–112</a:t>
                      </a:r>
                      <a:r>
                        <a:rPr dirty="0" sz="1200" spc="-55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暗子服务器随机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type；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超时判负与断线处理说明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33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42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R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v1.2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2026-05-18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7000" marR="78676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新增 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GAME_STATE</a:t>
                      </a: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 子类型</a:t>
                      </a:r>
                      <a:r>
                        <a:rPr dirty="0" sz="1200" spc="-110" b="0">
                          <a:latin typeface="Microsoft YaHei Light"/>
                          <a:cs typeface="Microsoft YaHei Light"/>
                        </a:rPr>
                        <a:t>（LOGIN_ACK</a:t>
                      </a:r>
                      <a:r>
                        <a:rPr dirty="0" sz="1200" spc="-20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125" b="0">
                          <a:latin typeface="Microsoft YaHei Light"/>
                          <a:cs typeface="Microsoft YaHei Light"/>
                        </a:rPr>
                        <a:t>GAME_START</a:t>
                      </a:r>
                      <a:r>
                        <a:rPr dirty="0" sz="1200" spc="-135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13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TURN_CHANGE</a:t>
                      </a:r>
                      <a:r>
                        <a:rPr dirty="0" sz="1200" spc="-690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90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 marR="253365">
                        <a:lnSpc>
                          <a:spcPct val="127800"/>
                        </a:lnSpc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起草 </a:t>
                      </a:r>
                      <a:r>
                        <a:rPr dirty="0" sz="1200" spc="-160" b="0">
                          <a:latin typeface="Microsoft YaHei Light"/>
                          <a:cs typeface="Microsoft YaHei Light"/>
                        </a:rPr>
                        <a:t>MSG_DRAW_REQUEST</a:t>
                      </a:r>
                      <a:r>
                        <a:rPr dirty="0" sz="1200" spc="-24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150" b="0">
                          <a:latin typeface="Microsoft YaHei Light"/>
                          <a:cs typeface="Microsoft YaHei Light"/>
                        </a:rPr>
                        <a:t>MSG_RESIGN</a:t>
                      </a:r>
                      <a:r>
                        <a:rPr dirty="0" sz="1200" spc="-24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140" b="0">
                          <a:latin typeface="Microsoft YaHei Light"/>
                          <a:cs typeface="Microsoft YaHei Light"/>
                        </a:rPr>
                        <a:t>MSG_CHAT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扩展消息；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编写虚拟类型表与明士/明象强化规则说明；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完成与第二组客户端首次互通测试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930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v1.3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2026-05-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7000" marR="32956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55" b="0">
                          <a:latin typeface="Microsoft YaHei Light"/>
                          <a:cs typeface="Microsoft YaHei Light"/>
                        </a:rPr>
                        <a:t>统一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payload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长度校验规则；补充 </a:t>
                      </a:r>
                      <a:r>
                        <a:rPr dirty="0" sz="1200" spc="-175" b="0">
                          <a:latin typeface="Microsoft YaHei Light"/>
                          <a:cs typeface="Microsoft YaHei Light"/>
                        </a:rPr>
                        <a:t>GAME_OVER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 原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因</a:t>
                      </a:r>
                      <a:r>
                        <a:rPr dirty="0" sz="1200" spc="80" b="0">
                          <a:latin typeface="Microsoft YaHei Light"/>
                          <a:cs typeface="Microsoft YaHei Light"/>
                        </a:rPr>
                        <a:t>码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（0– 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9</a:t>
                      </a:r>
                      <a:r>
                        <a:rPr dirty="0" sz="1200" spc="-4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17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127000" marR="1396365">
                        <a:lnSpc>
                          <a:spcPts val="1839"/>
                        </a:lnSpc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增加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40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 步无吃子和、长将/长捉判例说明；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整理棋谱记谱格式与组间联调检查清单初版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10"/>
              </a:lnSpc>
            </a:pPr>
            <a:r>
              <a:rPr dirty="0" spc="-25"/>
              <a:t>44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896825" y="1329927"/>
          <a:ext cx="5766435" cy="387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"/>
                <a:gridCol w="899159"/>
                <a:gridCol w="4465320"/>
              </a:tblGrid>
              <a:tr h="170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v2.0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2026-05-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22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0" marR="710565">
                        <a:lnSpc>
                          <a:spcPct val="127800"/>
                        </a:lnSpc>
                        <a:spcBef>
                          <a:spcPts val="20"/>
                        </a:spcBef>
                      </a:pP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全面重构为现行权威版本；完整帧格式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（msgType|len| 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payload）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与解析伪代码；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正式纳入 </a:t>
                      </a:r>
                      <a:r>
                        <a:rPr dirty="0" sz="1200" spc="130" b="0">
                          <a:latin typeface="Microsoft YaHei Light"/>
                          <a:cs typeface="Microsoft YaHei Light"/>
                        </a:rPr>
                        <a:t>8–10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 号消息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（提和、认输、聊天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 marR="634365">
                        <a:lnSpc>
                          <a:spcPct val="127800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完善错误码/原因码体系、典型通信时序图、边界判例；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扩展 </a:t>
                      </a:r>
                      <a:r>
                        <a:rPr dirty="0" sz="1200" spc="-130" b="0">
                          <a:latin typeface="Microsoft YaHei Light"/>
                          <a:cs typeface="Microsoft YaHei Light"/>
                        </a:rPr>
                        <a:t>BOARD_STATE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 完整示例与逐行解析；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 marR="558165">
                        <a:lnSpc>
                          <a:spcPct val="127800"/>
                        </a:lnSpc>
                      </a:pP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定稿虚拟类型表、多盘对弈约定及待老师确认问题列表；</a:t>
                      </a:r>
                      <a:r>
                        <a:rPr dirty="0" sz="1200" spc="-5" b="0">
                          <a:latin typeface="Microsoft YaHei Light"/>
                          <a:cs typeface="Microsoft YaHei Light"/>
                        </a:rPr>
                        <a:t>本文档作为组间互操作唯一参考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254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v3.0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2026-05-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29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0" marR="21526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对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齐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课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程</a:t>
                      </a:r>
                      <a:r>
                        <a:rPr dirty="0" sz="1200" spc="-55" b="0">
                          <a:latin typeface="Microsoft YaHei Light"/>
                          <a:cs typeface="Microsoft YaHei Light"/>
                        </a:rPr>
                        <a:t>《</a:t>
                      </a:r>
                      <a:r>
                        <a:rPr dirty="0" sz="1200" spc="-35" b="0">
                          <a:latin typeface="Microsoft YaHei Light"/>
                          <a:cs typeface="Microsoft YaHei Light"/>
                        </a:rPr>
                        <a:t>2026</a:t>
                      </a:r>
                      <a:r>
                        <a:rPr dirty="0" sz="1200" spc="-80" b="0">
                          <a:latin typeface="Microsoft YaHei Light"/>
                          <a:cs typeface="Microsoft YaHei Light"/>
                        </a:rPr>
                        <a:t> 大作业公共接口》：</a:t>
                      </a:r>
                      <a:r>
                        <a:rPr dirty="0" sz="1200" spc="-60" b="0">
                          <a:latin typeface="Microsoft YaHei Light"/>
                          <a:cs typeface="Microsoft YaHei Light"/>
                        </a:rPr>
                        <a:t>WebSocket</a:t>
                      </a:r>
                      <a:r>
                        <a:rPr dirty="0" sz="1200" spc="35" b="0">
                          <a:latin typeface="Microsoft YaHei Light"/>
                          <a:cs typeface="Microsoft YaHei Light"/>
                        </a:rPr>
                        <a:t> +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升为正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文主协议（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第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6</a:t>
                      </a:r>
                      <a:r>
                        <a:rPr dirty="0" sz="1200" spc="100" b="0">
                          <a:latin typeface="Microsoft YaHei Light"/>
                          <a:cs typeface="Microsoft YaHei Light"/>
                        </a:rPr>
                        <a:t> 章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 marR="634365">
                        <a:lnSpc>
                          <a:spcPct val="127800"/>
                        </a:lnSpc>
                      </a:pP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原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215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协议完整迁移至附录 </a:t>
                      </a:r>
                      <a:r>
                        <a:rPr dirty="0" sz="1200" spc="-65" b="0">
                          <a:latin typeface="Microsoft YaHei Light"/>
                          <a:cs typeface="Microsoft YaHei Light"/>
                        </a:rPr>
                        <a:t>B；</a:t>
                      </a:r>
                      <a:r>
                        <a:rPr dirty="0" sz="1200" spc="40" b="0">
                          <a:latin typeface="Microsoft YaHei Light"/>
                          <a:cs typeface="Microsoft YaHei Light"/>
                        </a:rPr>
                        <a:t>默认端口 </a:t>
                      </a:r>
                      <a:r>
                        <a:rPr dirty="0" sz="1200" spc="-50" b="0">
                          <a:latin typeface="Microsoft YaHei Light"/>
                          <a:cs typeface="Microsoft YaHei Light"/>
                        </a:rPr>
                        <a:t>8887；</a:t>
                      </a: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新增 </a:t>
                      </a:r>
                      <a:r>
                        <a:rPr dirty="0" sz="1200" spc="-310" b="0">
                          <a:latin typeface="Microsoft YaHei Light"/>
                          <a:cs typeface="Microsoft YaHei Light"/>
                        </a:rPr>
                        <a:t>WS</a:t>
                      </a:r>
                      <a:r>
                        <a:rPr dirty="0" sz="1200" spc="20" b="0">
                          <a:latin typeface="Microsoft YaHei Light"/>
                          <a:cs typeface="Microsoft YaHei Light"/>
                        </a:rPr>
                        <a:t> 联调清单条目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  <a:tr h="1164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75" b="0">
                          <a:latin typeface="Microsoft YaHei Light"/>
                          <a:cs typeface="Microsoft YaHei Light"/>
                        </a:rPr>
                        <a:t>v3.1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R="33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45" b="0">
                          <a:latin typeface="Microsoft YaHei Light"/>
                          <a:cs typeface="Microsoft YaHei Light"/>
                        </a:rPr>
                        <a:t>2026-05-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30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0" marR="253365">
                        <a:lnSpc>
                          <a:spcPct val="127800"/>
                        </a:lnSpc>
                        <a:spcBef>
                          <a:spcPts val="40"/>
                        </a:spcBef>
                      </a:pPr>
                      <a:r>
                        <a:rPr dirty="0" sz="1200" spc="165" b="0">
                          <a:latin typeface="Microsoft YaHei Light"/>
                          <a:cs typeface="Microsoft YaHei Light"/>
                        </a:rPr>
                        <a:t>在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v2.0</a:t>
                      </a:r>
                      <a:r>
                        <a:rPr dirty="0" sz="1200" spc="105" b="0">
                          <a:latin typeface="Microsoft YaHei Light"/>
                          <a:cs typeface="Microsoft YaHei Light"/>
                        </a:rPr>
                        <a:t> 全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文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保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留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基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础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上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扩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展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（27</a:t>
                      </a:r>
                      <a:r>
                        <a:rPr dirty="0" sz="1200" spc="150" b="0">
                          <a:latin typeface="Microsoft YaHei Light"/>
                          <a:cs typeface="Microsoft YaHei Light"/>
                        </a:rPr>
                        <a:t> 条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保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留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自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检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清</a:t>
                      </a: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单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，§14</a:t>
                      </a:r>
                      <a:r>
                        <a:rPr dirty="0" sz="1200" spc="95" b="0">
                          <a:latin typeface="Microsoft YaHei Light"/>
                          <a:cs typeface="Microsoft YaHei Light"/>
                        </a:rPr>
                        <a:t> 实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现状态标注</a:t>
                      </a:r>
                      <a:r>
                        <a:rPr dirty="0" sz="1200" spc="-625" b="0">
                          <a:latin typeface="Microsoft YaHei Light"/>
                          <a:cs typeface="Microsoft YaHei Light"/>
                        </a:rPr>
                        <a:t>）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50" b="0">
                          <a:latin typeface="Microsoft YaHei Light"/>
                          <a:cs typeface="Microsoft YaHei Light"/>
                        </a:rPr>
                        <a:t>补全 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C→S/S→C</a:t>
                      </a:r>
                      <a:r>
                        <a:rPr dirty="0" sz="1200" spc="10" b="0">
                          <a:latin typeface="Microsoft YaHei Light"/>
                          <a:cs typeface="Microsoft YaHei Light"/>
                        </a:rPr>
                        <a:t> 字段级说明与老师原文 </a:t>
                      </a:r>
                      <a:r>
                        <a:rPr dirty="0" sz="1200" spc="-105" b="0">
                          <a:latin typeface="Microsoft YaHei Light"/>
                          <a:cs typeface="Microsoft YaHei Light"/>
                        </a:rPr>
                        <a:t>JSON</a:t>
                      </a:r>
                      <a:r>
                        <a:rPr dirty="0" sz="1200" spc="25" b="0">
                          <a:latin typeface="Microsoft YaHei Light"/>
                          <a:cs typeface="Microsoft YaHei Light"/>
                        </a:rPr>
                        <a:t> 示例；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  <a:p>
                      <a:pPr marL="88900" marR="253365">
                        <a:lnSpc>
                          <a:spcPts val="1839"/>
                        </a:lnSpc>
                      </a:pPr>
                      <a:r>
                        <a:rPr dirty="0" sz="1200" spc="60" b="0">
                          <a:latin typeface="Microsoft YaHei Light"/>
                          <a:cs typeface="Microsoft YaHei Light"/>
                        </a:rPr>
                        <a:t>附录 </a:t>
                      </a:r>
                      <a:r>
                        <a:rPr dirty="0" sz="1200" b="0">
                          <a:latin typeface="Microsoft YaHei Light"/>
                          <a:cs typeface="Microsoft YaHei Light"/>
                        </a:rPr>
                        <a:t>B</a:t>
                      </a:r>
                      <a:r>
                        <a:rPr dirty="0" sz="1200" spc="125" b="0">
                          <a:latin typeface="Microsoft YaHei Light"/>
                          <a:cs typeface="Microsoft YaHei Light"/>
                        </a:rPr>
                        <a:t> 含 </a:t>
                      </a:r>
                      <a:r>
                        <a:rPr dirty="0" sz="1200" spc="-270" b="0">
                          <a:latin typeface="Microsoft YaHei Light"/>
                          <a:cs typeface="Microsoft YaHei Light"/>
                        </a:rPr>
                        <a:t>MSG</a:t>
                      </a:r>
                      <a:r>
                        <a:rPr dirty="0" sz="1200" spc="190" b="0">
                          <a:latin typeface="Microsoft YaHei Light"/>
                          <a:cs typeface="Microsoft YaHei Light"/>
                        </a:rPr>
                        <a:t> </a:t>
                      </a:r>
                      <a:r>
                        <a:rPr dirty="0" sz="1200" spc="-20" b="0">
                          <a:latin typeface="Microsoft YaHei Light"/>
                          <a:cs typeface="Microsoft YaHei Light"/>
                        </a:rPr>
                        <a:t>1–10</a:t>
                      </a:r>
                      <a:r>
                        <a:rPr dirty="0" sz="1200" spc="-30" b="0">
                          <a:latin typeface="Microsoft YaHei Light"/>
                          <a:cs typeface="Microsoft YaHei Light"/>
                        </a:rPr>
                        <a:t>、</a:t>
                      </a:r>
                      <a:r>
                        <a:rPr dirty="0" sz="1200" spc="-10" b="0">
                          <a:latin typeface="Microsoft YaHei Light"/>
                          <a:cs typeface="Microsoft YaHei Light"/>
                        </a:rPr>
                        <a:t>BOARD_STATE/Cell</a:t>
                      </a:r>
                      <a:r>
                        <a:rPr dirty="0" sz="1200" spc="45" b="0">
                          <a:latin typeface="Microsoft YaHei Light"/>
                          <a:cs typeface="Microsoft YaHei Light"/>
                        </a:rPr>
                        <a:t> 编码、</a:t>
                      </a:r>
                      <a:r>
                        <a:rPr dirty="0" sz="1200" spc="-70" b="0">
                          <a:latin typeface="Microsoft YaHei Light"/>
                          <a:cs typeface="Microsoft YaHei Light"/>
                        </a:rPr>
                        <a:t>TCP</a:t>
                      </a:r>
                      <a:r>
                        <a:rPr dirty="0" sz="1200" spc="30" b="0">
                          <a:latin typeface="Microsoft YaHei Light"/>
                          <a:cs typeface="Microsoft YaHei Light"/>
                        </a:rPr>
                        <a:t> 五组时</a:t>
                      </a:r>
                      <a:r>
                        <a:rPr dirty="0" sz="1200" spc="-25" b="0">
                          <a:latin typeface="Microsoft YaHei Light"/>
                          <a:cs typeface="Microsoft YaHei Light"/>
                        </a:rPr>
                        <a:t>序图</a:t>
                      </a:r>
                      <a:endParaRPr sz="1200">
                        <a:latin typeface="Microsoft YaHei Light"/>
                        <a:cs typeface="Microsoft YaHei Light"/>
                      </a:endParaRPr>
                    </a:p>
                  </a:txBody>
                  <a:tcPr marL="0" marR="0" marB="0" marT="508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009100" y="781842"/>
            <a:ext cx="177800" cy="49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00"/>
              </a:spcBef>
            </a:pPr>
            <a:r>
              <a:rPr dirty="0" sz="1200" spc="-50" b="0">
                <a:latin typeface="Microsoft YaHei Light"/>
                <a:cs typeface="Microsoft YaHei Light"/>
              </a:rPr>
              <a:t>版</a:t>
            </a:r>
            <a:r>
              <a:rPr dirty="0" sz="1200" spc="-50" b="0">
                <a:latin typeface="Microsoft YaHei Light"/>
                <a:cs typeface="Microsoft YaHei Light"/>
              </a:rPr>
              <a:t>本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2900" y="949542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0">
                <a:latin typeface="Microsoft YaHei Light"/>
                <a:cs typeface="Microsoft YaHei Light"/>
              </a:rPr>
              <a:t>日期</a:t>
            </a:r>
            <a:endParaRPr sz="1200">
              <a:latin typeface="Microsoft YaHei Light"/>
              <a:cs typeface="Microsoft YaHei Ligh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4299" y="832682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 b="0">
                <a:latin typeface="Microsoft YaHei Light"/>
                <a:cs typeface="Microsoft YaHei Light"/>
              </a:rPr>
              <a:t>主要变更</a:t>
            </a:r>
            <a:endParaRPr sz="1200">
              <a:latin typeface="Microsoft YaHei Light"/>
              <a:cs typeface="Microsoft YaHe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张恒基, 秦博宇, 陈艺博, 陈雨飞</dc:creator>
  <dc:title>揭棋对弈 — 公共通信协议规范</dc:title>
  <dcterms:created xsi:type="dcterms:W3CDTF">2026-06-26T14:39:14Z</dcterms:created>
  <dcterms:modified xsi:type="dcterms:W3CDTF">2026-06-26T14:39:14Z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Typst 0.14.2</vt:lpwstr>
  </property>
  <property fmtid="{D5CDD505-2E9C-101B-9397-08002B2CF9AE}" pid="4" name="LastSaved">
    <vt:filetime>2026-06-26T00:00:00Z</vt:filetime>
  </property>
</Properties>
</file>